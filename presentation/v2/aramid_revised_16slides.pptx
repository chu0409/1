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Slides/notesSlide3_tf1.xml" ContentType="application/vnd.openxmlformats-officedocument.presentationml.notesSlide+xml"/>
  <Override PartName="/ppt/tags/tag2_tf1.xml" ContentType="application/vnd.openxmlformats-officedocument.presentationml.tags+xml"/>
  <Override PartName="/ppt/notesSlides/notesSlide3_tf2.xml" ContentType="application/vnd.openxmlformats-officedocument.presentationml.notesSlide+xml"/>
  <Override PartName="/ppt/tags/tag2_tf2.xml" ContentType="application/vnd.openxmlformats-officedocument.presentationml.tags+xml"/>
  <Override PartName="/ppt/notesSlides/notesSlide3_tf3.xml" ContentType="application/vnd.openxmlformats-officedocument.presentationml.notesSlide+xml"/>
  <Override PartName="/ppt/tags/tag2_tf3.xml" ContentType="application/vnd.openxmlformats-officedocument.presentationml.tags+xml"/>
  <Override PartName="/ppt/notesSlides/notesSlide3_tf4.xml" ContentType="application/vnd.openxmlformats-officedocument.presentationml.notesSlide+xml"/>
  <Override PartName="/ppt/tags/tag2_tf4.xml" ContentType="application/vnd.openxmlformats-officedocument.presentationml.tags+xml"/>
  <Override PartName="/ppt/notesSlides/notesSlide3_tf5.xml" ContentType="application/vnd.openxmlformats-officedocument.presentationml.notesSlide+xml"/>
  <Override PartName="/ppt/tags/tag2_tf5.xml" ContentType="application/vnd.openxmlformats-officedocument.presentationml.tags+xml"/>
  <Override PartName="/ppt/slides/slide5.xml" ContentType="application/vnd.openxmlformats-officedocument.presentationml.slide+xml"/>
  <Override PartName="/ppt/notesSlides/notesSlide3_tf6.xml" ContentType="application/vnd.openxmlformats-officedocument.presentationml.notesSlide+xml"/>
  <Override PartName="/ppt/tags/tag2_tf6.xml" ContentType="application/vnd.openxmlformats-officedocument.presentationml.tags+xml"/>
  <Override PartName="/ppt/slides/slide6.xml" ContentType="application/vnd.openxmlformats-officedocument.presentationml.slide+xml"/>
  <Override PartName="/ppt/notesSlides/notesSlide3_tf7.xml" ContentType="application/vnd.openxmlformats-officedocument.presentationml.notesSlide+xml"/>
  <Override PartName="/ppt/tags/tag2_tf7.xml" ContentType="application/vnd.openxmlformats-officedocument.presentationml.tags+xml"/>
  <Override PartName="/ppt/slides/slide7.xml" ContentType="application/vnd.openxmlformats-officedocument.presentationml.slide+xml"/>
  <Override PartName="/ppt/notesSlides/notesSlide3_tf8.xml" ContentType="application/vnd.openxmlformats-officedocument.presentationml.notesSlide+xml"/>
  <Override PartName="/ppt/tags/tag2_tf8.xml" ContentType="application/vnd.openxmlformats-officedocument.presentationml.tags+xml"/>
  <Override PartName="/ppt/slides/slide8.xml" ContentType="application/vnd.openxmlformats-officedocument.presentationml.slide+xml"/>
  <Override PartName="/ppt/notesSlides/notesSlide3_tf9.xml" ContentType="application/vnd.openxmlformats-officedocument.presentationml.notesSlide+xml"/>
  <Override PartName="/ppt/tags/tag2_tf9.xml" ContentType="application/vnd.openxmlformats-officedocument.presentationml.tags+xml"/>
  <Override PartName="/ppt/slides/slide9.xml" ContentType="application/vnd.openxmlformats-officedocument.presentationml.slide+xml"/>
  <Override PartName="/ppt/notesSlides/notesSlide3_tf10.xml" ContentType="application/vnd.openxmlformats-officedocument.presentationml.notesSlide+xml"/>
  <Override PartName="/ppt/tags/tag2_tf10.xml" ContentType="application/vnd.openxmlformats-officedocument.presentationml.tags+xml"/>
  <Override PartName="/ppt/slides/slide10.xml" ContentType="application/vnd.openxmlformats-officedocument.presentationml.slide+xml"/>
  <Override PartName="/ppt/notesSlides/notesSlide3_tf11.xml" ContentType="application/vnd.openxmlformats-officedocument.presentationml.notesSlide+xml"/>
  <Override PartName="/ppt/tags/tag2_tf11.xml" ContentType="application/vnd.openxmlformats-officedocument.presentationml.tags+xml"/>
  <Override PartName="/ppt/slides/slide11.xml" ContentType="application/vnd.openxmlformats-officedocument.presentationml.slide+xml"/>
  <Override PartName="/ppt/notesSlides/notesSlide3_tf12.xml" ContentType="application/vnd.openxmlformats-officedocument.presentationml.notesSlide+xml"/>
  <Override PartName="/ppt/tags/tag2_tf12.xml" ContentType="application/vnd.openxmlformats-officedocument.presentationml.tags+xml"/>
  <Override PartName="/ppt/slides/slide12.xml" ContentType="application/vnd.openxmlformats-officedocument.presentationml.slide+xml"/>
  <Override PartName="/ppt/notesSlides/notesSlide3_tf13.xml" ContentType="application/vnd.openxmlformats-officedocument.presentationml.notesSlide+xml"/>
  <Override PartName="/ppt/tags/tag2_tf13.xml" ContentType="application/vnd.openxmlformats-officedocument.presentationml.tags+xml"/>
  <Override PartName="/ppt/slides/slide13.xml" ContentType="application/vnd.openxmlformats-officedocument.presentationml.slide+xml"/>
  <Override PartName="/ppt/notesSlides/notesSlide3_tf14.xml" ContentType="application/vnd.openxmlformats-officedocument.presentationml.notesSlide+xml"/>
  <Override PartName="/ppt/tags/tag2_tf14.xml" ContentType="application/vnd.openxmlformats-officedocument.presentationml.tags+xml"/>
  <Override PartName="/ppt/slides/slide14.xml" ContentType="application/vnd.openxmlformats-officedocument.presentationml.slide+xml"/>
  <Override PartName="/ppt/notesSlides/notesSlide3_tf15.xml" ContentType="application/vnd.openxmlformats-officedocument.presentationml.notesSlide+xml"/>
  <Override PartName="/ppt/tags/tag2_tf15.xml" ContentType="application/vnd.openxmlformats-officedocument.presentationml.tags+xml"/>
  <Override PartName="/ppt/slides/slide15.xml" ContentType="application/vnd.openxmlformats-officedocument.presentationml.slide+xml"/>
  <Override PartName="/ppt/notesSlides/notesSlide3_tf16.xml" ContentType="application/vnd.openxmlformats-officedocument.presentationml.notesSlide+xml"/>
  <Override PartName="/ppt/tags/tag2_tf16.xml" ContentType="application/vnd.openxmlformats-officedocument.presentationml.tags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howSpecialPlsOnTitleSld="0">
  <p:sldMasterIdLst>
    <p:sldMasterId id="2147483648" r:id="rId1"/>
  </p:sldMasterIdLst>
  <p:notesMasterIdLst>
    <p:notesMasterId r:id="rId6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9144000" cy="5143500" type="screen16x9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1615">
          <p15:clr>
            <a:srgbClr val="A4A3A4"/>
          </p15:clr>
        </p15:guide>
        <p15:guide id="2" pos="295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n Shengtong" initials="SS" lastIdx="1" clrIdx="0"/>
</p:cmAuthorLst>
</file>

<file path=ppt/presProps.xml><?xml version="1.0" encoding="utf-8"?>
<p:presentationPr xmlns:a="http://schemas.openxmlformats.org/drawingml/2006/main" xmlns:p="http://schemas.openxmlformats.org/presentationml/2006/main" xmlns:p14="http://schemas.microsoft.com/office/powerpoint/2010/main" xmlns:p15="http://schemas.microsoft.com/office/powerpoint/2012/main">
  <p:showPr showNarration="1" useTimings="0">
    <p:present/>
    <p:sldAll/>
    <p:penClr>
      <a:prstClr val="red"/>
    </p:penClr>
    <p:extLst>
      <p:ext uri="{EC167BDD-8182-4AB7-AECC-EB403E3ABB37}">
        <p14:laserClr>
          <a:srgbClr val="FF0000"/>
        </p14:laserClr>
      </p:ext>
      <p:ext uri="{2FDB2607-1784-4EEB-B798-7EB5836EED8A}">
        <p14:showMediaCtrls val="1"/>
      </p:ext>
    </p:extLst>
  </p:showPr>
  <p:clrMru>
    <a:srgbClr val="000000"/>
    <a:srgbClr val="FFFFFF"/>
    <a:srgbClr val="C80000"/>
    <a:srgbClr val="E68BFF"/>
    <a:srgbClr val="E279FF"/>
    <a:srgbClr val="A000CC"/>
    <a:srgbClr val="B2B2B2"/>
    <a:srgbClr val="952C2F"/>
    <a:srgbClr val="B6383D"/>
    <a:srgbClr val="990000"/>
  </p:clrMru>
  <p:extLst>
    <p:ext uri="{E76CE94A-603C-4142-B9EB-6D1370010A27}">
      <p14:discardImageEditData val="0"/>
    </p:ext>
    <p:ext uri="{D31A062A-798A-4329-ABDD-BBA856620510}">
      <p14:defaultImageDpi val="220"/>
    </p:ext>
    <p:ext uri="{FD5EFAAD-0ECE-453E-9831-46B23BE46B34}">
      <p15:chartTrackingRefBased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 autoAdjust="0"/>
    <p:restoredTop sz="94643"/>
  </p:normalViewPr>
  <p:slideViewPr>
    <p:cSldViewPr>
      <p:cViewPr varScale="1">
        <p:scale>
          <a:sx n="111" d="100"/>
          <a:sy n="111" d="100"/>
        </p:scale>
        <p:origin x="86" y="211"/>
      </p:cViewPr>
      <p:guideLst>
        <p:guide orient="horz" pos="1615"/>
        <p:guide pos="29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commentAuthors" Target="commentAuthors.xml" /><Relationship Id="rId7" Type="http://schemas.openxmlformats.org/officeDocument/2006/relationships/tags" Target="tags/tag1.xml" /><Relationship Id="rId12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notesMaster" Target="notesMasters/notesMaster1.xml" /><Relationship Id="rId11" Type="http://schemas.openxmlformats.org/officeDocument/2006/relationships/theme" Target="theme/theme1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3" Type="http://schemas.openxmlformats.org/officeDocument/2006/relationships/slide" Target="slides/slide1.xml" /><Relationship Id="rId14" Type="http://schemas.openxmlformats.org/officeDocument/2006/relationships/slide" Target="slides/slide2.xml" /><Relationship Id="rId15" Type="http://schemas.openxmlformats.org/officeDocument/2006/relationships/slide" Target="slides/slide3.xml" /><Relationship Id="rId16" Type="http://schemas.openxmlformats.org/officeDocument/2006/relationships/slide" Target="slides/slide4.xml" /><Relationship Id="rId17" Type="http://schemas.openxmlformats.org/officeDocument/2006/relationships/slide" Target="slides/slide5.xml" /><Relationship Id="rId18" Type="http://schemas.openxmlformats.org/officeDocument/2006/relationships/slide" Target="slides/slide6.xml" /><Relationship Id="rId19" Type="http://schemas.openxmlformats.org/officeDocument/2006/relationships/slide" Target="slides/slide7.xml" /><Relationship Id="rId20" Type="http://schemas.openxmlformats.org/officeDocument/2006/relationships/slide" Target="slides/slide8.xml" /><Relationship Id="rId21" Type="http://schemas.openxmlformats.org/officeDocument/2006/relationships/slide" Target="slides/slide9.xml" /><Relationship Id="rId22" Type="http://schemas.openxmlformats.org/officeDocument/2006/relationships/slide" Target="slides/slide10.xml" /><Relationship Id="rId23" Type="http://schemas.openxmlformats.org/officeDocument/2006/relationships/slide" Target="slides/slide11.xml" /><Relationship Id="rId24" Type="http://schemas.openxmlformats.org/officeDocument/2006/relationships/slide" Target="slides/slide12.xml" /><Relationship Id="rId25" Type="http://schemas.openxmlformats.org/officeDocument/2006/relationships/slide" Target="slides/slide13.xml" /><Relationship Id="rId26" Type="http://schemas.openxmlformats.org/officeDocument/2006/relationships/slide" Target="slides/slide14.xml" /><Relationship Id="rId27" Type="http://schemas.openxmlformats.org/officeDocument/2006/relationships/slide" Target="slides/slide15.xml" /><Relationship Id="rId28" Type="http://schemas.openxmlformats.org/officeDocument/2006/relationships/slide" Target="slides/slide16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5C6AC-69F9-4619-AEBD-50F1DAF91008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4CB63-E8D7-48A1-B74B-5EA705C107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_tf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3_tf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_tf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3_tf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3_tf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3_tf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3_tf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3_tf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3_tf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3_tf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3_tf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3_tf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3_tf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3_tf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3_tf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3_tf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各位老师、同学，大家好。我是褚生。今天的汇报围绕芳纶柔性复合材料，沿着动态网络设计、抗冲击耗能和织物防刺机制展开，重点讨论高效耗能、柔性和形状稳定之间的协调。</a:t>
            </a:r>
          </a:p>
        </p:txBody>
      </p:sp>
    </p:spTree>
  </p:cSld>
  <p:clrMapOvr>
    <a:masterClrMapping/>
  </p:clrMapOvr>
</p:notes>
</file>

<file path=ppt/notesSlides/notesSlide3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柔性防护材料需要同时满足日常服役和瞬态防护。穿戴时，希望它轻便、贴合并适应弯曲；遭受撞击时，需要在较大范围分散载荷；面对尖锐物侵入时，又必须阻止局部纱线被推开或切断。因此，冲击耗能与防刺不能简单相互替代。本次汇报按两项研究展开：第一项讨论动态网络与芳纶复合的抗冲击表现，第二项讨论界面和铺层对局部穿刺的调控。</a:t>
            </a:r>
          </a:p>
        </p:txBody>
      </p:sp>
    </p:spTree>
  </p:cSld>
  <p:clrMapOvr>
    <a:masterClrMapping/>
  </p:clrMapOvr>
</p:notes>
</file>

<file path=ppt/notesSlides/notesSlide3_tf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已有资料看，柔性防护大致包含纤维骨架、聚合物复合和动态响应材料等技术路线。可读的防刺研究报告引用了STF含浸织物以及TPU涂层等工作，其共性是通过改变纱线接触、摩擦和相对运动提高局部承载。需要说明，这份报告主要涉及STF、TPU和凝胶体系，并不是后面SiO2与DPU体系峰值数据的原始出处。这里将其用于背景和机制参照，不将不同体系的结果合并比较。</a:t>
            </a:r>
          </a:p>
        </p:txBody>
      </p:sp>
    </p:spTree>
  </p:cSld>
  <p:clrMapOvr>
    <a:masterClrMapping/>
  </p:clrMapOvr>
</p:notes>
</file>

<file path=ppt/notesSlides/notesSlide3_tf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项研究可以归结为两个相互关联的问题。其一是动态网络的长期稳定：动态相互作用有利于耗能，但材料还需要保持宏观形态和承载结构。其二是织物的局部承载：尖锐物的接触区域很小，局部纱线可能被推开、拔出或切断。因此，需要在分子网络层面组织不同时间尺度的约束，同时在织物层面调控界面和纱线运动，避免只提高柔性而削弱承载，或只增强约束而牺牲可变形性。</a:t>
            </a:r>
          </a:p>
        </p:txBody>
      </p:sp>
    </p:spTree>
  </p:cSld>
  <p:clrMapOvr>
    <a:masterClrMapping/>
  </p:clrMapOvr>
</p:notes>
</file>

<file path=ppt/notesSlides/notesSlide3_tf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体路线分为两个体系。抗冲击部分采用HDPU与芳纶复合，考察多时间尺度网络对能量吸收、长期形态和反复使用的影响。防刺部分采用SiO2与DPU浸渍芳纶，并进一步改变中间层角度，讨论局部纱线约束和损伤路径。两个体系共享柔性防护的设计目标，但基体配方和测试条件不同。后续图表将分别标注体系和试验条件，不能把第二项研究理解成在第一项HDPU试样上直接添加颗粒的连续实验。</a:t>
            </a:r>
          </a:p>
        </p:txBody>
      </p:sp>
    </p:spTree>
  </p:cSld>
  <p:clrMapOvr>
    <a:masterClrMapping/>
  </p:clrMapOvr>
</p:notes>
</file>

<file path=ppt/notesSlides/notesSlide3_tf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总图将HDPU设计概括为快动态作用、慢动态作用和永久聚氨酯网络的协同。这个结构可以从时间尺度分工来理解：较快的可逆作用参与载荷响应与耗散，较慢的作用和永久骨架则为结构保持提供约束。需要注意，抗冲击原文件超过读取上限，目前只能依据汇总图组织这一逻辑。除图中可辨识的Si—O—B外，慢动态键的具体化学名称及反应式没有可靠核对，因此不重画未经确认的化学结构。</a:t>
            </a:r>
          </a:p>
        </p:txBody>
      </p:sp>
    </p:spTree>
  </p:cSld>
  <p:clrMapOvr>
    <a:masterClrMapping/>
  </p:clrMapOvr>
</p:notes>
</file>

<file path=ppt/notesSlides/notesSlide3_tf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总图给出的制备路线包含一锅法制备HDPU、芳纶织物处理、浸渍与辊压，以及层合固化。该流程的关键是让聚合物进入织物结构并形成相对均匀的复合层，从而把局部接触载荷传递到纱线承载网络。对照组包含AF与不同聚氨酯网络复合的材料。这里保留PU、PU-F、PU-S和HDPU的原始组名，但不推测F和S的具体配方含义。图中织物图片来自参考资料，只用于说明芳纶织物形貌，不冒充HDPU样品照片。</a:t>
            </a:r>
          </a:p>
        </p:txBody>
      </p:sp>
    </p:spTree>
  </p:cSld>
  <p:clrMapOvr>
    <a:masterClrMapping/>
  </p:clrMapOvr>
</p:notes>
</file>

<file path=ppt/notesSlides/notesSlide3_tf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长期稳定性需要区分形态观察和冲击指标。汇总图给出了0、7、30和66天的宏观形态对照，并报告HDPU在长期观察点保持形态。另一个定量比较是在25焦冲击条件下，初始能量吸收效率为91.20%，保形后为89.45%，二者之比为98.08%。这里98.08%是性能保持率，不是第三组独立的吸能效率。由于原始试验稿尚未读取，储存条件及其与形态观察时长的对应关系仍需核对。</a:t>
            </a:r>
          </a:p>
        </p:txBody>
      </p:sp>
    </p:spTree>
  </p:cSld>
  <p:clrMapOvr>
    <a:masterClrMapping/>
  </p:clrMapOvr>
</p:notes>
</file>

<file path=ppt/notesSlides/notesSlide3_tf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汇总图标注的10焦冲击条件下，AF与PU、PU-F、PU-S和HDPU复合后的能量吸收效率依次为71.7%、79.6%、82.7%和84.3%。因此，AF与HDPU复合相较AF与PU复合提高了12.6个百分点；若用相对变化表达，则约提高17.6%。汇报中采用百分点来避免混淆。这组结果支持动态网络协同耗能的解释，但仍需结合力位移曲线、试样面密度与重复测试判断，不把不同入射能量下的百分数直接比较。</a:t>
            </a:r>
          </a:p>
        </p:txBody>
      </p:sp>
    </p:spTree>
  </p:cSld>
  <p:clrMapOvr>
    <a:masterClrMapping/>
  </p:clrMapOvr>
</p:notes>
</file>

<file path=ppt/notesSlides/notesSlide3_tf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复杂工况方面，汇总图报告了三项不同条件的指标：25焦单次冲击的吸能效率为91.20%，20焦第七次冲击的吸能效率为76.35%，弯曲2000次后的冲击性能保持率为93.6%。三项结果的分母和工况不同，所以这里用并列指标卡而非同一组柱状图。报告还展示了反复弯曲、紫外照射、高低温和潮湿环境等场景，但当前无法核对各自完整测试条件，因此不补写紫外时长或温湿度数值。</a:t>
            </a:r>
          </a:p>
        </p:txBody>
      </p:sp>
    </p:spTree>
  </p:cSld>
  <p:clrMapOvr>
    <a:masterClrMapping/>
  </p:clrMapOvr>
</p:notes>
</file>

<file path=ppt/notesSlides/notesSlide3_tf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抗冲击结果之后，需要把问题进一步聚焦到局部接触。钝性冲击通常对应较大的接触区域，材料通过弯曲、压缩和载荷扩散耗能；尖锐穿刺则可能在很小范围内发生纱线推移、集中受拉或纤维切断。因此，良好的冲击吸能并不自动意味着同样良好的防刺表现。第二项研究转向局部纱线约束，使用颗粒与聚合物界面以及铺层角度两个变量，分别改变局部传力和穿透路径。</a:t>
            </a:r>
          </a:p>
        </p:txBody>
      </p:sp>
    </p:spTree>
  </p:cSld>
  <p:clrMapOvr>
    <a:masterClrMapping/>
  </p:clrMapOvr>
</p:notes>
</file>

<file path=ppt/notesSlides/notesSlide3_tf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防刺体系的汇总路线是将SiO2颗粒与DPU基体混合，再浸渍芳纶织物。图中给出的颗粒水平包括0、5、7、9和10重量百分比，但百分比的计算基准仍需原始配方核实。工艺示意强调混合、浸渍和复合成形的过程，不把参考资料中的STF或TPU显微图改标为DPU。后续重点比较粒子分散、界面连续性及局部柔性，并通过锥刺和刀刺两个工况分别判断颗粒调控是否有效。</a:t>
            </a:r>
          </a:p>
        </p:txBody>
      </p:sp>
    </p:spTree>
  </p:cSld>
  <p:clrMapOvr>
    <a:masterClrMapping/>
  </p:clrMapOvr>
</p:notes>
</file>

<file path=ppt/notesSlides/notesSlide3_tf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颗粒含量页保留汇总图中可读的两个峰值：锥刺171.41牛，刀刺56.28牛，分别约为原始芳纶织物的20.65倍和15.09倍。这些倍数表示峰值与基准值的比，而不是增长了相同倍数。当前图片不足以可靠读出所有浓度组的曲线坐标、误差线及峰值样品归属，因此这里不伪造完整载荷位移曲线，也不直接宣布某个添加量是最优。更合理的解释是，添加量通过分散、约束和团聚之间的竞争影响两类穿刺表现。</a:t>
            </a:r>
          </a:p>
        </p:txBody>
      </p:sp>
    </p:spTree>
  </p:cSld>
  <p:clrMapOvr>
    <a:masterClrMapping/>
  </p:clrMapOvr>
</p:notes>
</file>

<file path=ppt/notesSlides/notesSlide3_tf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铺层角度比较固定外层为零度，将中间层依次设置为零度、三十度、四十五度和五十五度。汇总图给出的锥刺峰值依次为373、476、534和470牛，刀刺峰值依次为135、148、172和161牛。其中零度、四十五度、零度组合相对同向铺层，锥刺提高约43.2%，刀刺提高约27.4%。这表明所列角度中四十五度组表现较好，但不意味着在所有层数、面密度和刺入方向下都存在同一个全局最优角度。</a:t>
            </a:r>
          </a:p>
        </p:txBody>
      </p:sp>
    </p:spTree>
  </p:cSld>
  <p:clrMapOvr>
    <a:masterClrMapping/>
  </p:clrMapOvr>
</p:notes>
</file>

<file path=ppt/notesSlides/notesSlide3_tf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失效机理需要结合过程和最终形貌理解。可读的参考报告在包芯纱织物中指出，锥刺以纱线滑移为主要破坏机制，刀刺则更明显地表现为纱线切割断裂。这里展示该报告的显微图作为机制对照，并明确标出其材料体系，不能当作当前DPU试样的证据。对于SiO2与DPU体系，仍需把接触压入、纱线约束和穿透损伤三个阶段与力位移曲线对应起来，进一步区分界面脱粘、纱线滑移和纤维断裂的贡献。</a:t>
            </a:r>
          </a:p>
        </p:txBody>
      </p:sp>
    </p:spTree>
  </p:cSld>
  <p:clrMapOvr>
    <a:masterClrMapping/>
  </p:clrMapOvr>
</p:notes>
</file>

<file path=ppt/notesSlides/notesSlide3_tf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归纳三点。第一，多时间尺度网络为耗能与长期稳定提供协同设计思路。第二，颗粒与聚合物界面能够改变局部约束，应分别评价锥刺和刀刺。第三，铺层角度可调节纱线承载方向，汇总图所列四十五度中间层组具有较好的峰值表现。下一步需要核对原始数据、配方和测试条件，补齐重复性与损伤过程证据。以上数值来自用户汇总图，参考报告仅用于背景与机制对照。谢谢各位老师和同学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99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-1" y="-6856"/>
            <a:ext cx="9135489" cy="5150356"/>
          </a:xfrm>
          <a:prstGeom prst="rect">
            <a:avLst/>
          </a:prstGeom>
          <a:solidFill>
            <a:srgbClr val="95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28" name="Picture 4" descr="C:\Users\Administrator\Desktop\未标题-1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77" y="267494"/>
            <a:ext cx="1278718" cy="367705"/>
          </a:xfrm>
          <a:prstGeom prst="rect">
            <a:avLst/>
          </a:prstGeom>
          <a:noFill/>
        </p:spPr>
      </p:pic>
      <p:pic>
        <p:nvPicPr>
          <p:cNvPr id="86" name="Picture 3" descr="C:\Users\Administrator\Desktop\未标题-1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4296" y="3056339"/>
            <a:ext cx="3744416" cy="1724888"/>
          </a:xfrm>
          <a:prstGeom prst="rect">
            <a:avLst/>
          </a:prstGeom>
          <a:noFill/>
        </p:spPr>
      </p:pic>
      <p:grpSp>
        <p:nvGrpSpPr>
          <p:cNvPr id="8" name="组 7"/>
          <p:cNvGrpSpPr/>
          <p:nvPr userDrawn="1"/>
        </p:nvGrpSpPr>
        <p:grpSpPr>
          <a:xfrm>
            <a:off x="6516216" y="4533968"/>
            <a:ext cx="2592288" cy="144016"/>
            <a:chOff x="6516216" y="4533968"/>
            <a:chExt cx="2592288" cy="144016"/>
          </a:xfrm>
        </p:grpSpPr>
        <p:cxnSp>
          <p:nvCxnSpPr>
            <p:cNvPr id="139" name="直接连接符 138"/>
            <p:cNvCxnSpPr/>
            <p:nvPr userDrawn="1"/>
          </p:nvCxnSpPr>
          <p:spPr>
            <a:xfrm flipH="1">
              <a:off x="651621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 userDrawn="1"/>
          </p:nvCxnSpPr>
          <p:spPr>
            <a:xfrm flipH="1">
              <a:off x="671008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 userDrawn="1"/>
          </p:nvCxnSpPr>
          <p:spPr>
            <a:xfrm flipH="1">
              <a:off x="680701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 userDrawn="1"/>
          </p:nvCxnSpPr>
          <p:spPr>
            <a:xfrm flipH="1">
              <a:off x="690395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 userDrawn="1"/>
          </p:nvCxnSpPr>
          <p:spPr>
            <a:xfrm flipH="1">
              <a:off x="700088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 userDrawn="1"/>
          </p:nvCxnSpPr>
          <p:spPr>
            <a:xfrm flipH="1">
              <a:off x="709782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 userDrawn="1"/>
          </p:nvCxnSpPr>
          <p:spPr>
            <a:xfrm flipH="1">
              <a:off x="729168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 userDrawn="1"/>
          </p:nvCxnSpPr>
          <p:spPr>
            <a:xfrm flipH="1">
              <a:off x="758249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 userDrawn="1"/>
          </p:nvCxnSpPr>
          <p:spPr>
            <a:xfrm flipH="1">
              <a:off x="738862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 userDrawn="1"/>
          </p:nvCxnSpPr>
          <p:spPr>
            <a:xfrm flipH="1">
              <a:off x="787329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 userDrawn="1"/>
          </p:nvCxnSpPr>
          <p:spPr>
            <a:xfrm flipH="1">
              <a:off x="797022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 userDrawn="1"/>
          </p:nvCxnSpPr>
          <p:spPr>
            <a:xfrm flipH="1">
              <a:off x="816409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 userDrawn="1"/>
          </p:nvCxnSpPr>
          <p:spPr>
            <a:xfrm flipH="1">
              <a:off x="806716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 userDrawn="1"/>
          </p:nvCxnSpPr>
          <p:spPr>
            <a:xfrm flipH="1">
              <a:off x="826102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 userDrawn="1"/>
          </p:nvCxnSpPr>
          <p:spPr>
            <a:xfrm flipH="1">
              <a:off x="845489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 userDrawn="1"/>
          </p:nvCxnSpPr>
          <p:spPr>
            <a:xfrm flipH="1">
              <a:off x="864876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 userDrawn="1"/>
          </p:nvCxnSpPr>
          <p:spPr>
            <a:xfrm flipH="1">
              <a:off x="884263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 userDrawn="1"/>
          </p:nvCxnSpPr>
          <p:spPr>
            <a:xfrm flipH="1">
              <a:off x="903649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 userDrawn="1"/>
          </p:nvCxnSpPr>
          <p:spPr>
            <a:xfrm flipH="1">
              <a:off x="777635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 userDrawn="1"/>
          </p:nvCxnSpPr>
          <p:spPr>
            <a:xfrm flipH="1">
              <a:off x="835796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 userDrawn="1"/>
          </p:nvCxnSpPr>
          <p:spPr>
            <a:xfrm flipH="1">
              <a:off x="855183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 userDrawn="1"/>
          </p:nvCxnSpPr>
          <p:spPr>
            <a:xfrm flipH="1">
              <a:off x="874569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 userDrawn="1"/>
          </p:nvCxnSpPr>
          <p:spPr>
            <a:xfrm flipH="1">
              <a:off x="661315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 userDrawn="1"/>
          </p:nvCxnSpPr>
          <p:spPr>
            <a:xfrm flipH="1">
              <a:off x="893956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 userDrawn="1"/>
          </p:nvCxnSpPr>
          <p:spPr>
            <a:xfrm flipH="1">
              <a:off x="719475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 userDrawn="1"/>
          </p:nvCxnSpPr>
          <p:spPr>
            <a:xfrm flipH="1">
              <a:off x="748555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 userDrawn="1"/>
          </p:nvCxnSpPr>
          <p:spPr>
            <a:xfrm flipH="1">
              <a:off x="767942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组 88"/>
          <p:cNvGrpSpPr/>
          <p:nvPr userDrawn="1"/>
        </p:nvGrpSpPr>
        <p:grpSpPr>
          <a:xfrm>
            <a:off x="42402" y="4533968"/>
            <a:ext cx="2592288" cy="144016"/>
            <a:chOff x="6516216" y="4533968"/>
            <a:chExt cx="2592288" cy="144016"/>
          </a:xfrm>
        </p:grpSpPr>
        <p:cxnSp>
          <p:nvCxnSpPr>
            <p:cNvPr id="90" name="直接连接符 138"/>
            <p:cNvCxnSpPr/>
            <p:nvPr userDrawn="1"/>
          </p:nvCxnSpPr>
          <p:spPr>
            <a:xfrm flipH="1">
              <a:off x="651621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140"/>
            <p:cNvCxnSpPr/>
            <p:nvPr userDrawn="1"/>
          </p:nvCxnSpPr>
          <p:spPr>
            <a:xfrm flipH="1">
              <a:off x="671008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141"/>
            <p:cNvCxnSpPr/>
            <p:nvPr userDrawn="1"/>
          </p:nvCxnSpPr>
          <p:spPr>
            <a:xfrm flipH="1">
              <a:off x="680701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142"/>
            <p:cNvCxnSpPr/>
            <p:nvPr userDrawn="1"/>
          </p:nvCxnSpPr>
          <p:spPr>
            <a:xfrm flipH="1">
              <a:off x="690395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143"/>
            <p:cNvCxnSpPr/>
            <p:nvPr userDrawn="1"/>
          </p:nvCxnSpPr>
          <p:spPr>
            <a:xfrm flipH="1">
              <a:off x="700088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144"/>
            <p:cNvCxnSpPr/>
            <p:nvPr userDrawn="1"/>
          </p:nvCxnSpPr>
          <p:spPr>
            <a:xfrm flipH="1">
              <a:off x="709782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145"/>
            <p:cNvCxnSpPr/>
            <p:nvPr userDrawn="1"/>
          </p:nvCxnSpPr>
          <p:spPr>
            <a:xfrm flipH="1">
              <a:off x="729168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146"/>
            <p:cNvCxnSpPr/>
            <p:nvPr userDrawn="1"/>
          </p:nvCxnSpPr>
          <p:spPr>
            <a:xfrm flipH="1">
              <a:off x="758249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147"/>
            <p:cNvCxnSpPr/>
            <p:nvPr userDrawn="1"/>
          </p:nvCxnSpPr>
          <p:spPr>
            <a:xfrm flipH="1">
              <a:off x="738862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148"/>
            <p:cNvCxnSpPr/>
            <p:nvPr userDrawn="1"/>
          </p:nvCxnSpPr>
          <p:spPr>
            <a:xfrm flipH="1">
              <a:off x="787329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149"/>
            <p:cNvCxnSpPr/>
            <p:nvPr userDrawn="1"/>
          </p:nvCxnSpPr>
          <p:spPr>
            <a:xfrm flipH="1">
              <a:off x="797022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50"/>
            <p:cNvCxnSpPr/>
            <p:nvPr userDrawn="1"/>
          </p:nvCxnSpPr>
          <p:spPr>
            <a:xfrm flipH="1">
              <a:off x="816409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51"/>
            <p:cNvCxnSpPr/>
            <p:nvPr userDrawn="1"/>
          </p:nvCxnSpPr>
          <p:spPr>
            <a:xfrm flipH="1">
              <a:off x="806716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52"/>
            <p:cNvCxnSpPr/>
            <p:nvPr userDrawn="1"/>
          </p:nvCxnSpPr>
          <p:spPr>
            <a:xfrm flipH="1">
              <a:off x="826102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53"/>
            <p:cNvCxnSpPr/>
            <p:nvPr userDrawn="1"/>
          </p:nvCxnSpPr>
          <p:spPr>
            <a:xfrm flipH="1">
              <a:off x="845489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54"/>
            <p:cNvCxnSpPr/>
            <p:nvPr userDrawn="1"/>
          </p:nvCxnSpPr>
          <p:spPr>
            <a:xfrm flipH="1">
              <a:off x="864876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55"/>
            <p:cNvCxnSpPr/>
            <p:nvPr userDrawn="1"/>
          </p:nvCxnSpPr>
          <p:spPr>
            <a:xfrm flipH="1">
              <a:off x="884263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56"/>
            <p:cNvCxnSpPr/>
            <p:nvPr userDrawn="1"/>
          </p:nvCxnSpPr>
          <p:spPr>
            <a:xfrm flipH="1">
              <a:off x="903649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58"/>
            <p:cNvCxnSpPr/>
            <p:nvPr userDrawn="1"/>
          </p:nvCxnSpPr>
          <p:spPr>
            <a:xfrm flipH="1">
              <a:off x="777635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63"/>
            <p:cNvCxnSpPr/>
            <p:nvPr userDrawn="1"/>
          </p:nvCxnSpPr>
          <p:spPr>
            <a:xfrm flipH="1">
              <a:off x="835796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64"/>
            <p:cNvCxnSpPr/>
            <p:nvPr userDrawn="1"/>
          </p:nvCxnSpPr>
          <p:spPr>
            <a:xfrm flipH="1">
              <a:off x="855183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65"/>
            <p:cNvCxnSpPr/>
            <p:nvPr userDrawn="1"/>
          </p:nvCxnSpPr>
          <p:spPr>
            <a:xfrm flipH="1">
              <a:off x="874569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66"/>
            <p:cNvCxnSpPr/>
            <p:nvPr userDrawn="1"/>
          </p:nvCxnSpPr>
          <p:spPr>
            <a:xfrm flipH="1">
              <a:off x="661315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67"/>
            <p:cNvCxnSpPr/>
            <p:nvPr userDrawn="1"/>
          </p:nvCxnSpPr>
          <p:spPr>
            <a:xfrm flipH="1">
              <a:off x="893956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71"/>
            <p:cNvCxnSpPr/>
            <p:nvPr userDrawn="1"/>
          </p:nvCxnSpPr>
          <p:spPr>
            <a:xfrm flipH="1">
              <a:off x="719475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73"/>
            <p:cNvCxnSpPr/>
            <p:nvPr userDrawn="1"/>
          </p:nvCxnSpPr>
          <p:spPr>
            <a:xfrm flipH="1">
              <a:off x="748555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74"/>
            <p:cNvCxnSpPr/>
            <p:nvPr userDrawn="1"/>
          </p:nvCxnSpPr>
          <p:spPr>
            <a:xfrm flipH="1">
              <a:off x="767942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C:\Users\zhangwenyue\Desktop\东华PPT模板\P4-5\3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3258800" y="-19069050"/>
            <a:ext cx="2160000" cy="3240000"/>
          </a:xfrm>
          <a:prstGeom prst="rect">
            <a:avLst/>
          </a:prstGeom>
          <a:noFill/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99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-1" y="-6856"/>
            <a:ext cx="9135489" cy="5150356"/>
          </a:xfrm>
          <a:prstGeom prst="rect">
            <a:avLst/>
          </a:prstGeom>
          <a:solidFill>
            <a:srgbClr val="95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8" name="组 7"/>
          <p:cNvGrpSpPr/>
          <p:nvPr userDrawn="1"/>
        </p:nvGrpSpPr>
        <p:grpSpPr>
          <a:xfrm>
            <a:off x="6372200" y="4350115"/>
            <a:ext cx="2592288" cy="144016"/>
            <a:chOff x="6516216" y="4533968"/>
            <a:chExt cx="2592288" cy="144016"/>
          </a:xfrm>
        </p:grpSpPr>
        <p:cxnSp>
          <p:nvCxnSpPr>
            <p:cNvPr id="139" name="直接连接符 138"/>
            <p:cNvCxnSpPr/>
            <p:nvPr userDrawn="1"/>
          </p:nvCxnSpPr>
          <p:spPr>
            <a:xfrm flipH="1">
              <a:off x="651621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 userDrawn="1"/>
          </p:nvCxnSpPr>
          <p:spPr>
            <a:xfrm flipH="1">
              <a:off x="671008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接连接符 141"/>
            <p:cNvCxnSpPr/>
            <p:nvPr userDrawn="1"/>
          </p:nvCxnSpPr>
          <p:spPr>
            <a:xfrm flipH="1">
              <a:off x="680701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/>
            <p:nvPr userDrawn="1"/>
          </p:nvCxnSpPr>
          <p:spPr>
            <a:xfrm flipH="1">
              <a:off x="690395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 userDrawn="1"/>
          </p:nvCxnSpPr>
          <p:spPr>
            <a:xfrm flipH="1">
              <a:off x="700088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 userDrawn="1"/>
          </p:nvCxnSpPr>
          <p:spPr>
            <a:xfrm flipH="1">
              <a:off x="709782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 userDrawn="1"/>
          </p:nvCxnSpPr>
          <p:spPr>
            <a:xfrm flipH="1">
              <a:off x="729168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 userDrawn="1"/>
          </p:nvCxnSpPr>
          <p:spPr>
            <a:xfrm flipH="1">
              <a:off x="758249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 userDrawn="1"/>
          </p:nvCxnSpPr>
          <p:spPr>
            <a:xfrm flipH="1">
              <a:off x="738862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 userDrawn="1"/>
          </p:nvCxnSpPr>
          <p:spPr>
            <a:xfrm flipH="1">
              <a:off x="787329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 userDrawn="1"/>
          </p:nvCxnSpPr>
          <p:spPr>
            <a:xfrm flipH="1">
              <a:off x="797022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 userDrawn="1"/>
          </p:nvCxnSpPr>
          <p:spPr>
            <a:xfrm flipH="1">
              <a:off x="816409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 userDrawn="1"/>
          </p:nvCxnSpPr>
          <p:spPr>
            <a:xfrm flipH="1">
              <a:off x="806716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 userDrawn="1"/>
          </p:nvCxnSpPr>
          <p:spPr>
            <a:xfrm flipH="1">
              <a:off x="826102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 userDrawn="1"/>
          </p:nvCxnSpPr>
          <p:spPr>
            <a:xfrm flipH="1">
              <a:off x="845489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 userDrawn="1"/>
          </p:nvCxnSpPr>
          <p:spPr>
            <a:xfrm flipH="1">
              <a:off x="864876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 userDrawn="1"/>
          </p:nvCxnSpPr>
          <p:spPr>
            <a:xfrm flipH="1">
              <a:off x="884263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 userDrawn="1"/>
          </p:nvCxnSpPr>
          <p:spPr>
            <a:xfrm flipH="1">
              <a:off x="903649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 userDrawn="1"/>
          </p:nvCxnSpPr>
          <p:spPr>
            <a:xfrm flipH="1">
              <a:off x="777635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 userDrawn="1"/>
          </p:nvCxnSpPr>
          <p:spPr>
            <a:xfrm flipH="1">
              <a:off x="835796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 userDrawn="1"/>
          </p:nvCxnSpPr>
          <p:spPr>
            <a:xfrm flipH="1">
              <a:off x="855183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 userDrawn="1"/>
          </p:nvCxnSpPr>
          <p:spPr>
            <a:xfrm flipH="1">
              <a:off x="874569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 userDrawn="1"/>
          </p:nvCxnSpPr>
          <p:spPr>
            <a:xfrm flipH="1">
              <a:off x="661315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 userDrawn="1"/>
          </p:nvCxnSpPr>
          <p:spPr>
            <a:xfrm flipH="1">
              <a:off x="893956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 userDrawn="1"/>
          </p:nvCxnSpPr>
          <p:spPr>
            <a:xfrm flipH="1">
              <a:off x="719475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 userDrawn="1"/>
          </p:nvCxnSpPr>
          <p:spPr>
            <a:xfrm flipH="1">
              <a:off x="748555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 userDrawn="1"/>
          </p:nvCxnSpPr>
          <p:spPr>
            <a:xfrm flipH="1">
              <a:off x="767942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组 88"/>
          <p:cNvGrpSpPr/>
          <p:nvPr userDrawn="1"/>
        </p:nvGrpSpPr>
        <p:grpSpPr>
          <a:xfrm>
            <a:off x="179512" y="4350434"/>
            <a:ext cx="2592288" cy="144016"/>
            <a:chOff x="6516216" y="4533968"/>
            <a:chExt cx="2592288" cy="144016"/>
          </a:xfrm>
        </p:grpSpPr>
        <p:cxnSp>
          <p:nvCxnSpPr>
            <p:cNvPr id="90" name="直接连接符 138"/>
            <p:cNvCxnSpPr/>
            <p:nvPr userDrawn="1"/>
          </p:nvCxnSpPr>
          <p:spPr>
            <a:xfrm flipH="1">
              <a:off x="651621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140"/>
            <p:cNvCxnSpPr/>
            <p:nvPr userDrawn="1"/>
          </p:nvCxnSpPr>
          <p:spPr>
            <a:xfrm flipH="1">
              <a:off x="671008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141"/>
            <p:cNvCxnSpPr/>
            <p:nvPr userDrawn="1"/>
          </p:nvCxnSpPr>
          <p:spPr>
            <a:xfrm flipH="1">
              <a:off x="680701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142"/>
            <p:cNvCxnSpPr/>
            <p:nvPr userDrawn="1"/>
          </p:nvCxnSpPr>
          <p:spPr>
            <a:xfrm flipH="1">
              <a:off x="690395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143"/>
            <p:cNvCxnSpPr/>
            <p:nvPr userDrawn="1"/>
          </p:nvCxnSpPr>
          <p:spPr>
            <a:xfrm flipH="1">
              <a:off x="700088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144"/>
            <p:cNvCxnSpPr/>
            <p:nvPr userDrawn="1"/>
          </p:nvCxnSpPr>
          <p:spPr>
            <a:xfrm flipH="1">
              <a:off x="709782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145"/>
            <p:cNvCxnSpPr/>
            <p:nvPr userDrawn="1"/>
          </p:nvCxnSpPr>
          <p:spPr>
            <a:xfrm flipH="1">
              <a:off x="729168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146"/>
            <p:cNvCxnSpPr/>
            <p:nvPr userDrawn="1"/>
          </p:nvCxnSpPr>
          <p:spPr>
            <a:xfrm flipH="1">
              <a:off x="758249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147"/>
            <p:cNvCxnSpPr/>
            <p:nvPr userDrawn="1"/>
          </p:nvCxnSpPr>
          <p:spPr>
            <a:xfrm flipH="1">
              <a:off x="738862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148"/>
            <p:cNvCxnSpPr/>
            <p:nvPr userDrawn="1"/>
          </p:nvCxnSpPr>
          <p:spPr>
            <a:xfrm flipH="1">
              <a:off x="787329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149"/>
            <p:cNvCxnSpPr/>
            <p:nvPr userDrawn="1"/>
          </p:nvCxnSpPr>
          <p:spPr>
            <a:xfrm flipH="1">
              <a:off x="797022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50"/>
            <p:cNvCxnSpPr/>
            <p:nvPr userDrawn="1"/>
          </p:nvCxnSpPr>
          <p:spPr>
            <a:xfrm flipH="1">
              <a:off x="816409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51"/>
            <p:cNvCxnSpPr/>
            <p:nvPr userDrawn="1"/>
          </p:nvCxnSpPr>
          <p:spPr>
            <a:xfrm flipH="1">
              <a:off x="806716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52"/>
            <p:cNvCxnSpPr/>
            <p:nvPr userDrawn="1"/>
          </p:nvCxnSpPr>
          <p:spPr>
            <a:xfrm flipH="1">
              <a:off x="826102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53"/>
            <p:cNvCxnSpPr/>
            <p:nvPr userDrawn="1"/>
          </p:nvCxnSpPr>
          <p:spPr>
            <a:xfrm flipH="1">
              <a:off x="845489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54"/>
            <p:cNvCxnSpPr/>
            <p:nvPr userDrawn="1"/>
          </p:nvCxnSpPr>
          <p:spPr>
            <a:xfrm flipH="1">
              <a:off x="864876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55"/>
            <p:cNvCxnSpPr/>
            <p:nvPr userDrawn="1"/>
          </p:nvCxnSpPr>
          <p:spPr>
            <a:xfrm flipH="1">
              <a:off x="884263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56"/>
            <p:cNvCxnSpPr/>
            <p:nvPr userDrawn="1"/>
          </p:nvCxnSpPr>
          <p:spPr>
            <a:xfrm flipH="1">
              <a:off x="903649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58"/>
            <p:cNvCxnSpPr/>
            <p:nvPr userDrawn="1"/>
          </p:nvCxnSpPr>
          <p:spPr>
            <a:xfrm flipH="1">
              <a:off x="777635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63"/>
            <p:cNvCxnSpPr/>
            <p:nvPr userDrawn="1"/>
          </p:nvCxnSpPr>
          <p:spPr>
            <a:xfrm flipH="1">
              <a:off x="8357962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64"/>
            <p:cNvCxnSpPr/>
            <p:nvPr userDrawn="1"/>
          </p:nvCxnSpPr>
          <p:spPr>
            <a:xfrm flipH="1">
              <a:off x="855183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65"/>
            <p:cNvCxnSpPr/>
            <p:nvPr userDrawn="1"/>
          </p:nvCxnSpPr>
          <p:spPr>
            <a:xfrm flipH="1">
              <a:off x="8745698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66"/>
            <p:cNvCxnSpPr/>
            <p:nvPr userDrawn="1"/>
          </p:nvCxnSpPr>
          <p:spPr>
            <a:xfrm flipH="1">
              <a:off x="6613150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67"/>
            <p:cNvCxnSpPr/>
            <p:nvPr userDrawn="1"/>
          </p:nvCxnSpPr>
          <p:spPr>
            <a:xfrm flipH="1">
              <a:off x="893956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71"/>
            <p:cNvCxnSpPr/>
            <p:nvPr userDrawn="1"/>
          </p:nvCxnSpPr>
          <p:spPr>
            <a:xfrm flipH="1">
              <a:off x="719475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73"/>
            <p:cNvCxnSpPr/>
            <p:nvPr userDrawn="1"/>
          </p:nvCxnSpPr>
          <p:spPr>
            <a:xfrm flipH="1">
              <a:off x="7485556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直接连接符 174"/>
            <p:cNvCxnSpPr/>
            <p:nvPr userDrawn="1"/>
          </p:nvCxnSpPr>
          <p:spPr>
            <a:xfrm flipH="1">
              <a:off x="7679424" y="4533968"/>
              <a:ext cx="72008" cy="14401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" name="Picture 2" descr="C:\Users\Administrator\Desktop\未标题-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5281" y="2787774"/>
            <a:ext cx="3373438" cy="1905000"/>
          </a:xfrm>
          <a:prstGeom prst="rect">
            <a:avLst/>
          </a:prstGeom>
          <a:noFill/>
        </p:spPr>
      </p:pic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121607B-2C00-4C53-AC9C-C94EA6A9CFA9}" type="datetime1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6F79BD1C-BEA7-4B17-9F05-CD17E1B1935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BD1DFDFF-C2B3-481A-BF65-5E9CEBFBA80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43" y="1"/>
            <a:ext cx="8137922" cy="771524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051299" y="4680347"/>
            <a:ext cx="1041402" cy="154786"/>
          </a:xfrm>
        </p:spPr>
        <p:txBody>
          <a:bodyPr/>
          <a:lstStyle/>
          <a:p>
            <a:fld id="{6489D9C7-5DC6-4263-87FF-7C99F6FB63C3}" type="datetime1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02443" y="4680347"/>
            <a:ext cx="3105151" cy="154786"/>
          </a:xfrm>
        </p:spPr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49" y="4680347"/>
            <a:ext cx="2182416" cy="154786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1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1.xml"/>
</Relationships>
</file>

<file path=ppt/slides/_rels/slide2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2.xml" /><Relationship Id="rId4" Type="http://schemas.openxmlformats.org/officeDocument/2006/relationships/image" Target="../media/image6.png" /><Relationship Id="rId5" Type="http://schemas.openxmlformats.org/officeDocument/2006/relationships/image" Target="../media/image_536225c4b276f281.png" />  <Relationship Id="rId6" Type="http://schemas.openxmlformats.org/officeDocument/2006/relationships/notesSlide" Target="../notesSlides/notesSlide3_tf2.xml"/>
</Relationships>
</file>

<file path=ppt/slides/_rels/slide3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3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3.xml"/>
</Relationships>
</file>

<file path=ppt/slides/_rels/slide4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4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4.xml"/>
</Relationships>
</file>

<file path=ppt/slides/_rels/slide5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5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5.xml"/>
</Relationships>
</file>

<file path=ppt/slides/_rels/slide6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6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6.xml"/>
</Relationships>
</file>

<file path=ppt/slides/_rels/slide7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7.xml" /><Relationship Id="rId4" Type="http://schemas.openxmlformats.org/officeDocument/2006/relationships/image" Target="../media/image6.png" /><Relationship Id="rId5" Type="http://schemas.openxmlformats.org/officeDocument/2006/relationships/image" Target="../media/image_536225c4b276f281.png" />  <Relationship Id="rId6" Type="http://schemas.openxmlformats.org/officeDocument/2006/relationships/notesSlide" Target="../notesSlides/notesSlide3_tf7.xml"/>
</Relationships>
</file>

<file path=ppt/slides/_rels/slide8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8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8.xml"/>
</Relationships>
</file>

<file path=ppt/slides/_rels/slide9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9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9.xml"/>
</Relationships>
</file>

<file path=ppt/slides/_rels/slide10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10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10.xml"/>
</Relationships>
</file>

<file path=ppt/slides/_rels/slide11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11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11.xml"/>
</Relationships>
</file>

<file path=ppt/slides/_rels/slide12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12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12.xml"/>
</Relationships>
</file>

<file path=ppt/slides/_rels/slide13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13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13.xml"/>
</Relationships>
</file>

<file path=ppt/slides/_rels/slide14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14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14.xml"/>
</Relationships>
</file>

<file path=ppt/slides/_rels/slide15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15.xml" /><Relationship Id="rId4" Type="http://schemas.openxmlformats.org/officeDocument/2006/relationships/image" Target="../media/image6.png" /><Relationship Id="rId5" Type="http://schemas.openxmlformats.org/officeDocument/2006/relationships/image" Target="../media/image_040503c375fc3a13.png" />  <Relationship Id="rId6" Type="http://schemas.openxmlformats.org/officeDocument/2006/relationships/notesSlide" Target="../notesSlides/notesSlide3_tf15.xml"/>
</Relationships>
</file>

<file path=ppt/slides/_rels/slide16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1.xml" /><Relationship Id="rId1" Type="http://schemas.openxmlformats.org/officeDocument/2006/relationships/tags" Target="../tags/tag2_tf16.xml" /><Relationship Id="rId4" Type="http://schemas.openxmlformats.org/officeDocument/2006/relationships/image" Target="../media/image6.png" />  <Relationship Id="rId5" Type="http://schemas.openxmlformats.org/officeDocument/2006/relationships/notesSlide" Target="../notesSlides/notesSlide3_tf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310645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纺织学生论坛 · 研究汇报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01 / 16</a:t>
              </a:r>
            </a:p>
          </p:txBody>
        </p:sp>
      </p:grpSp>
      <p:grpSp>
        <p:nvGrpSpPr>
          <p:cNvPr id="11" name="cover-title"/>
          <p:cNvGrpSpPr/>
          <p:nvPr/>
        </p:nvGrpSpPr>
        <p:grpSpPr>
          <a:xfrm>
            <a:off x="441198" y="1244600"/>
            <a:ext cx="5178171" cy="1038352"/>
            <a:chOff x="441198" y="1244600"/>
            <a:chExt cx="5178171" cy="1038352"/>
          </a:xfrm>
        </p:grpSpPr>
        <p:sp>
          <p:nvSpPr>
            <p:cNvPr id="8" name="TextBox 8"/>
            <p:cNvSpPr txBox="1"/>
            <p:nvPr/>
          </p:nvSpPr>
          <p:spPr>
            <a:xfrm>
              <a:off x="444246" y="1244600"/>
              <a:ext cx="52444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兼顾高效能量耗散与形状稳定性的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1198" y="1666875"/>
              <a:ext cx="348767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芳纶柔性复合材料</a:t>
              </a:r>
            </a:p>
          </p:txBody>
        </p:sp>
      </p:grpSp>
      <p:grpSp>
        <p:nvGrpSpPr>
          <p:cNvPr id="14" name="cover-subtitle"/>
          <p:cNvGrpSpPr/>
          <p:nvPr/>
        </p:nvGrpSpPr>
        <p:grpSpPr>
          <a:xfrm>
            <a:off x="457962" y="2308225"/>
            <a:ext cx="5111547" cy="337376"/>
            <a:chOff x="457962" y="2308225"/>
            <a:chExt cx="5111547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457962" y="2308225"/>
              <a:ext cx="520407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从冲击防护到局部穿刺防护的结构设计与性能研究</a:t>
              </a:r>
            </a:p>
          </p:txBody>
        </p:sp>
      </p:grpSp>
      <p:grpSp>
        <p:nvGrpSpPr>
          <p:cNvPr id="35" name="cover-bridge"/>
          <p:cNvGrpSpPr/>
          <p:nvPr/>
        </p:nvGrpSpPr>
        <p:grpSpPr>
          <a:xfrm>
            <a:off x="409575" y="2933700"/>
            <a:ext cx="8362950" cy="1085850"/>
            <a:chOff x="409575" y="2933700"/>
            <a:chExt cx="8362950" cy="1085850"/>
          </a:xfrm>
        </p:grpSpPr>
        <p:sp>
          <p:nvSpPr>
            <p:cNvPr id="15" name="Rectangle 15"/>
            <p:cNvSpPr/>
            <p:nvPr/>
          </p:nvSpPr>
          <p:spPr>
            <a:xfrm>
              <a:off x="409575" y="2933700"/>
              <a:ext cx="8362950" cy="1085850"/>
            </a:xfrm>
            <a:prstGeom prst="roundRect">
              <a:avLst>
                <a:gd name="adj" fmla="val 7018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2643" y="3073400"/>
              <a:ext cx="27607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研究一｜动态网络与抗冲击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2643" y="3444875"/>
              <a:ext cx="25386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研究二｜界面约束与防刺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19800" y="3057525"/>
              <a:ext cx="2495550" cy="828675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15050" y="3171825"/>
              <a:ext cx="2305050" cy="66675"/>
            </a:xfrm>
            <a:prstGeom prst="roundRect">
              <a:avLst>
                <a:gd name="adj" fmla="val 42857"/>
              </a:avLst>
            </a:prstGeom>
            <a:solidFill>
              <a:srgbClr val="D8BD7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115050" y="3289935"/>
              <a:ext cx="2305050" cy="66675"/>
            </a:xfrm>
            <a:prstGeom prst="roundRect">
              <a:avLst>
                <a:gd name="adj" fmla="val 42857"/>
              </a:avLst>
            </a:prstGeom>
            <a:solidFill>
              <a:srgbClr val="D8BD7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15050" y="3408045"/>
              <a:ext cx="2305050" cy="66675"/>
            </a:xfrm>
            <a:prstGeom prst="roundRect">
              <a:avLst>
                <a:gd name="adj" fmla="val 42857"/>
              </a:avLst>
            </a:prstGeom>
            <a:solidFill>
              <a:srgbClr val="D8BD7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115050" y="3526155"/>
              <a:ext cx="2305050" cy="66675"/>
            </a:xfrm>
            <a:prstGeom prst="roundRect">
              <a:avLst>
                <a:gd name="adj" fmla="val 42857"/>
              </a:avLst>
            </a:prstGeom>
            <a:solidFill>
              <a:srgbClr val="D8BD7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115050" y="3644265"/>
              <a:ext cx="2305050" cy="66675"/>
            </a:xfrm>
            <a:prstGeom prst="roundRect">
              <a:avLst>
                <a:gd name="adj" fmla="val 42857"/>
              </a:avLst>
            </a:prstGeom>
            <a:solidFill>
              <a:srgbClr val="D8BD7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15050" y="3762375"/>
              <a:ext cx="2305050" cy="66675"/>
            </a:xfrm>
            <a:prstGeom prst="roundRect">
              <a:avLst>
                <a:gd name="adj" fmla="val 42857"/>
              </a:avLst>
            </a:prstGeom>
            <a:solidFill>
              <a:srgbClr val="D8BD7A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6172200" y="3133725"/>
              <a:ext cx="476250" cy="676275"/>
            </a:xfrm>
            <a:custGeom>
              <a:avLst/>
              <a:gdLst/>
              <a:ahLst/>
              <a:cxnLst/>
              <a:rect l="l" t="t" r="r" b="b"/>
              <a:pathLst>
                <a:path w="476250" h="676275">
                  <a:moveTo>
                    <a:pt x="0" y="0"/>
                  </a:moveTo>
                  <a:lnTo>
                    <a:pt x="476250" y="676275"/>
                  </a:lnTo>
                </a:path>
              </a:pathLst>
            </a:custGeom>
            <a:noFill/>
            <a:ln w="28575">
              <a:solidFill>
                <a:srgbClr val="16859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446044" y="3133725"/>
              <a:ext cx="476250" cy="676275"/>
            </a:xfrm>
            <a:custGeom>
              <a:avLst/>
              <a:gdLst/>
              <a:ahLst/>
              <a:cxnLst/>
              <a:rect l="l" t="t" r="r" b="b"/>
              <a:pathLst>
                <a:path w="476250" h="676275">
                  <a:moveTo>
                    <a:pt x="0" y="0"/>
                  </a:moveTo>
                  <a:lnTo>
                    <a:pt x="476250" y="676275"/>
                  </a:lnTo>
                </a:path>
              </a:pathLst>
            </a:custGeom>
            <a:noFill/>
            <a:ln w="28575">
              <a:solidFill>
                <a:srgbClr val="16859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9888" y="3133725"/>
              <a:ext cx="476250" cy="676275"/>
            </a:xfrm>
            <a:custGeom>
              <a:avLst/>
              <a:gdLst/>
              <a:ahLst/>
              <a:cxnLst/>
              <a:rect l="l" t="t" r="r" b="b"/>
              <a:pathLst>
                <a:path w="476250" h="676275">
                  <a:moveTo>
                    <a:pt x="0" y="0"/>
                  </a:moveTo>
                  <a:lnTo>
                    <a:pt x="476250" y="676275"/>
                  </a:lnTo>
                </a:path>
              </a:pathLst>
            </a:custGeom>
            <a:noFill/>
            <a:ln w="28575">
              <a:solidFill>
                <a:srgbClr val="16859A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993731" y="3133725"/>
              <a:ext cx="476250" cy="676275"/>
            </a:xfrm>
            <a:custGeom>
              <a:avLst/>
              <a:gdLst/>
              <a:ahLst/>
              <a:cxnLst/>
              <a:rect l="l" t="t" r="r" b="b"/>
              <a:pathLst>
                <a:path w="476250" h="676275">
                  <a:moveTo>
                    <a:pt x="0" y="0"/>
                  </a:moveTo>
                  <a:lnTo>
                    <a:pt x="476250" y="676275"/>
                  </a:lnTo>
                </a:path>
              </a:pathLst>
            </a:custGeom>
            <a:noFill/>
            <a:ln w="28575">
              <a:solidFill>
                <a:srgbClr val="16859A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267575" y="3133725"/>
              <a:ext cx="476250" cy="676275"/>
            </a:xfrm>
            <a:custGeom>
              <a:avLst/>
              <a:gdLst/>
              <a:ahLst/>
              <a:cxnLst/>
              <a:rect l="l" t="t" r="r" b="b"/>
              <a:pathLst>
                <a:path w="476250" h="676275">
                  <a:moveTo>
                    <a:pt x="0" y="0"/>
                  </a:moveTo>
                  <a:lnTo>
                    <a:pt x="476250" y="676275"/>
                  </a:lnTo>
                </a:path>
              </a:pathLst>
            </a:custGeom>
            <a:noFill/>
            <a:ln w="28575">
              <a:solidFill>
                <a:srgbClr val="16859A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541419" y="3133725"/>
              <a:ext cx="476250" cy="676275"/>
            </a:xfrm>
            <a:custGeom>
              <a:avLst/>
              <a:gdLst/>
              <a:ahLst/>
              <a:cxnLst/>
              <a:rect l="l" t="t" r="r" b="b"/>
              <a:pathLst>
                <a:path w="476250" h="676275">
                  <a:moveTo>
                    <a:pt x="0" y="0"/>
                  </a:moveTo>
                  <a:lnTo>
                    <a:pt x="476250" y="676275"/>
                  </a:lnTo>
                </a:path>
              </a:pathLst>
            </a:custGeom>
            <a:noFill/>
            <a:ln w="28575">
              <a:solidFill>
                <a:srgbClr val="16859A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7815262" y="3133725"/>
              <a:ext cx="476250" cy="676275"/>
            </a:xfrm>
            <a:custGeom>
              <a:avLst/>
              <a:gdLst/>
              <a:ahLst/>
              <a:cxnLst/>
              <a:rect l="l" t="t" r="r" b="b"/>
              <a:pathLst>
                <a:path w="476250" h="676275">
                  <a:moveTo>
                    <a:pt x="0" y="0"/>
                  </a:moveTo>
                  <a:lnTo>
                    <a:pt x="476250" y="676275"/>
                  </a:lnTo>
                </a:path>
              </a:pathLst>
            </a:custGeom>
            <a:noFill/>
            <a:ln w="28575">
              <a:solidFill>
                <a:srgbClr val="16859A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8089106" y="3133725"/>
              <a:ext cx="330994" cy="676275"/>
            </a:xfrm>
            <a:custGeom>
              <a:avLst/>
              <a:gdLst/>
              <a:ahLst/>
              <a:cxnLst/>
              <a:rect l="l" t="t" r="r" b="b"/>
              <a:pathLst>
                <a:path w="330994" h="676275">
                  <a:moveTo>
                    <a:pt x="0" y="0"/>
                  </a:moveTo>
                  <a:lnTo>
                    <a:pt x="330994" y="676275"/>
                  </a:lnTo>
                </a:path>
              </a:pathLst>
            </a:custGeom>
            <a:noFill/>
            <a:ln w="28575">
              <a:solidFill>
                <a:srgbClr val="16859A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8362950" y="3133725"/>
              <a:ext cx="57150" cy="676275"/>
            </a:xfrm>
            <a:custGeom>
              <a:avLst/>
              <a:gdLst/>
              <a:ahLst/>
              <a:cxnLst/>
              <a:rect l="l" t="t" r="r" b="b"/>
              <a:pathLst>
                <a:path w="57150" h="676275">
                  <a:moveTo>
                    <a:pt x="0" y="0"/>
                  </a:moveTo>
                  <a:lnTo>
                    <a:pt x="57150" y="676275"/>
                  </a:lnTo>
                </a:path>
              </a:pathLst>
            </a:custGeom>
            <a:noFill/>
            <a:ln w="28575">
              <a:solidFill>
                <a:srgbClr val="16859A"/>
              </a:solidFill>
            </a:ln>
          </p:spPr>
        </p:sp>
      </p:grpSp>
      <p:grpSp>
        <p:nvGrpSpPr>
          <p:cNvPr id="37" name="cover-byline"/>
          <p:cNvGrpSpPr/>
          <p:nvPr/>
        </p:nvGrpSpPr>
        <p:grpSpPr>
          <a:xfrm>
            <a:off x="459486" y="4270375"/>
            <a:ext cx="4812604" cy="278702"/>
            <a:chOff x="459486" y="4270375"/>
            <a:chExt cx="4812604" cy="278702"/>
          </a:xfrm>
        </p:grpSpPr>
        <p:sp>
          <p:nvSpPr>
            <p:cNvPr id="36" name="TextBox 36"/>
            <p:cNvSpPr txBox="1"/>
            <p:nvPr/>
          </p:nvSpPr>
          <p:spPr>
            <a:xfrm>
              <a:off x="459486" y="4270375"/>
              <a:ext cx="48126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汇报人：褚生 导师：王新厚教授 汇报日期：2026.10.28</a:t>
              </a:r>
            </a:p>
          </p:txBody>
        </p:sp>
      </p:grpSp>
      <p:grpSp>
        <p:nvGrpSpPr>
          <p:cNvPr id="39" name="source-note"/>
          <p:cNvGrpSpPr/>
          <p:nvPr/>
        </p:nvGrpSpPr>
        <p:grpSpPr>
          <a:xfrm>
            <a:off x="376238" y="4746625"/>
            <a:ext cx="3210654" cy="155258"/>
            <a:chOff x="376238" y="4746625"/>
            <a:chExt cx="3210654" cy="155258"/>
          </a:xfrm>
        </p:grpSpPr>
        <p:sp>
          <p:nvSpPr>
            <p:cNvPr id="38" name="TextBox 38"/>
            <p:cNvSpPr txBox="1"/>
            <p:nvPr/>
          </p:nvSpPr>
          <p:spPr>
            <a:xfrm>
              <a:off x="376238" y="4746625"/>
              <a:ext cx="3287322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内容依据：原模板、用户16页汇总图及可读取的《防刺相关研究》。</a:t>
              </a:r>
            </a:p>
          </p:txBody>
        </p:sp>
      </p:grpSp>
    </p:spTree>
  </p:cSld>
  <p:clrMapOvr>
    <a:masterClrMapping/>
  </p:clrMapOvr>
  <p:transition advClick="1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5819966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柔性防护材料：既要防撞击，也要抵抗局部穿刺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02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3803853" cy="250317"/>
            <a:chOff x="364998" y="800100"/>
            <a:chExt cx="3803853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387134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应用牵引：轻量、柔性与多场景防护需要同时考虑</a:t>
              </a:r>
            </a:p>
          </p:txBody>
        </p:sp>
      </p:grpSp>
      <p:grpSp>
        <p:nvGrpSpPr>
          <p:cNvPr id="17" name="need-impact"/>
          <p:cNvGrpSpPr/>
          <p:nvPr/>
        </p:nvGrpSpPr>
        <p:grpSpPr>
          <a:xfrm>
            <a:off x="371475" y="1228725"/>
            <a:ext cx="2647950" cy="2095500"/>
            <a:chOff x="371475" y="1228725"/>
            <a:chExt cx="2647950" cy="2095500"/>
          </a:xfrm>
        </p:grpSpPr>
        <p:sp>
          <p:nvSpPr>
            <p:cNvPr id="11" name="Rectangle 11"/>
            <p:cNvSpPr/>
            <p:nvPr/>
          </p:nvSpPr>
          <p:spPr>
            <a:xfrm>
              <a:off x="371475" y="1228725"/>
              <a:ext cx="2647950" cy="2095500"/>
            </a:xfrm>
            <a:prstGeom prst="roundRect">
              <a:avLst>
                <a:gd name="adj" fmla="val 3182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4162" y="1346200"/>
              <a:ext cx="10241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冲击防护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5686" y="1736725"/>
              <a:ext cx="12462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较大接触区域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35686" y="2012950"/>
              <a:ext cx="18217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分散载荷与耗散能量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5686" y="2289175"/>
              <a:ext cx="18217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面向撞击与运动防护</a:t>
              </a:r>
            </a:p>
          </p:txBody>
        </p:sp>
      </p:grpSp>
      <p:grpSp>
        <p:nvGrpSpPr>
          <p:cNvPr id="24" name="need-puncture"/>
          <p:cNvGrpSpPr/>
          <p:nvPr/>
        </p:nvGrpSpPr>
        <p:grpSpPr>
          <a:xfrm>
            <a:off x="3257550" y="1228725"/>
            <a:ext cx="2647950" cy="2095500"/>
            <a:chOff x="3257550" y="1228725"/>
            <a:chExt cx="2647950" cy="2095500"/>
          </a:xfrm>
        </p:grpSpPr>
        <p:sp>
          <p:nvSpPr>
            <p:cNvPr id="19" name="Rectangle 19"/>
            <p:cNvSpPr/>
            <p:nvPr/>
          </p:nvSpPr>
          <p:spPr>
            <a:xfrm>
              <a:off x="3257550" y="1228725"/>
              <a:ext cx="2647950" cy="2095500"/>
            </a:xfrm>
            <a:prstGeom prst="roundRect">
              <a:avLst>
                <a:gd name="adj" fmla="val 3182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20237" y="1346200"/>
              <a:ext cx="10241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局部穿刺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21761" y="1736725"/>
              <a:ext cx="12462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较小接触区域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21761" y="2012950"/>
              <a:ext cx="18217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约束纱线并阻滞侵入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1761" y="2289175"/>
              <a:ext cx="14380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区分锥刺与刀刺</a:t>
              </a:r>
            </a:p>
          </p:txBody>
        </p:sp>
      </p:grpSp>
      <p:grpSp>
        <p:nvGrpSpPr>
          <p:cNvPr id="30" name="need-service"/>
          <p:cNvGrpSpPr/>
          <p:nvPr/>
        </p:nvGrpSpPr>
        <p:grpSpPr>
          <a:xfrm>
            <a:off x="6143625" y="1228725"/>
            <a:ext cx="2638425" cy="2095500"/>
            <a:chOff x="6143625" y="1228725"/>
            <a:chExt cx="2638425" cy="2095500"/>
          </a:xfrm>
        </p:grpSpPr>
        <p:sp>
          <p:nvSpPr>
            <p:cNvPr id="25" name="Rectangle 25"/>
            <p:cNvSpPr/>
            <p:nvPr/>
          </p:nvSpPr>
          <p:spPr>
            <a:xfrm>
              <a:off x="6143625" y="1228725"/>
              <a:ext cx="2638425" cy="2095500"/>
            </a:xfrm>
            <a:prstGeom prst="roundRect">
              <a:avLst>
                <a:gd name="adj" fmla="val 3182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6312" y="1346200"/>
              <a:ext cx="10241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服役稳定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07836" y="1736725"/>
              <a:ext cx="18217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贴合人体与反复弯曲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07836" y="2012950"/>
              <a:ext cx="12462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长期形态保持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07836" y="2289175"/>
              <a:ext cx="18217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环境处理后性能保持</a:t>
              </a:r>
            </a:p>
          </p:txBody>
        </p:sp>
      </p:grpSp>
      <p:grpSp>
        <p:nvGrpSpPr>
          <p:cNvPr id="34" name="material-context"/>
          <p:cNvGrpSpPr/>
          <p:nvPr/>
        </p:nvGrpSpPr>
        <p:grpSpPr>
          <a:xfrm>
            <a:off x="501848" y="3486150"/>
            <a:ext cx="5351150" cy="672402"/>
            <a:chOff x="501848" y="3486150"/>
            <a:chExt cx="5351150" cy="672402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1848" y="3486150"/>
              <a:ext cx="825103" cy="62865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1667637" y="3536950"/>
              <a:ext cx="427520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芳纶织物：承载骨架与复合材料设计平台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69161" y="3879850"/>
              <a:ext cx="4123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防护指标需要与面密度、厚度和柔性一起评价。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35" name="Rectangle 35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7492" y="4406900"/>
              <a:ext cx="51838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抗冲击与防刺具有不同接触与失效机制，应分别建立评价体系。</a:t>
              </a:r>
            </a:p>
          </p:txBody>
        </p:sp>
      </p:grpSp>
      <p:grpSp>
        <p:nvGrpSpPr>
          <p:cNvPr id="40" name="source-note"/>
          <p:cNvGrpSpPr/>
          <p:nvPr/>
        </p:nvGrpSpPr>
        <p:grpSpPr>
          <a:xfrm>
            <a:off x="376238" y="4746625"/>
            <a:ext cx="3056346" cy="155258"/>
            <a:chOff x="376238" y="4746625"/>
            <a:chExt cx="3056346" cy="155258"/>
          </a:xfrm>
        </p:grpSpPr>
        <p:sp>
          <p:nvSpPr>
            <p:cNvPr id="39" name="TextBox 39"/>
            <p:cNvSpPr txBox="1"/>
            <p:nvPr/>
          </p:nvSpPr>
          <p:spPr>
            <a:xfrm>
              <a:off x="376238" y="4746625"/>
              <a:ext cx="3143446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背景参考：《防刺相关研究》P3、P4、P6；织物参考图取自P6。</a:t>
              </a:r>
            </a:p>
          </p:txBody>
        </p:sp>
      </p:grpSp>
    </p:spTree>
  </p:cSld>
  <p:clrMapOvr>
    <a:masterClrMapping/>
  </p:clrMapOvr>
  <p:transition advClick="1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445693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柔性防护材料的研究路线与发展挑战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03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4837735" cy="250317"/>
            <a:chOff x="364998" y="800100"/>
            <a:chExt cx="4837735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490118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从纤维骨架、聚合物复合到动态响应材料：路径互补，条件各异</a:t>
              </a:r>
            </a:p>
          </p:txBody>
        </p:sp>
      </p:grpSp>
      <p:grpSp>
        <p:nvGrpSpPr>
          <p:cNvPr id="17" name="route-fiber"/>
          <p:cNvGrpSpPr/>
          <p:nvPr/>
        </p:nvGrpSpPr>
        <p:grpSpPr>
          <a:xfrm>
            <a:off x="381000" y="1238250"/>
            <a:ext cx="2638425" cy="2381250"/>
            <a:chOff x="381000" y="1238250"/>
            <a:chExt cx="2638425" cy="2381250"/>
          </a:xfrm>
        </p:grpSpPr>
        <p:sp>
          <p:nvSpPr>
            <p:cNvPr id="11" name="Rectangle 11"/>
            <p:cNvSpPr/>
            <p:nvPr/>
          </p:nvSpPr>
          <p:spPr>
            <a:xfrm>
              <a:off x="381000" y="1238250"/>
              <a:ext cx="2638425" cy="2381250"/>
            </a:xfrm>
            <a:prstGeom prst="roundRect">
              <a:avLst>
                <a:gd name="adj" fmla="val 2800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3687" y="1355725"/>
              <a:ext cx="172078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纤维与织物骨架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5211" y="1746250"/>
              <a:ext cx="18217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纱线承载与结构传力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5211" y="2022475"/>
              <a:ext cx="2013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高性能纤维及组织设计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5211" y="2298700"/>
              <a:ext cx="2013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重点：质量与局部承载</a:t>
              </a:r>
            </a:p>
          </p:txBody>
        </p:sp>
      </p:grpSp>
      <p:grpSp>
        <p:nvGrpSpPr>
          <p:cNvPr id="24" name="route-polymer"/>
          <p:cNvGrpSpPr/>
          <p:nvPr/>
        </p:nvGrpSpPr>
        <p:grpSpPr>
          <a:xfrm>
            <a:off x="3257550" y="1238250"/>
            <a:ext cx="2638425" cy="2381250"/>
            <a:chOff x="3257550" y="1238250"/>
            <a:chExt cx="2638425" cy="2381250"/>
          </a:xfrm>
        </p:grpSpPr>
        <p:sp>
          <p:nvSpPr>
            <p:cNvPr id="19" name="Rectangle 19"/>
            <p:cNvSpPr/>
            <p:nvPr/>
          </p:nvSpPr>
          <p:spPr>
            <a:xfrm>
              <a:off x="3257550" y="1238250"/>
              <a:ext cx="2638425" cy="2381250"/>
            </a:xfrm>
            <a:prstGeom prst="roundRect">
              <a:avLst>
                <a:gd name="adj" fmla="val 2800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20237" y="1355725"/>
              <a:ext cx="191794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聚合物 / 织物复合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21761" y="1746250"/>
              <a:ext cx="18127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TPU涂层、凝胶含浸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21761" y="2022475"/>
              <a:ext cx="18217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调控纱线滑移与界面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1761" y="2298700"/>
              <a:ext cx="2013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重点：柔性与约束平衡</a:t>
              </a:r>
            </a:p>
          </p:txBody>
        </p:sp>
      </p:grpSp>
      <p:grpSp>
        <p:nvGrpSpPr>
          <p:cNvPr id="30" name="route-stf"/>
          <p:cNvGrpSpPr/>
          <p:nvPr/>
        </p:nvGrpSpPr>
        <p:grpSpPr>
          <a:xfrm>
            <a:off x="6134100" y="1238250"/>
            <a:ext cx="2638425" cy="2381250"/>
            <a:chOff x="6134100" y="1238250"/>
            <a:chExt cx="2638425" cy="2381250"/>
          </a:xfrm>
        </p:grpSpPr>
        <p:sp>
          <p:nvSpPr>
            <p:cNvPr id="25" name="Rectangle 25"/>
            <p:cNvSpPr/>
            <p:nvPr/>
          </p:nvSpPr>
          <p:spPr>
            <a:xfrm>
              <a:off x="6134100" y="1238250"/>
              <a:ext cx="2638425" cy="2381250"/>
            </a:xfrm>
            <a:prstGeom prst="roundRect">
              <a:avLst>
                <a:gd name="adj" fmla="val 2800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96787" y="1355725"/>
              <a:ext cx="14885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动态响应体系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98311" y="1746250"/>
              <a:ext cx="19351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STF、SSG与动态网络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98311" y="2022475"/>
              <a:ext cx="18217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随加载条件改变响应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98311" y="2298700"/>
              <a:ext cx="2013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重点：耗能与长期稳定</a:t>
              </a:r>
            </a:p>
          </p:txBody>
        </p:sp>
      </p:grpSp>
      <p:grpSp>
        <p:nvGrpSpPr>
          <p:cNvPr id="32" name="literature-reference"/>
          <p:cNvGrpSpPr/>
          <p:nvPr/>
        </p:nvGrpSpPr>
        <p:grpSpPr>
          <a:xfrm>
            <a:off x="402717" y="3797300"/>
            <a:ext cx="5655193" cy="264033"/>
            <a:chOff x="402717" y="3797300"/>
            <a:chExt cx="5655193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402717" y="3797300"/>
              <a:ext cx="58607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参考报告涵盖STF、TPU与凝胶，不能据此替代SiO₂/DPU的原始数据。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33" name="Rectangle 33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07492" y="4406900"/>
              <a:ext cx="50021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研究切入点：兼顾宏观吸能、长期形态稳定与局部纱线约束。</a:t>
              </a:r>
            </a:p>
          </p:txBody>
        </p:sp>
      </p:grpSp>
      <p:grpSp>
        <p:nvGrpSpPr>
          <p:cNvPr id="38" name="source-note"/>
          <p:cNvGrpSpPr/>
          <p:nvPr/>
        </p:nvGrpSpPr>
        <p:grpSpPr>
          <a:xfrm>
            <a:off x="376238" y="4746625"/>
            <a:ext cx="4095113" cy="155258"/>
            <a:chOff x="376238" y="4746625"/>
            <a:chExt cx="4095113" cy="155258"/>
          </a:xfrm>
        </p:grpSpPr>
        <p:sp>
          <p:nvSpPr>
            <p:cNvPr id="37" name="TextBox 37"/>
            <p:cNvSpPr txBox="1"/>
            <p:nvPr/>
          </p:nvSpPr>
          <p:spPr>
            <a:xfrm>
              <a:off x="376238" y="4746625"/>
              <a:ext cx="4158579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参考：《防刺相关研究》P5–P15；其中P6引Decker等（2007），P7引Li等（2019）。</a:t>
              </a:r>
            </a:p>
          </p:txBody>
        </p:sp>
      </p:grpSp>
    </p:spTree>
  </p:cSld>
  <p:clrMapOvr>
    <a:masterClrMapping/>
  </p:clrMapOvr>
  <p:transition advClick="1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663778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研究问题：动态耗能、长期稳定与局部承载如何兼顾？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04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4837735" cy="250317"/>
            <a:chOff x="364998" y="800100"/>
            <a:chExt cx="4837735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490118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问题分层：分子网络的稳定性，与织物局部承载是两个相关层次</a:t>
              </a:r>
            </a:p>
          </p:txBody>
        </p:sp>
      </p:grpSp>
      <p:grpSp>
        <p:nvGrpSpPr>
          <p:cNvPr id="17" name="problem-network"/>
          <p:cNvGrpSpPr/>
          <p:nvPr/>
        </p:nvGrpSpPr>
        <p:grpSpPr>
          <a:xfrm>
            <a:off x="381000" y="1266825"/>
            <a:ext cx="4048125" cy="2190750"/>
            <a:chOff x="381000" y="1266825"/>
            <a:chExt cx="4048125" cy="2190750"/>
          </a:xfrm>
        </p:grpSpPr>
        <p:sp>
          <p:nvSpPr>
            <p:cNvPr id="11" name="Rectangle 11"/>
            <p:cNvSpPr/>
            <p:nvPr/>
          </p:nvSpPr>
          <p:spPr>
            <a:xfrm>
              <a:off x="381000" y="1266825"/>
              <a:ext cx="4048125" cy="2190750"/>
            </a:xfrm>
            <a:prstGeom prst="roundRect">
              <a:avLst>
                <a:gd name="adj" fmla="val 3043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3687" y="1384300"/>
              <a:ext cx="288188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问题一｜动态网络长期稳定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5211" y="1774825"/>
              <a:ext cx="16299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可逆作用参与耗能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5211" y="2051050"/>
              <a:ext cx="2013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网络仍需保持宏观形态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5211" y="2327275"/>
              <a:ext cx="2205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避免结构松弛削弱稳定性</a:t>
              </a:r>
            </a:p>
          </p:txBody>
        </p:sp>
      </p:grpSp>
      <p:grpSp>
        <p:nvGrpSpPr>
          <p:cNvPr id="24" name="problem-fabric"/>
          <p:cNvGrpSpPr/>
          <p:nvPr/>
        </p:nvGrpSpPr>
        <p:grpSpPr>
          <a:xfrm>
            <a:off x="4724400" y="1266825"/>
            <a:ext cx="4048125" cy="2190750"/>
            <a:chOff x="4724400" y="1266825"/>
            <a:chExt cx="4048125" cy="2190750"/>
          </a:xfrm>
        </p:grpSpPr>
        <p:sp>
          <p:nvSpPr>
            <p:cNvPr id="19" name="Rectangle 19"/>
            <p:cNvSpPr/>
            <p:nvPr/>
          </p:nvSpPr>
          <p:spPr>
            <a:xfrm>
              <a:off x="4724400" y="1266825"/>
              <a:ext cx="4048125" cy="2190750"/>
            </a:xfrm>
            <a:prstGeom prst="roundRect">
              <a:avLst>
                <a:gd name="adj" fmla="val 3043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87087" y="1384300"/>
              <a:ext cx="288188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问题二｜尖锐接触局部承载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8611" y="1774825"/>
              <a:ext cx="2013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纱线可能被推移或切断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88611" y="2051050"/>
              <a:ext cx="2205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界面决定局部约束与传力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88611" y="2327275"/>
              <a:ext cx="2013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铺层决定载荷分配方向</a:t>
              </a:r>
            </a:p>
          </p:txBody>
        </p:sp>
      </p:grpSp>
      <p:grpSp>
        <p:nvGrpSpPr>
          <p:cNvPr id="26" name="shared-question"/>
          <p:cNvGrpSpPr/>
          <p:nvPr/>
        </p:nvGrpSpPr>
        <p:grpSpPr>
          <a:xfrm>
            <a:off x="400431" y="3765550"/>
            <a:ext cx="6393622" cy="352044"/>
            <a:chOff x="400431" y="3765550"/>
            <a:chExt cx="6393622" cy="352044"/>
          </a:xfrm>
        </p:grpSpPr>
        <p:sp>
          <p:nvSpPr>
            <p:cNvPr id="25" name="TextBox 25"/>
            <p:cNvSpPr txBox="1"/>
            <p:nvPr/>
          </p:nvSpPr>
          <p:spPr>
            <a:xfrm>
              <a:off x="400431" y="3765550"/>
              <a:ext cx="64672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共同问题：如何让“可变形”与“有约束”在加载过程中协同？</a:t>
              </a:r>
            </a:p>
          </p:txBody>
        </p:sp>
      </p:grpSp>
      <p:grpSp>
        <p:nvGrpSpPr>
          <p:cNvPr id="30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27" name="Rectangle 27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7492" y="4406900"/>
              <a:ext cx="5348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从网络时间尺度到纱线运动路径，建立跨层级的结构—性能关系。</a:t>
              </a:r>
            </a:p>
          </p:txBody>
        </p:sp>
      </p:grpSp>
      <p:grpSp>
        <p:nvGrpSpPr>
          <p:cNvPr id="32" name="source-note"/>
          <p:cNvGrpSpPr/>
          <p:nvPr/>
        </p:nvGrpSpPr>
        <p:grpSpPr>
          <a:xfrm>
            <a:off x="376238" y="4746625"/>
            <a:ext cx="3766883" cy="155258"/>
            <a:chOff x="376238" y="4746625"/>
            <a:chExt cx="3766883" cy="155258"/>
          </a:xfrm>
        </p:grpSpPr>
        <p:sp>
          <p:nvSpPr>
            <p:cNvPr id="31" name="TextBox 31"/>
            <p:cNvSpPr txBox="1"/>
            <p:nvPr/>
          </p:nvSpPr>
          <p:spPr>
            <a:xfrm>
              <a:off x="376238" y="4746625"/>
              <a:ext cx="385004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逻辑依据：用户16页汇总图P4、P5；机制背景参见《防刺相关研究》P5、P14。</a:t>
              </a:r>
            </a:p>
          </p:txBody>
        </p:sp>
      </p:grpSp>
    </p:spTree>
  </p:cSld>
  <p:clrMapOvr>
    <a:masterClrMapping/>
  </p:clrMapOvr>
  <p:transition advClick="1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6092571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整体研究思路：分子网络与织物复合结构协同调控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05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4493108" cy="250317"/>
            <a:chOff x="364998" y="800100"/>
            <a:chExt cx="4493108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45579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两项研究共享防护目标，但不是同一配方上的连续添加实验</a:t>
              </a:r>
            </a:p>
          </p:txBody>
        </p:sp>
      </p:grpSp>
      <p:grpSp>
        <p:nvGrpSpPr>
          <p:cNvPr id="17" name="study-impact"/>
          <p:cNvGrpSpPr/>
          <p:nvPr/>
        </p:nvGrpSpPr>
        <p:grpSpPr>
          <a:xfrm>
            <a:off x="381000" y="1247775"/>
            <a:ext cx="3857625" cy="2209800"/>
            <a:chOff x="381000" y="1247775"/>
            <a:chExt cx="3857625" cy="2209800"/>
          </a:xfrm>
        </p:grpSpPr>
        <p:sp>
          <p:nvSpPr>
            <p:cNvPr id="11" name="Rectangle 11"/>
            <p:cNvSpPr/>
            <p:nvPr/>
          </p:nvSpPr>
          <p:spPr>
            <a:xfrm>
              <a:off x="381000" y="1247775"/>
              <a:ext cx="3857625" cy="2209800"/>
            </a:xfrm>
            <a:prstGeom prst="roundRect">
              <a:avLst>
                <a:gd name="adj" fmla="val 3017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3687" y="1365250"/>
              <a:ext cx="172078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研究一｜抗冲击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5211" y="1755775"/>
              <a:ext cx="19694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多时间尺度HDPU网络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5211" y="2032000"/>
              <a:ext cx="15551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芳纶 / HDPU复合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5211" y="2308225"/>
              <a:ext cx="2397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能量吸收、形态与服役稳定</a:t>
              </a:r>
            </a:p>
          </p:txBody>
        </p:sp>
      </p:grpSp>
      <p:grpSp>
        <p:nvGrpSpPr>
          <p:cNvPr id="24" name="study-stab"/>
          <p:cNvGrpSpPr/>
          <p:nvPr/>
        </p:nvGrpSpPr>
        <p:grpSpPr>
          <a:xfrm>
            <a:off x="4905375" y="1247775"/>
            <a:ext cx="3867150" cy="2209800"/>
            <a:chOff x="4905375" y="1247775"/>
            <a:chExt cx="3867150" cy="2209800"/>
          </a:xfrm>
        </p:grpSpPr>
        <p:sp>
          <p:nvSpPr>
            <p:cNvPr id="19" name="Rectangle 19"/>
            <p:cNvSpPr/>
            <p:nvPr/>
          </p:nvSpPr>
          <p:spPr>
            <a:xfrm>
              <a:off x="4905375" y="1247775"/>
              <a:ext cx="3867150" cy="2209800"/>
            </a:xfrm>
            <a:prstGeom prst="roundRect">
              <a:avLst>
                <a:gd name="adj" fmla="val 3017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68062" y="1365250"/>
              <a:ext cx="14885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研究二｜防刺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69586" y="1755775"/>
              <a:ext cx="1916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SiO₂ / DPU浸渍体系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69586" y="2032000"/>
              <a:ext cx="2013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粒子含量与中间层角度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69586" y="2308225"/>
              <a:ext cx="2013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锥刺、刀刺与损伤机制</a:t>
              </a:r>
            </a:p>
          </p:txBody>
        </p:sp>
      </p:grpSp>
      <p:grpSp>
        <p:nvGrpSpPr>
          <p:cNvPr id="26" name="study-arrow"/>
          <p:cNvGrpSpPr/>
          <p:nvPr/>
        </p:nvGrpSpPr>
        <p:grpSpPr>
          <a:xfrm>
            <a:off x="4324350" y="2286000"/>
            <a:ext cx="476250" cy="1"/>
            <a:chOff x="4324350" y="2286000"/>
            <a:chExt cx="476250" cy="1"/>
          </a:xfrm>
        </p:grpSpPr>
        <p:sp>
          <p:nvSpPr>
            <p:cNvPr id="25" name="Line 25"/>
            <p:cNvSpPr/>
            <p:nvPr/>
          </p:nvSpPr>
          <p:spPr>
            <a:xfrm>
              <a:off x="4324350" y="2286000"/>
              <a:ext cx="476250" cy="1"/>
            </a:xfrm>
            <a:prstGeom prst="line">
              <a:avLst/>
            </a:prstGeom>
            <a:noFill/>
            <a:ln w="28575">
              <a:solidFill>
                <a:srgbClr val="16859A"/>
              </a:solidFill>
              <a:tailEnd type="triangle" w="lg" len="lg"/>
            </a:ln>
          </p:spPr>
        </p:sp>
      </p:grpSp>
      <p:grpSp>
        <p:nvGrpSpPr>
          <p:cNvPr id="28" name="unified-evaluation"/>
          <p:cNvGrpSpPr/>
          <p:nvPr/>
        </p:nvGrpSpPr>
        <p:grpSpPr>
          <a:xfrm>
            <a:off x="400431" y="3765550"/>
            <a:ext cx="3895344" cy="352044"/>
            <a:chOff x="400431" y="3765550"/>
            <a:chExt cx="3895344" cy="352044"/>
          </a:xfrm>
        </p:grpSpPr>
        <p:sp>
          <p:nvSpPr>
            <p:cNvPr id="27" name="TextBox 27"/>
            <p:cNvSpPr txBox="1"/>
            <p:nvPr/>
          </p:nvSpPr>
          <p:spPr>
            <a:xfrm>
              <a:off x="400431" y="3765550"/>
              <a:ext cx="39723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统一评价：耗能、承载、保形与柔性</a:t>
              </a:r>
            </a:p>
          </p:txBody>
        </p:sp>
      </p:grpSp>
      <p:grpSp>
        <p:nvGrpSpPr>
          <p:cNvPr id="32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29" name="Rectangle 29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07492" y="4406900"/>
              <a:ext cx="53656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明确体系和测试条件，避免将不同配方、不同能量下的结果混用。</a:t>
              </a:r>
            </a:p>
          </p:txBody>
        </p:sp>
      </p:grpSp>
      <p:grpSp>
        <p:nvGrpSpPr>
          <p:cNvPr id="34" name="source-note"/>
          <p:cNvGrpSpPr/>
          <p:nvPr/>
        </p:nvGrpSpPr>
        <p:grpSpPr>
          <a:xfrm>
            <a:off x="376238" y="4746625"/>
            <a:ext cx="3475124" cy="155258"/>
            <a:chOff x="376238" y="4746625"/>
            <a:chExt cx="3475124" cy="155258"/>
          </a:xfrm>
        </p:grpSpPr>
        <p:sp>
          <p:nvSpPr>
            <p:cNvPr id="33" name="TextBox 33"/>
            <p:cNvSpPr txBox="1"/>
            <p:nvPr/>
          </p:nvSpPr>
          <p:spPr>
            <a:xfrm>
              <a:off x="376238" y="4746625"/>
              <a:ext cx="3548923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来源：用户16页汇总图P5–P15；两体系的配方关系仍需原始研究稿确认。</a:t>
              </a:r>
            </a:p>
          </p:txBody>
        </p:sp>
      </p:grpSp>
    </p:spTree>
  </p:cSld>
  <p:clrMapOvr>
    <a:masterClrMapping/>
  </p:clrMapOvr>
  <p:transition advClick="1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5243637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多时间尺度动态聚氨酯网络设计（HDPU）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06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4493108" cy="250317"/>
            <a:chOff x="364998" y="800100"/>
            <a:chExt cx="4493108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45579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按时间尺度分工：快动态作用、慢动态作用与永久骨架协同</a:t>
              </a:r>
            </a:p>
          </p:txBody>
        </p:sp>
      </p:grpSp>
      <p:grpSp>
        <p:nvGrpSpPr>
          <p:cNvPr id="24" name="network-unit-0"/>
          <p:cNvGrpSpPr/>
          <p:nvPr/>
        </p:nvGrpSpPr>
        <p:grpSpPr>
          <a:xfrm>
            <a:off x="381000" y="1276350"/>
            <a:ext cx="2638425" cy="2047875"/>
            <a:chOff x="381000" y="1276350"/>
            <a:chExt cx="2638425" cy="2047875"/>
          </a:xfrm>
        </p:grpSpPr>
        <p:sp>
          <p:nvSpPr>
            <p:cNvPr id="11" name="Rectangle 11"/>
            <p:cNvSpPr/>
            <p:nvPr/>
          </p:nvSpPr>
          <p:spPr>
            <a:xfrm>
              <a:off x="381000" y="1276350"/>
              <a:ext cx="2638425" cy="2047875"/>
            </a:xfrm>
            <a:prstGeom prst="roundRect">
              <a:avLst>
                <a:gd name="adj" fmla="val 3256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3687" y="1393825"/>
              <a:ext cx="125634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快动态作用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1752600"/>
              <a:ext cx="695325" cy="247650"/>
            </a:xfrm>
            <a:custGeom>
              <a:avLst/>
              <a:gdLst/>
              <a:ahLst/>
              <a:cxnLst/>
              <a:rect l="l" t="t" r="r" b="b"/>
              <a:pathLst>
                <a:path w="695325" h="247650">
                  <a:moveTo>
                    <a:pt x="0" y="247650"/>
                  </a:moveTo>
                  <a:lnTo>
                    <a:pt x="695325" y="0"/>
                  </a:lnTo>
                </a:path>
              </a:pathLst>
            </a:custGeom>
            <a:noFill/>
            <a:ln w="28575">
              <a:solidFill>
                <a:srgbClr val="16859A"/>
              </a:solidFill>
              <a:prstDash val="dash"/>
            </a:ln>
          </p:spPr>
        </p:sp>
        <p:sp>
          <p:nvSpPr>
            <p:cNvPr id="15" name="Line 15"/>
            <p:cNvSpPr/>
            <p:nvPr/>
          </p:nvSpPr>
          <p:spPr>
            <a:xfrm>
              <a:off x="1381125" y="175260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0" y="0"/>
                  </a:moveTo>
                  <a:lnTo>
                    <a:pt x="781050" y="285750"/>
                  </a:lnTo>
                </a:path>
              </a:pathLst>
            </a:custGeom>
            <a:noFill/>
            <a:ln w="28575">
              <a:solidFill>
                <a:srgbClr val="16859A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2162175" y="1781175"/>
              <a:ext cx="523875" cy="257175"/>
            </a:xfrm>
            <a:custGeom>
              <a:avLst/>
              <a:gdLst/>
              <a:ahLst/>
              <a:cxnLst/>
              <a:rect l="l" t="t" r="r" b="b"/>
              <a:pathLst>
                <a:path w="523875" h="257175">
                  <a:moveTo>
                    <a:pt x="0" y="257175"/>
                  </a:moveTo>
                  <a:lnTo>
                    <a:pt x="523875" y="0"/>
                  </a:lnTo>
                </a:path>
              </a:pathLst>
            </a:custGeom>
            <a:noFill/>
            <a:ln w="28575">
              <a:solidFill>
                <a:srgbClr val="16859A"/>
              </a:solidFill>
              <a:prstDash val="dash"/>
            </a:ln>
          </p:spPr>
        </p:sp>
        <p:sp>
          <p:nvSpPr>
            <p:cNvPr id="17" name="Ellipse 17"/>
            <p:cNvSpPr/>
            <p:nvPr/>
          </p:nvSpPr>
          <p:spPr>
            <a:xfrm>
              <a:off x="619125" y="1933575"/>
              <a:ext cx="133350" cy="133350"/>
            </a:xfrm>
            <a:prstGeom prst="ellipse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314450" y="1685925"/>
              <a:ext cx="133350" cy="133350"/>
            </a:xfrm>
            <a:prstGeom prst="ellipse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095500" y="1971675"/>
              <a:ext cx="133350" cy="133350"/>
            </a:xfrm>
            <a:prstGeom prst="ellipse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619375" y="1714500"/>
              <a:ext cx="133350" cy="133350"/>
            </a:xfrm>
            <a:prstGeom prst="ellipse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5592" y="2549525"/>
              <a:ext cx="1741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汇总图标示Si—O—B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5592" y="2816225"/>
              <a:ext cx="173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参与快速响应与耗散</a:t>
              </a:r>
            </a:p>
          </p:txBody>
        </p:sp>
      </p:grpSp>
      <p:grpSp>
        <p:nvGrpSpPr>
          <p:cNvPr id="36" name="network-unit-1"/>
          <p:cNvGrpSpPr/>
          <p:nvPr/>
        </p:nvGrpSpPr>
        <p:grpSpPr>
          <a:xfrm>
            <a:off x="3267075" y="1276350"/>
            <a:ext cx="2638425" cy="2047875"/>
            <a:chOff x="3267075" y="1276350"/>
            <a:chExt cx="2638425" cy="2047875"/>
          </a:xfrm>
        </p:grpSpPr>
        <p:sp>
          <p:nvSpPr>
            <p:cNvPr id="25" name="Rectangle 25"/>
            <p:cNvSpPr/>
            <p:nvPr/>
          </p:nvSpPr>
          <p:spPr>
            <a:xfrm>
              <a:off x="3267075" y="1276350"/>
              <a:ext cx="2638425" cy="2047875"/>
            </a:xfrm>
            <a:prstGeom prst="roundRect">
              <a:avLst>
                <a:gd name="adj" fmla="val 3256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429762" y="1393825"/>
              <a:ext cx="125634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B94343"/>
                  </a:solidFill>
                  <a:latin typeface="Microsoft YaHei"/>
                  <a:ea typeface="Microsoft YaHei"/>
                  <a:cs typeface="Microsoft YaHei"/>
                </a:rPr>
                <a:t>慢动态作用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571875" y="1752600"/>
              <a:ext cx="695325" cy="247650"/>
            </a:xfrm>
            <a:custGeom>
              <a:avLst/>
              <a:gdLst/>
              <a:ahLst/>
              <a:cxnLst/>
              <a:rect l="l" t="t" r="r" b="b"/>
              <a:pathLst>
                <a:path w="695325" h="247650">
                  <a:moveTo>
                    <a:pt x="0" y="247650"/>
                  </a:moveTo>
                  <a:lnTo>
                    <a:pt x="695325" y="0"/>
                  </a:lnTo>
                </a:path>
              </a:pathLst>
            </a:custGeom>
            <a:noFill/>
            <a:ln w="28575">
              <a:solidFill>
                <a:srgbClr val="B94343"/>
              </a:solidFill>
              <a:prstDash val="dash"/>
            </a:ln>
          </p:spPr>
        </p:sp>
        <p:sp>
          <p:nvSpPr>
            <p:cNvPr id="28" name="Line 28"/>
            <p:cNvSpPr/>
            <p:nvPr/>
          </p:nvSpPr>
          <p:spPr>
            <a:xfrm>
              <a:off x="4267200" y="175260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0" y="0"/>
                  </a:moveTo>
                  <a:lnTo>
                    <a:pt x="781050" y="285750"/>
                  </a:lnTo>
                </a:path>
              </a:pathLst>
            </a:custGeom>
            <a:noFill/>
            <a:ln w="28575">
              <a:solidFill>
                <a:srgbClr val="B94343"/>
              </a:solidFill>
              <a:prstDash val="dash"/>
            </a:ln>
          </p:spPr>
        </p:sp>
        <p:sp>
          <p:nvSpPr>
            <p:cNvPr id="29" name="Line 29"/>
            <p:cNvSpPr/>
            <p:nvPr/>
          </p:nvSpPr>
          <p:spPr>
            <a:xfrm>
              <a:off x="5048250" y="1781175"/>
              <a:ext cx="523875" cy="257175"/>
            </a:xfrm>
            <a:custGeom>
              <a:avLst/>
              <a:gdLst/>
              <a:ahLst/>
              <a:cxnLst/>
              <a:rect l="l" t="t" r="r" b="b"/>
              <a:pathLst>
                <a:path w="523875" h="257175">
                  <a:moveTo>
                    <a:pt x="0" y="257175"/>
                  </a:moveTo>
                  <a:lnTo>
                    <a:pt x="523875" y="0"/>
                  </a:lnTo>
                </a:path>
              </a:pathLst>
            </a:custGeom>
            <a:noFill/>
            <a:ln w="28575">
              <a:solidFill>
                <a:srgbClr val="B94343"/>
              </a:solidFill>
              <a:prstDash val="dash"/>
            </a:ln>
          </p:spPr>
        </p:sp>
        <p:sp>
          <p:nvSpPr>
            <p:cNvPr id="30" name="Ellipse 30"/>
            <p:cNvSpPr/>
            <p:nvPr/>
          </p:nvSpPr>
          <p:spPr>
            <a:xfrm>
              <a:off x="3505200" y="1933575"/>
              <a:ext cx="133350" cy="133350"/>
            </a:xfrm>
            <a:prstGeom prst="ellipse">
              <a:avLst/>
            </a:prstGeom>
            <a:solidFill>
              <a:srgbClr val="B94343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200525" y="1685925"/>
              <a:ext cx="133350" cy="133350"/>
            </a:xfrm>
            <a:prstGeom prst="ellipse">
              <a:avLst/>
            </a:prstGeom>
            <a:solidFill>
              <a:srgbClr val="B94343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4981575" y="1971675"/>
              <a:ext cx="133350" cy="133350"/>
            </a:xfrm>
            <a:prstGeom prst="ellipse">
              <a:avLst/>
            </a:prstGeom>
            <a:solidFill>
              <a:srgbClr val="B94343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505450" y="1714500"/>
              <a:ext cx="133350" cy="133350"/>
            </a:xfrm>
            <a:prstGeom prst="ellipse">
              <a:avLst/>
            </a:prstGeom>
            <a:solidFill>
              <a:srgbClr val="B9434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31667" y="2549525"/>
              <a:ext cx="1912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补充较长时间尺度约束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31667" y="2816225"/>
              <a:ext cx="173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具体键型待原稿核对</a:t>
              </a:r>
            </a:p>
          </p:txBody>
        </p:sp>
      </p:grpSp>
      <p:grpSp>
        <p:nvGrpSpPr>
          <p:cNvPr id="48" name="network-unit-2"/>
          <p:cNvGrpSpPr/>
          <p:nvPr/>
        </p:nvGrpSpPr>
        <p:grpSpPr>
          <a:xfrm>
            <a:off x="6153150" y="1276350"/>
            <a:ext cx="2638425" cy="2047875"/>
            <a:chOff x="6153150" y="1276350"/>
            <a:chExt cx="2638425" cy="2047875"/>
          </a:xfrm>
        </p:grpSpPr>
        <p:sp>
          <p:nvSpPr>
            <p:cNvPr id="37" name="Rectangle 37"/>
            <p:cNvSpPr/>
            <p:nvPr/>
          </p:nvSpPr>
          <p:spPr>
            <a:xfrm>
              <a:off x="6153150" y="1276350"/>
              <a:ext cx="2638425" cy="2047875"/>
            </a:xfrm>
            <a:prstGeom prst="roundRect">
              <a:avLst>
                <a:gd name="adj" fmla="val 3256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15837" y="1393825"/>
              <a:ext cx="135269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永久PU骨架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457950" y="1752600"/>
              <a:ext cx="695325" cy="247650"/>
            </a:xfrm>
            <a:custGeom>
              <a:avLst/>
              <a:gdLst/>
              <a:ahLst/>
              <a:cxnLst/>
              <a:rect l="l" t="t" r="r" b="b"/>
              <a:pathLst>
                <a:path w="695325" h="247650">
                  <a:moveTo>
                    <a:pt x="0" y="247650"/>
                  </a:moveTo>
                  <a:lnTo>
                    <a:pt x="695325" y="0"/>
                  </a:lnTo>
                </a:path>
              </a:pathLst>
            </a:custGeom>
            <a:noFill/>
            <a:ln w="28575">
              <a:solidFill>
                <a:srgbClr val="144573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7153275" y="1752600"/>
              <a:ext cx="781050" cy="285750"/>
            </a:xfrm>
            <a:custGeom>
              <a:avLst/>
              <a:gdLst/>
              <a:ahLst/>
              <a:cxnLst/>
              <a:rect l="l" t="t" r="r" b="b"/>
              <a:pathLst>
                <a:path w="781050" h="285750">
                  <a:moveTo>
                    <a:pt x="0" y="0"/>
                  </a:moveTo>
                  <a:lnTo>
                    <a:pt x="781050" y="285750"/>
                  </a:lnTo>
                </a:path>
              </a:pathLst>
            </a:custGeom>
            <a:noFill/>
            <a:ln w="28575">
              <a:solidFill>
                <a:srgbClr val="144573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7934325" y="1781175"/>
              <a:ext cx="523875" cy="257175"/>
            </a:xfrm>
            <a:custGeom>
              <a:avLst/>
              <a:gdLst/>
              <a:ahLst/>
              <a:cxnLst/>
              <a:rect l="l" t="t" r="r" b="b"/>
              <a:pathLst>
                <a:path w="523875" h="257175">
                  <a:moveTo>
                    <a:pt x="0" y="257175"/>
                  </a:moveTo>
                  <a:lnTo>
                    <a:pt x="523875" y="0"/>
                  </a:lnTo>
                </a:path>
              </a:pathLst>
            </a:custGeom>
            <a:noFill/>
            <a:ln w="28575">
              <a:solidFill>
                <a:srgbClr val="144573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6391275" y="1933575"/>
              <a:ext cx="133350" cy="133350"/>
            </a:xfrm>
            <a:prstGeom prst="ellipse">
              <a:avLst/>
            </a:prstGeom>
            <a:solidFill>
              <a:srgbClr val="144573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086600" y="1685925"/>
              <a:ext cx="133350" cy="133350"/>
            </a:xfrm>
            <a:prstGeom prst="ellipse">
              <a:avLst/>
            </a:prstGeom>
            <a:solidFill>
              <a:srgbClr val="144573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867650" y="1971675"/>
              <a:ext cx="133350" cy="133350"/>
            </a:xfrm>
            <a:prstGeom prst="ellipse">
              <a:avLst/>
            </a:prstGeom>
            <a:solidFill>
              <a:srgbClr val="144573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391525" y="1714500"/>
              <a:ext cx="133350" cy="133350"/>
            </a:xfrm>
            <a:prstGeom prst="ellipse">
              <a:avLst/>
            </a:prstGeom>
            <a:solidFill>
              <a:srgbClr val="14457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17742" y="2549525"/>
              <a:ext cx="1549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维持连续承载网络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17742" y="2816225"/>
              <a:ext cx="173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为结构保持提供约束</a:t>
              </a:r>
            </a:p>
          </p:txBody>
        </p:sp>
      </p:grpSp>
      <p:grpSp>
        <p:nvGrpSpPr>
          <p:cNvPr id="51" name="network-cooperation"/>
          <p:cNvGrpSpPr/>
          <p:nvPr/>
        </p:nvGrpSpPr>
        <p:grpSpPr>
          <a:xfrm>
            <a:off x="400050" y="3609975"/>
            <a:ext cx="5080762" cy="622808"/>
            <a:chOff x="400050" y="3609975"/>
            <a:chExt cx="5080762" cy="622808"/>
          </a:xfrm>
        </p:grpSpPr>
        <p:sp>
          <p:nvSpPr>
            <p:cNvPr id="49" name="TextBox 49"/>
            <p:cNvSpPr txBox="1"/>
            <p:nvPr/>
          </p:nvSpPr>
          <p:spPr>
            <a:xfrm>
              <a:off x="400050" y="3609975"/>
              <a:ext cx="514350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设计逻辑：可逆耗散单元与稳定约束共同作用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02717" y="3968750"/>
              <a:ext cx="44569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此图为网络概念示意，不替代化学反应式与结构表征。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52" name="Rectangle 52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07492" y="4406900"/>
              <a:ext cx="5910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多时间尺度协同是一条解释路径，仍需由结构表征和力学响应相互印证。</a:t>
              </a:r>
            </a:p>
          </p:txBody>
        </p:sp>
      </p:grpSp>
      <p:grpSp>
        <p:nvGrpSpPr>
          <p:cNvPr id="57" name="source-note"/>
          <p:cNvGrpSpPr/>
          <p:nvPr/>
        </p:nvGrpSpPr>
        <p:grpSpPr>
          <a:xfrm>
            <a:off x="376238" y="4746625"/>
            <a:ext cx="3334261" cy="155258"/>
            <a:chOff x="376238" y="4746625"/>
            <a:chExt cx="3334261" cy="155258"/>
          </a:xfrm>
        </p:grpSpPr>
        <p:sp>
          <p:nvSpPr>
            <p:cNvPr id="56" name="TextBox 56"/>
            <p:cNvSpPr txBox="1"/>
            <p:nvPr/>
          </p:nvSpPr>
          <p:spPr>
            <a:xfrm>
              <a:off x="376238" y="4746625"/>
              <a:ext cx="341329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来源：用户16页汇总图P6；《抗冲击》原稿因文件大小限制尚未读取。</a:t>
              </a:r>
            </a:p>
          </p:txBody>
        </p:sp>
      </p:grpSp>
    </p:spTree>
  </p:cSld>
  <p:clrMapOvr>
    <a:masterClrMapping/>
  </p:clrMapOvr>
  <p:transition advClick="1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4153215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HDPU与芳纶柔性复合材料的制备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07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4493108" cy="250317"/>
            <a:chOff x="364998" y="800100"/>
            <a:chExt cx="4493108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45579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制备流程与对照组：关注聚合物在织物内的分布与层合质量</a:t>
              </a:r>
            </a:p>
          </p:txBody>
        </p:sp>
      </p:grpSp>
      <p:grpSp>
        <p:nvGrpSpPr>
          <p:cNvPr id="16" name="process-0"/>
          <p:cNvGrpSpPr/>
          <p:nvPr/>
        </p:nvGrpSpPr>
        <p:grpSpPr>
          <a:xfrm>
            <a:off x="381000" y="1323975"/>
            <a:ext cx="2095500" cy="1123950"/>
            <a:chOff x="381000" y="1323975"/>
            <a:chExt cx="2095500" cy="1123950"/>
          </a:xfrm>
        </p:grpSpPr>
        <p:sp>
          <p:nvSpPr>
            <p:cNvPr id="11" name="Rectangle 11"/>
            <p:cNvSpPr/>
            <p:nvPr/>
          </p:nvSpPr>
          <p:spPr>
            <a:xfrm>
              <a:off x="381000" y="1323975"/>
              <a:ext cx="1914525" cy="1123950"/>
            </a:xfrm>
            <a:prstGeom prst="roundRect">
              <a:avLst>
                <a:gd name="adj" fmla="val 5932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3687" y="1441450"/>
              <a:ext cx="12298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制备HDPU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5211" y="1831975"/>
              <a:ext cx="6707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一锅法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333625" y="1885950"/>
              <a:ext cx="142875" cy="1"/>
            </a:xfrm>
            <a:prstGeom prst="line">
              <a:avLst/>
            </a:prstGeom>
            <a:noFill/>
            <a:ln w="19050">
              <a:solidFill>
                <a:srgbClr val="16859A"/>
              </a:solidFill>
              <a:tailEnd type="triangle" w="lg" len="lg"/>
            </a:ln>
          </p:spPr>
        </p:sp>
      </p:grpSp>
      <p:grpSp>
        <p:nvGrpSpPr>
          <p:cNvPr id="22" name="process-1"/>
          <p:cNvGrpSpPr/>
          <p:nvPr/>
        </p:nvGrpSpPr>
        <p:grpSpPr>
          <a:xfrm>
            <a:off x="2533650" y="1323975"/>
            <a:ext cx="2095500" cy="1123950"/>
            <a:chOff x="2533650" y="1323975"/>
            <a:chExt cx="2095500" cy="1123950"/>
          </a:xfrm>
        </p:grpSpPr>
        <p:sp>
          <p:nvSpPr>
            <p:cNvPr id="17" name="Rectangle 17"/>
            <p:cNvSpPr/>
            <p:nvPr/>
          </p:nvSpPr>
          <p:spPr>
            <a:xfrm>
              <a:off x="2533650" y="1323975"/>
              <a:ext cx="1914525" cy="1123950"/>
            </a:xfrm>
            <a:prstGeom prst="roundRect">
              <a:avLst>
                <a:gd name="adj" fmla="val 5932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96337" y="1441450"/>
              <a:ext cx="10241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织物处理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7861" y="1831975"/>
              <a:ext cx="862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芳纶骨架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486275" y="1885950"/>
              <a:ext cx="142875" cy="1"/>
            </a:xfrm>
            <a:prstGeom prst="line">
              <a:avLst/>
            </a:prstGeom>
            <a:noFill/>
            <a:ln w="19050">
              <a:solidFill>
                <a:srgbClr val="16859A"/>
              </a:solidFill>
              <a:tailEnd type="triangle" w="lg" len="lg"/>
            </a:ln>
          </p:spPr>
        </p:sp>
      </p:grpSp>
      <p:grpSp>
        <p:nvGrpSpPr>
          <p:cNvPr id="27" name="process-2"/>
          <p:cNvGrpSpPr/>
          <p:nvPr/>
        </p:nvGrpSpPr>
        <p:grpSpPr>
          <a:xfrm>
            <a:off x="4686300" y="1323975"/>
            <a:ext cx="2095500" cy="1123950"/>
            <a:chOff x="4686300" y="1323975"/>
            <a:chExt cx="2095500" cy="1123950"/>
          </a:xfrm>
        </p:grpSpPr>
        <p:sp>
          <p:nvSpPr>
            <p:cNvPr id="23" name="Rectangle 23"/>
            <p:cNvSpPr/>
            <p:nvPr/>
          </p:nvSpPr>
          <p:spPr>
            <a:xfrm>
              <a:off x="4686300" y="1323975"/>
              <a:ext cx="1914525" cy="1123950"/>
            </a:xfrm>
            <a:prstGeom prst="roundRect">
              <a:avLst>
                <a:gd name="adj" fmla="val 5932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48987" y="1441450"/>
              <a:ext cx="12233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浸渍 / 辊压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50511" y="1831975"/>
              <a:ext cx="862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调控分布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638925" y="1885950"/>
              <a:ext cx="142875" cy="1"/>
            </a:xfrm>
            <a:prstGeom prst="line">
              <a:avLst/>
            </a:prstGeom>
            <a:noFill/>
            <a:ln w="19050">
              <a:solidFill>
                <a:srgbClr val="16859A"/>
              </a:solidFill>
              <a:tailEnd type="triangle" w="lg" len="lg"/>
            </a:ln>
          </p:spPr>
        </p:sp>
      </p:grpSp>
      <p:grpSp>
        <p:nvGrpSpPr>
          <p:cNvPr id="31" name="process-3"/>
          <p:cNvGrpSpPr/>
          <p:nvPr/>
        </p:nvGrpSpPr>
        <p:grpSpPr>
          <a:xfrm>
            <a:off x="6838950" y="1323975"/>
            <a:ext cx="1914525" cy="1123950"/>
            <a:chOff x="6838950" y="1323975"/>
            <a:chExt cx="1914525" cy="1123950"/>
          </a:xfrm>
        </p:grpSpPr>
        <p:sp>
          <p:nvSpPr>
            <p:cNvPr id="28" name="Rectangle 28"/>
            <p:cNvSpPr/>
            <p:nvPr/>
          </p:nvSpPr>
          <p:spPr>
            <a:xfrm>
              <a:off x="6838950" y="1323975"/>
              <a:ext cx="1914525" cy="1123950"/>
            </a:xfrm>
            <a:prstGeom prst="roundRect">
              <a:avLst>
                <a:gd name="adj" fmla="val 5932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01637" y="1441450"/>
              <a:ext cx="12233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层合 / 固化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03161" y="1831975"/>
              <a:ext cx="1054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形成复合层</a:t>
              </a:r>
            </a:p>
          </p:txBody>
        </p:sp>
      </p:grpSp>
      <p:grpSp>
        <p:nvGrpSpPr>
          <p:cNvPr id="34" name="fabric-reference"/>
          <p:cNvGrpSpPr/>
          <p:nvPr/>
        </p:nvGrpSpPr>
        <p:grpSpPr>
          <a:xfrm>
            <a:off x="394716" y="2705100"/>
            <a:ext cx="2318156" cy="1411859"/>
            <a:chOff x="394716" y="2705100"/>
            <a:chExt cx="2318156" cy="1411859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2438" y="2705100"/>
              <a:ext cx="1400175" cy="106680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394716" y="3911600"/>
              <a:ext cx="24657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芳纶织物参考图（非HDPU试样照片）</a:t>
              </a:r>
            </a:p>
          </p:txBody>
        </p:sp>
      </p:grpSp>
      <p:grpSp>
        <p:nvGrpSpPr>
          <p:cNvPr id="44" name="comparison-groups"/>
          <p:cNvGrpSpPr/>
          <p:nvPr/>
        </p:nvGrpSpPr>
        <p:grpSpPr>
          <a:xfrm>
            <a:off x="3737229" y="2800350"/>
            <a:ext cx="4882896" cy="1285875"/>
            <a:chOff x="3737229" y="2800350"/>
            <a:chExt cx="4882896" cy="1285875"/>
          </a:xfrm>
        </p:grpSpPr>
        <p:sp>
          <p:nvSpPr>
            <p:cNvPr id="35" name="TextBox 35"/>
            <p:cNvSpPr txBox="1"/>
            <p:nvPr/>
          </p:nvSpPr>
          <p:spPr>
            <a:xfrm>
              <a:off x="3737229" y="2800350"/>
              <a:ext cx="1710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保留原组名的对照材料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743325" y="3143250"/>
              <a:ext cx="2343150" cy="400050"/>
            </a:xfrm>
            <a:prstGeom prst="roundRect">
              <a:avLst>
                <a:gd name="adj" fmla="val 11905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52726" y="3219450"/>
              <a:ext cx="72434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AF/PU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76975" y="3143250"/>
              <a:ext cx="2343150" cy="400050"/>
            </a:xfrm>
            <a:prstGeom prst="roundRect">
              <a:avLst>
                <a:gd name="adj" fmla="val 11905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85135" y="3219450"/>
              <a:ext cx="92683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AF/PU-F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743325" y="3686175"/>
              <a:ext cx="2343150" cy="400050"/>
            </a:xfrm>
            <a:prstGeom prst="roundRect">
              <a:avLst>
                <a:gd name="adj" fmla="val 11905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450321" y="3762375"/>
              <a:ext cx="92915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AF/PU-S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76975" y="3686175"/>
              <a:ext cx="2343150" cy="400050"/>
            </a:xfrm>
            <a:prstGeom prst="roundRect">
              <a:avLst>
                <a:gd name="adj" fmla="val 11905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30432" y="3762375"/>
              <a:ext cx="103623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AF/HDPU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45" name="Rectangle 45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07492" y="4406900"/>
              <a:ext cx="4858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F与S的配方含义、涂覆量与固化条件以原始方法部分为准。</a:t>
              </a:r>
            </a:p>
          </p:txBody>
        </p:sp>
      </p:grpSp>
      <p:grpSp>
        <p:nvGrpSpPr>
          <p:cNvPr id="50" name="source-note"/>
          <p:cNvGrpSpPr/>
          <p:nvPr/>
        </p:nvGrpSpPr>
        <p:grpSpPr>
          <a:xfrm>
            <a:off x="376238" y="4746625"/>
            <a:ext cx="3128183" cy="155258"/>
            <a:chOff x="376238" y="4746625"/>
            <a:chExt cx="3128183" cy="155258"/>
          </a:xfrm>
        </p:grpSpPr>
        <p:sp>
          <p:nvSpPr>
            <p:cNvPr id="49" name="TextBox 49"/>
            <p:cNvSpPr txBox="1"/>
            <p:nvPr/>
          </p:nvSpPr>
          <p:spPr>
            <a:xfrm>
              <a:off x="376238" y="4746625"/>
              <a:ext cx="3209547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流程与分组：用户汇总图P7；织物参考图：《防刺相关研究》P6。</a:t>
              </a:r>
            </a:p>
          </p:txBody>
        </p:sp>
      </p:grpSp>
    </p:spTree>
  </p:cSld>
  <p:clrMapOvr>
    <a:masterClrMapping/>
  </p:clrMapOvr>
  <p:transition advClick="1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5002149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多时间尺度网络兼顾长期形态与冲击性能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08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3286912" cy="250317"/>
            <a:chOff x="364998" y="800100"/>
            <a:chExt cx="3286912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33564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把宏观形态观察与定量冲击保持率分开解读</a:t>
              </a:r>
            </a:p>
          </p:txBody>
        </p:sp>
      </p:grpSp>
      <p:grpSp>
        <p:nvGrpSpPr>
          <p:cNvPr id="27" name="storage-timeline"/>
          <p:cNvGrpSpPr/>
          <p:nvPr/>
        </p:nvGrpSpPr>
        <p:grpSpPr>
          <a:xfrm>
            <a:off x="393954" y="1285875"/>
            <a:ext cx="3235071" cy="1469517"/>
            <a:chOff x="393954" y="1285875"/>
            <a:chExt cx="3235071" cy="1469517"/>
          </a:xfrm>
        </p:grpSpPr>
        <p:sp>
          <p:nvSpPr>
            <p:cNvPr id="11" name="TextBox 11"/>
            <p:cNvSpPr txBox="1"/>
            <p:nvPr/>
          </p:nvSpPr>
          <p:spPr>
            <a:xfrm>
              <a:off x="393954" y="1285875"/>
              <a:ext cx="1064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宏观形态观察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66725" y="1657350"/>
              <a:ext cx="419100" cy="419100"/>
            </a:xfrm>
            <a:prstGeom prst="ellipse">
              <a:avLst/>
            </a:prstGeom>
            <a:solidFill>
              <a:srgbClr val="EDF4F9"/>
            </a:solidFill>
            <a:ln w="14288">
              <a:solidFill>
                <a:srgbClr val="16859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00216" y="1771650"/>
              <a:ext cx="352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0天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04875" y="18669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D4E0E9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381125" y="1657350"/>
              <a:ext cx="419100" cy="419100"/>
            </a:xfrm>
            <a:prstGeom prst="ellipse">
              <a:avLst/>
            </a:prstGeom>
            <a:solidFill>
              <a:srgbClr val="EDF4F9"/>
            </a:solidFill>
            <a:ln w="14288">
              <a:solidFill>
                <a:srgbClr val="16859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14616" y="1771650"/>
              <a:ext cx="352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7天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819275" y="18669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D4E0E9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295525" y="1657350"/>
              <a:ext cx="419100" cy="419100"/>
            </a:xfrm>
            <a:prstGeom prst="ellipse">
              <a:avLst/>
            </a:prstGeom>
            <a:solidFill>
              <a:srgbClr val="EDF4F9"/>
            </a:solidFill>
            <a:ln w="14288">
              <a:solidFill>
                <a:srgbClr val="16859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81353" y="1771650"/>
              <a:ext cx="447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30天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733675" y="18669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D4E0E9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209925" y="1657350"/>
              <a:ext cx="419100" cy="419100"/>
            </a:xfrm>
            <a:prstGeom prst="ellipse">
              <a:avLst/>
            </a:prstGeom>
            <a:solidFill>
              <a:srgbClr val="EDF4F9"/>
            </a:solidFill>
            <a:ln w="14288">
              <a:solidFill>
                <a:srgbClr val="16859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195753" y="1771650"/>
              <a:ext cx="447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66天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3098" y="2257425"/>
              <a:ext cx="297366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汇总图显示HDPU长期保持宏观形态。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3098" y="2505075"/>
              <a:ext cx="28185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与SSG的形态差异需回看原始照片。</a:t>
              </a:r>
            </a:p>
          </p:txBody>
        </p:sp>
      </p:grpSp>
      <p:grpSp>
        <p:nvGrpSpPr>
          <p:cNvPr id="30" name="retention-formula"/>
          <p:cNvGrpSpPr/>
          <p:nvPr/>
        </p:nvGrpSpPr>
        <p:grpSpPr>
          <a:xfrm>
            <a:off x="401574" y="3184525"/>
            <a:ext cx="2738186" cy="928751"/>
            <a:chOff x="401574" y="3184525"/>
            <a:chExt cx="2738186" cy="928751"/>
          </a:xfrm>
        </p:grpSpPr>
        <p:sp>
          <p:nvSpPr>
            <p:cNvPr id="28" name="TextBox 28"/>
            <p:cNvSpPr txBox="1"/>
            <p:nvPr/>
          </p:nvSpPr>
          <p:spPr>
            <a:xfrm>
              <a:off x="409956" y="3184525"/>
              <a:ext cx="27298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保持率 = 89.45 ÷ 91.20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1574" y="3438525"/>
              <a:ext cx="178952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98.08%</a:t>
              </a:r>
            </a:p>
          </p:txBody>
        </p:sp>
      </p:grpSp>
      <p:grpSp>
        <p:nvGrpSpPr>
          <p:cNvPr id="47" name="storage-bars"/>
          <p:cNvGrpSpPr/>
          <p:nvPr/>
        </p:nvGrpSpPr>
        <p:grpSpPr>
          <a:xfrm>
            <a:off x="4454141" y="1418641"/>
            <a:ext cx="3899284" cy="2587955"/>
            <a:chOff x="4454141" y="1418641"/>
            <a:chExt cx="3899284" cy="2587955"/>
          </a:xfrm>
        </p:grpSpPr>
        <p:sp>
          <p:nvSpPr>
            <p:cNvPr id="31" name="Line 31"/>
            <p:cNvSpPr/>
            <p:nvPr/>
          </p:nvSpPr>
          <p:spPr>
            <a:xfrm>
              <a:off x="4762500" y="3638550"/>
              <a:ext cx="3590925" cy="9525"/>
            </a:xfrm>
            <a:custGeom>
              <a:avLst/>
              <a:gdLst/>
              <a:ahLst/>
              <a:cxnLst/>
              <a:rect l="l" t="t" r="r" b="b"/>
              <a:pathLst>
                <a:path w="3590925" h="9525">
                  <a:moveTo>
                    <a:pt x="0" y="0"/>
                  </a:moveTo>
                  <a:lnTo>
                    <a:pt x="3590925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13633" y="3571875"/>
              <a:ext cx="168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0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762500" y="3117056"/>
              <a:ext cx="3590925" cy="9525"/>
            </a:xfrm>
            <a:custGeom>
              <a:avLst/>
              <a:gdLst/>
              <a:ahLst/>
              <a:cxnLst/>
              <a:rect l="l" t="t" r="r" b="b"/>
              <a:pathLst>
                <a:path w="3590925" h="9525">
                  <a:moveTo>
                    <a:pt x="0" y="0"/>
                  </a:moveTo>
                  <a:lnTo>
                    <a:pt x="3590925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40789" y="3050381"/>
              <a:ext cx="2409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25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4762500" y="2595562"/>
              <a:ext cx="3590925" cy="9525"/>
            </a:xfrm>
            <a:custGeom>
              <a:avLst/>
              <a:gdLst/>
              <a:ahLst/>
              <a:cxnLst/>
              <a:rect l="l" t="t" r="r" b="b"/>
              <a:pathLst>
                <a:path w="3590925" h="9525">
                  <a:moveTo>
                    <a:pt x="0" y="0"/>
                  </a:moveTo>
                  <a:lnTo>
                    <a:pt x="3590925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40789" y="2528888"/>
              <a:ext cx="2409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50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762500" y="2074069"/>
              <a:ext cx="3590925" cy="9525"/>
            </a:xfrm>
            <a:custGeom>
              <a:avLst/>
              <a:gdLst/>
              <a:ahLst/>
              <a:cxnLst/>
              <a:rect l="l" t="t" r="r" b="b"/>
              <a:pathLst>
                <a:path w="3590925" h="9525">
                  <a:moveTo>
                    <a:pt x="0" y="0"/>
                  </a:moveTo>
                  <a:lnTo>
                    <a:pt x="3590925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440789" y="2007394"/>
              <a:ext cx="2409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75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4762500" y="1552575"/>
              <a:ext cx="3590925" cy="9525"/>
            </a:xfrm>
            <a:custGeom>
              <a:avLst/>
              <a:gdLst/>
              <a:ahLst/>
              <a:cxnLst/>
              <a:rect l="l" t="t" r="r" b="b"/>
              <a:pathLst>
                <a:path w="3590925" h="9525">
                  <a:moveTo>
                    <a:pt x="0" y="0"/>
                  </a:moveTo>
                  <a:lnTo>
                    <a:pt x="3590925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367944" y="1485900"/>
              <a:ext cx="3137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100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26856" y="1736141"/>
              <a:ext cx="666750" cy="1902409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72973" y="1418641"/>
              <a:ext cx="774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91.2%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51062" y="3771900"/>
              <a:ext cx="418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初始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122319" y="1772645"/>
              <a:ext cx="666750" cy="1865905"/>
            </a:xfrm>
            <a:prstGeom prst="rect">
              <a:avLst/>
            </a:prstGeom>
            <a:solidFill>
              <a:srgbClr val="14457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02908" y="1455145"/>
              <a:ext cx="9055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89.45%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65753" y="3771900"/>
              <a:ext cx="579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保形后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48" name="Rectangle 48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7492" y="4406900"/>
              <a:ext cx="49876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25 J下效率由91.20%变为89.45%；98.08%表示两者之比。</a:t>
              </a:r>
            </a:p>
          </p:txBody>
        </p:sp>
      </p:grpSp>
      <p:grpSp>
        <p:nvGrpSpPr>
          <p:cNvPr id="53" name="source-note"/>
          <p:cNvGrpSpPr/>
          <p:nvPr/>
        </p:nvGrpSpPr>
        <p:grpSpPr>
          <a:xfrm>
            <a:off x="376238" y="4746625"/>
            <a:ext cx="3642675" cy="155258"/>
            <a:chOff x="376238" y="4746625"/>
            <a:chExt cx="3642675" cy="155258"/>
          </a:xfrm>
        </p:grpSpPr>
        <p:sp>
          <p:nvSpPr>
            <p:cNvPr id="52" name="TextBox 52"/>
            <p:cNvSpPr txBox="1"/>
            <p:nvPr/>
          </p:nvSpPr>
          <p:spPr>
            <a:xfrm>
              <a:off x="376238" y="4746625"/>
              <a:ext cx="3719657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来源：用户汇总图P8；储存条件及其与形态观察时长的对应关系待原稿核实。</a:t>
              </a:r>
            </a:p>
          </p:txBody>
        </p:sp>
      </p:grpSp>
    </p:spTree>
  </p:cSld>
  <p:clrMapOvr>
    <a:masterClrMapping/>
  </p:clrMapOvr>
  <p:transition advClick="1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445693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动态网络协同提高冲击能量吸收效率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09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4331198" cy="250317"/>
            <a:chOff x="364998" y="800100"/>
            <a:chExt cx="4331198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43637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10 J冲击条件下的能量吸收效率：同一图内比较同一指标</a:t>
              </a:r>
            </a:p>
          </p:txBody>
        </p:sp>
      </p:grpSp>
      <p:grpSp>
        <p:nvGrpSpPr>
          <p:cNvPr id="35" name="impact-bars"/>
          <p:cNvGrpSpPr/>
          <p:nvPr/>
        </p:nvGrpSpPr>
        <p:grpSpPr>
          <a:xfrm>
            <a:off x="501266" y="1514475"/>
            <a:ext cx="5556634" cy="2634996"/>
            <a:chOff x="501266" y="1514475"/>
            <a:chExt cx="5556634" cy="2634996"/>
          </a:xfrm>
        </p:grpSpPr>
        <p:sp>
          <p:nvSpPr>
            <p:cNvPr id="11" name="Line 11"/>
            <p:cNvSpPr/>
            <p:nvPr/>
          </p:nvSpPr>
          <p:spPr>
            <a:xfrm>
              <a:off x="809625" y="3781425"/>
              <a:ext cx="5248275" cy="9525"/>
            </a:xfrm>
            <a:custGeom>
              <a:avLst/>
              <a:gdLst/>
              <a:ahLst/>
              <a:cxnLst/>
              <a:rect l="l" t="t" r="r" b="b"/>
              <a:pathLst>
                <a:path w="5248275" h="9525">
                  <a:moveTo>
                    <a:pt x="0" y="0"/>
                  </a:moveTo>
                  <a:lnTo>
                    <a:pt x="5248275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0758" y="3714750"/>
              <a:ext cx="1680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0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09625" y="3231356"/>
              <a:ext cx="5248275" cy="9525"/>
            </a:xfrm>
            <a:custGeom>
              <a:avLst/>
              <a:gdLst/>
              <a:ahLst/>
              <a:cxnLst/>
              <a:rect l="l" t="t" r="r" b="b"/>
              <a:pathLst>
                <a:path w="5248275" h="9525">
                  <a:moveTo>
                    <a:pt x="0" y="0"/>
                  </a:moveTo>
                  <a:lnTo>
                    <a:pt x="5248275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87914" y="3164681"/>
              <a:ext cx="2409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25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09625" y="2681288"/>
              <a:ext cx="5248275" cy="9525"/>
            </a:xfrm>
            <a:custGeom>
              <a:avLst/>
              <a:gdLst/>
              <a:ahLst/>
              <a:cxnLst/>
              <a:rect l="l" t="t" r="r" b="b"/>
              <a:pathLst>
                <a:path w="5248275" h="9525">
                  <a:moveTo>
                    <a:pt x="0" y="0"/>
                  </a:moveTo>
                  <a:lnTo>
                    <a:pt x="5248275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7914" y="2614612"/>
              <a:ext cx="2409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50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9625" y="2131219"/>
              <a:ext cx="5248275" cy="9525"/>
            </a:xfrm>
            <a:custGeom>
              <a:avLst/>
              <a:gdLst/>
              <a:ahLst/>
              <a:cxnLst/>
              <a:rect l="l" t="t" r="r" b="b"/>
              <a:pathLst>
                <a:path w="5248275" h="9525">
                  <a:moveTo>
                    <a:pt x="0" y="0"/>
                  </a:moveTo>
                  <a:lnTo>
                    <a:pt x="5248275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87914" y="2064544"/>
              <a:ext cx="24093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75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9625" y="1581150"/>
              <a:ext cx="5248275" cy="9525"/>
            </a:xfrm>
            <a:custGeom>
              <a:avLst/>
              <a:gdLst/>
              <a:ahLst/>
              <a:cxnLst/>
              <a:rect l="l" t="t" r="r" b="b"/>
              <a:pathLst>
                <a:path w="5248275" h="9525">
                  <a:moveTo>
                    <a:pt x="0" y="0"/>
                  </a:moveTo>
                  <a:lnTo>
                    <a:pt x="5248275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5069" y="1514475"/>
              <a:ext cx="3137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100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32284" y="2203828"/>
              <a:ext cx="666750" cy="1577597"/>
            </a:xfrm>
            <a:prstGeom prst="rect">
              <a:avLst/>
            </a:prstGeom>
            <a:solidFill>
              <a:srgbClr val="769CC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78401" y="1886328"/>
              <a:ext cx="774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769CC2"/>
                  </a:solidFill>
                  <a:latin typeface="Microsoft YaHei"/>
                  <a:ea typeface="Microsoft YaHei"/>
                  <a:cs typeface="Microsoft YaHei"/>
                </a:rPr>
                <a:t>71.7%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78381" y="3914775"/>
              <a:ext cx="57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AF/PU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444353" y="2030006"/>
              <a:ext cx="666750" cy="1751419"/>
            </a:xfrm>
            <a:prstGeom prst="rect">
              <a:avLst/>
            </a:prstGeom>
            <a:solidFill>
              <a:srgbClr val="5D90B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390470" y="1712506"/>
              <a:ext cx="774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D90BC"/>
                  </a:solidFill>
                  <a:latin typeface="Microsoft YaHei"/>
                  <a:ea typeface="Microsoft YaHei"/>
                  <a:cs typeface="Microsoft YaHei"/>
                </a:rPr>
                <a:t>79.6%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13306" y="3914775"/>
              <a:ext cx="7288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AF/PU-F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756422" y="1961798"/>
              <a:ext cx="666750" cy="1819627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702539" y="1644298"/>
              <a:ext cx="774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82.7%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24487" y="3914775"/>
              <a:ext cx="730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AF/PU-S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068491" y="1926593"/>
              <a:ext cx="666750" cy="1854832"/>
            </a:xfrm>
            <a:prstGeom prst="rect">
              <a:avLst/>
            </a:prstGeom>
            <a:solidFill>
              <a:srgbClr val="14457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014608" y="1609093"/>
              <a:ext cx="774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84.3%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95756" y="3914775"/>
              <a:ext cx="812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AF/HDPU</a:t>
              </a:r>
            </a:p>
          </p:txBody>
        </p:sp>
      </p:grpSp>
      <p:grpSp>
        <p:nvGrpSpPr>
          <p:cNvPr id="41" name="impact-delta"/>
          <p:cNvGrpSpPr/>
          <p:nvPr/>
        </p:nvGrpSpPr>
        <p:grpSpPr>
          <a:xfrm>
            <a:off x="6620637" y="1679575"/>
            <a:ext cx="1479042" cy="2067433"/>
            <a:chOff x="6620637" y="1679575"/>
            <a:chExt cx="1479042" cy="2067433"/>
          </a:xfrm>
        </p:grpSpPr>
        <p:sp>
          <p:nvSpPr>
            <p:cNvPr id="36" name="TextBox 36"/>
            <p:cNvSpPr txBox="1"/>
            <p:nvPr/>
          </p:nvSpPr>
          <p:spPr>
            <a:xfrm>
              <a:off x="6631686" y="1679575"/>
              <a:ext cx="10214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相对AF/PU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20637" y="1984375"/>
              <a:ext cx="14359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B94343"/>
                  </a:solidFill>
                  <a:latin typeface="Microsoft YaHei"/>
                  <a:ea typeface="Microsoft YaHei"/>
                  <a:cs typeface="Microsoft YaHei"/>
                </a:rPr>
                <a:t>+12.6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29400" y="2543175"/>
              <a:ext cx="110490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B94343"/>
                  </a:solidFill>
                  <a:latin typeface="Microsoft YaHei"/>
                  <a:ea typeface="Microsoft YaHei"/>
                  <a:cs typeface="Microsoft YaHei"/>
                </a:rPr>
                <a:t>个百分点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32067" y="3178175"/>
              <a:ext cx="1524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相对增幅约17.6%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32067" y="3482975"/>
              <a:ext cx="1549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两种表达不要混用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42" name="Rectangle 42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07492" y="4406900"/>
              <a:ext cx="5274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汇总图所列材料中，AF/HDPU的能量吸收效率最高，为84.3%。</a:t>
              </a:r>
            </a:p>
          </p:txBody>
        </p:sp>
      </p:grpSp>
      <p:grpSp>
        <p:nvGrpSpPr>
          <p:cNvPr id="47" name="source-note"/>
          <p:cNvGrpSpPr/>
          <p:nvPr/>
        </p:nvGrpSpPr>
        <p:grpSpPr>
          <a:xfrm>
            <a:off x="376238" y="4746625"/>
            <a:ext cx="3536325" cy="155258"/>
            <a:chOff x="376238" y="4746625"/>
            <a:chExt cx="3536325" cy="155258"/>
          </a:xfrm>
        </p:grpSpPr>
        <p:sp>
          <p:nvSpPr>
            <p:cNvPr id="46" name="TextBox 46"/>
            <p:cNvSpPr txBox="1"/>
            <p:nvPr/>
          </p:nvSpPr>
          <p:spPr>
            <a:xfrm>
              <a:off x="376238" y="4746625"/>
              <a:ext cx="361364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来源：用户汇总图P9，数值转录；未获得原始曲线、重复次数及误差数据。</a:t>
              </a:r>
            </a:p>
          </p:txBody>
        </p:sp>
      </p:grpSp>
    </p:spTree>
  </p:cSld>
  <p:clrMapOvr>
    <a:masterClrMapping/>
  </p:clrMapOvr>
  <p:transition advClick="1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418433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多次冲击与复杂环境下的性能保持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10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4320794" cy="250317"/>
            <a:chOff x="364998" y="800100"/>
            <a:chExt cx="4320794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438626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三个工况、三项指标：分别报告，避免误当成同一保持率</a:t>
              </a:r>
            </a:p>
          </p:txBody>
        </p:sp>
      </p:grpSp>
      <p:grpSp>
        <p:nvGrpSpPr>
          <p:cNvPr id="17" name="service-kpi-0"/>
          <p:cNvGrpSpPr/>
          <p:nvPr/>
        </p:nvGrpSpPr>
        <p:grpSpPr>
          <a:xfrm>
            <a:off x="381000" y="1285875"/>
            <a:ext cx="2638425" cy="1914525"/>
            <a:chOff x="381000" y="1285875"/>
            <a:chExt cx="2638425" cy="1914525"/>
          </a:xfrm>
        </p:grpSpPr>
        <p:sp>
          <p:nvSpPr>
            <p:cNvPr id="11" name="Rectangle 11"/>
            <p:cNvSpPr/>
            <p:nvPr/>
          </p:nvSpPr>
          <p:spPr>
            <a:xfrm>
              <a:off x="381000" y="1285875"/>
              <a:ext cx="2638425" cy="1914525"/>
            </a:xfrm>
            <a:prstGeom prst="roundRect">
              <a:avLst>
                <a:gd name="adj" fmla="val 3483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7210" y="1441450"/>
              <a:ext cx="156859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B94343"/>
                  </a:solidFill>
                  <a:latin typeface="Microsoft YaHei"/>
                  <a:ea typeface="Microsoft YaHei"/>
                  <a:cs typeface="Microsoft YaHei"/>
                </a:rPr>
                <a:t>91.20%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4449" y="2009775"/>
              <a:ext cx="136212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25 J单次冲击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5592" y="2463800"/>
              <a:ext cx="11856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能量吸收效率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5592" y="2740025"/>
              <a:ext cx="1707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与25 J初始状态对应</a:t>
              </a:r>
            </a:p>
          </p:txBody>
        </p:sp>
      </p:grpSp>
      <p:grpSp>
        <p:nvGrpSpPr>
          <p:cNvPr id="24" name="service-kpi-1"/>
          <p:cNvGrpSpPr/>
          <p:nvPr/>
        </p:nvGrpSpPr>
        <p:grpSpPr>
          <a:xfrm>
            <a:off x="3267075" y="1285875"/>
            <a:ext cx="2638425" cy="1914525"/>
            <a:chOff x="3267075" y="1285875"/>
            <a:chExt cx="2638425" cy="1914525"/>
          </a:xfrm>
        </p:grpSpPr>
        <p:sp>
          <p:nvSpPr>
            <p:cNvPr id="19" name="Rectangle 19"/>
            <p:cNvSpPr/>
            <p:nvPr/>
          </p:nvSpPr>
          <p:spPr>
            <a:xfrm>
              <a:off x="3267075" y="1285875"/>
              <a:ext cx="2638425" cy="1914525"/>
            </a:xfrm>
            <a:prstGeom prst="roundRect">
              <a:avLst>
                <a:gd name="adj" fmla="val 3483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23285" y="1441450"/>
              <a:ext cx="156859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B94343"/>
                  </a:solidFill>
                  <a:latin typeface="Microsoft YaHei"/>
                  <a:ea typeface="Microsoft YaHei"/>
                  <a:cs typeface="Microsoft YaHei"/>
                </a:rPr>
                <a:t>76.35%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30524" y="2009775"/>
              <a:ext cx="148722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20 J第7次冲击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31667" y="2463800"/>
              <a:ext cx="11856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能量吸收效率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31667" y="2740025"/>
              <a:ext cx="1831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不等同于第7次保持率</a:t>
              </a:r>
            </a:p>
          </p:txBody>
        </p:sp>
      </p:grpSp>
      <p:grpSp>
        <p:nvGrpSpPr>
          <p:cNvPr id="30" name="service-kpi-2"/>
          <p:cNvGrpSpPr/>
          <p:nvPr/>
        </p:nvGrpSpPr>
        <p:grpSpPr>
          <a:xfrm>
            <a:off x="6153150" y="1285875"/>
            <a:ext cx="2638425" cy="1914525"/>
            <a:chOff x="6153150" y="1285875"/>
            <a:chExt cx="2638425" cy="1914525"/>
          </a:xfrm>
        </p:grpSpPr>
        <p:sp>
          <p:nvSpPr>
            <p:cNvPr id="25" name="Rectangle 25"/>
            <p:cNvSpPr/>
            <p:nvPr/>
          </p:nvSpPr>
          <p:spPr>
            <a:xfrm>
              <a:off x="6153150" y="1285875"/>
              <a:ext cx="2638425" cy="1914525"/>
            </a:xfrm>
            <a:prstGeom prst="roundRect">
              <a:avLst>
                <a:gd name="adj" fmla="val 3483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9360" y="1441450"/>
              <a:ext cx="133029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B94343"/>
                  </a:solidFill>
                  <a:latin typeface="Microsoft YaHei"/>
                  <a:ea typeface="Microsoft YaHei"/>
                  <a:cs typeface="Microsoft YaHei"/>
                </a:rPr>
                <a:t>93.6%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16599" y="2009775"/>
              <a:ext cx="144376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弯曲2000次后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17742" y="2463800"/>
              <a:ext cx="13674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冲击性能保持率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17742" y="2740025"/>
              <a:ext cx="1730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与弯曲前的性能相比</a:t>
              </a:r>
            </a:p>
          </p:txBody>
        </p:sp>
      </p:grpSp>
      <p:grpSp>
        <p:nvGrpSpPr>
          <p:cNvPr id="33" name="service-context"/>
          <p:cNvGrpSpPr/>
          <p:nvPr/>
        </p:nvGrpSpPr>
        <p:grpSpPr>
          <a:xfrm>
            <a:off x="400812" y="3546475"/>
            <a:ext cx="3259176" cy="661226"/>
            <a:chOff x="400812" y="3546475"/>
            <a:chExt cx="3259176" cy="661226"/>
          </a:xfrm>
        </p:grpSpPr>
        <p:sp>
          <p:nvSpPr>
            <p:cNvPr id="31" name="TextBox 31"/>
            <p:cNvSpPr txBox="1"/>
            <p:nvPr/>
          </p:nvSpPr>
          <p:spPr>
            <a:xfrm>
              <a:off x="401955" y="3546475"/>
              <a:ext cx="2114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汇总图涉及的服役场景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0812" y="3870325"/>
              <a:ext cx="334632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反复弯曲、紫外、高低温与潮湿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34" name="Rectangle 34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7492" y="4406900"/>
              <a:ext cx="57290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环境适应性需要结合具体处理条件判断，不补写未提供的温度与时长。</a:t>
              </a:r>
            </a:p>
          </p:txBody>
        </p:sp>
      </p:grpSp>
      <p:grpSp>
        <p:nvGrpSpPr>
          <p:cNvPr id="39" name="source-note"/>
          <p:cNvGrpSpPr/>
          <p:nvPr/>
        </p:nvGrpSpPr>
        <p:grpSpPr>
          <a:xfrm>
            <a:off x="376238" y="4746625"/>
            <a:ext cx="3491779" cy="155258"/>
            <a:chOff x="376238" y="4746625"/>
            <a:chExt cx="3491779" cy="155258"/>
          </a:xfrm>
        </p:grpSpPr>
        <p:sp>
          <p:nvSpPr>
            <p:cNvPr id="38" name="TextBox 38"/>
            <p:cNvSpPr txBox="1"/>
            <p:nvPr/>
          </p:nvSpPr>
          <p:spPr>
            <a:xfrm>
              <a:off x="376238" y="4746625"/>
              <a:ext cx="356647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来源：用户汇总图P10；各环境完整参数、对照组与误差范围待原稿核对。</a:t>
              </a:r>
            </a:p>
          </p:txBody>
        </p:sp>
      </p:grpSp>
    </p:spTree>
  </p:cSld>
  <p:clrMapOvr>
    <a:masterClrMapping/>
  </p:clrMapOvr>
  <p:transition advClick="1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554736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从冲击耗能到局部穿刺：进一步研究纱线约束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11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3631540" cy="250317"/>
            <a:chOff x="364998" y="800100"/>
            <a:chExt cx="3631540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36997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防护问题转向：局部接触、纱线约束与穿透路径</a:t>
              </a:r>
            </a:p>
          </p:txBody>
        </p:sp>
      </p:grpSp>
      <p:grpSp>
        <p:nvGrpSpPr>
          <p:cNvPr id="22" name="contact-0"/>
          <p:cNvGrpSpPr/>
          <p:nvPr/>
        </p:nvGrpSpPr>
        <p:grpSpPr>
          <a:xfrm>
            <a:off x="381000" y="1304925"/>
            <a:ext cx="4095750" cy="2371725"/>
            <a:chOff x="381000" y="1304925"/>
            <a:chExt cx="4095750" cy="2371725"/>
          </a:xfrm>
        </p:grpSpPr>
        <p:sp>
          <p:nvSpPr>
            <p:cNvPr id="11" name="Rectangle 11"/>
            <p:cNvSpPr/>
            <p:nvPr/>
          </p:nvSpPr>
          <p:spPr>
            <a:xfrm>
              <a:off x="381000" y="1304925"/>
              <a:ext cx="4095750" cy="2371725"/>
            </a:xfrm>
            <a:prstGeom prst="roundRect">
              <a:avLst>
                <a:gd name="adj" fmla="val 2811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3687" y="1422400"/>
              <a:ext cx="10241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钝性冲击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5211" y="1812925"/>
              <a:ext cx="12462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较大接触面积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5211" y="2089150"/>
              <a:ext cx="2013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弯曲、压缩与载荷扩散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5211" y="2365375"/>
              <a:ext cx="2013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重点是耗能与整体响应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66750" y="31623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28575">
              <a:solidFill>
                <a:srgbClr val="C38742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66750" y="32575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28575">
              <a:solidFill>
                <a:srgbClr val="C38742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66750" y="33528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28575">
              <a:solidFill>
                <a:srgbClr val="C38742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66750" y="34480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28575">
              <a:solidFill>
                <a:srgbClr val="C38742"/>
              </a:solidFill>
            </a:ln>
          </p:spPr>
        </p:sp>
      </p:grpSp>
      <p:grpSp>
        <p:nvGrpSpPr>
          <p:cNvPr id="32" name="contact-1"/>
          <p:cNvGrpSpPr/>
          <p:nvPr/>
        </p:nvGrpSpPr>
        <p:grpSpPr>
          <a:xfrm>
            <a:off x="4676775" y="1304925"/>
            <a:ext cx="4095750" cy="2371725"/>
            <a:chOff x="4676775" y="1304925"/>
            <a:chExt cx="4095750" cy="2371725"/>
          </a:xfrm>
        </p:grpSpPr>
        <p:sp>
          <p:nvSpPr>
            <p:cNvPr id="23" name="Rectangle 23"/>
            <p:cNvSpPr/>
            <p:nvPr/>
          </p:nvSpPr>
          <p:spPr>
            <a:xfrm>
              <a:off x="4676775" y="1304925"/>
              <a:ext cx="4095750" cy="2371725"/>
            </a:xfrm>
            <a:prstGeom prst="roundRect">
              <a:avLst>
                <a:gd name="adj" fmla="val 2811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39462" y="1422400"/>
              <a:ext cx="10241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尖锐穿刺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40986" y="1812925"/>
              <a:ext cx="16299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高集中度局部压入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40986" y="2089150"/>
              <a:ext cx="23972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纱线推移、集中受拉或切断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40986" y="2365375"/>
              <a:ext cx="2013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重点是约束与局部承载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4962525" y="31623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28575">
              <a:solidFill>
                <a:srgbClr val="C3874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4962525" y="32575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28575">
              <a:solidFill>
                <a:srgbClr val="C38742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4962525" y="33528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28575">
              <a:solidFill>
                <a:srgbClr val="C38742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4962525" y="344805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28575">
              <a:solidFill>
                <a:srgbClr val="C38742"/>
              </a:solidFill>
            </a:ln>
          </p:spPr>
        </p:sp>
      </p:grpSp>
      <p:grpSp>
        <p:nvGrpSpPr>
          <p:cNvPr id="34" name="bridge-claim"/>
          <p:cNvGrpSpPr/>
          <p:nvPr/>
        </p:nvGrpSpPr>
        <p:grpSpPr>
          <a:xfrm>
            <a:off x="400431" y="3860800"/>
            <a:ext cx="5349240" cy="352044"/>
            <a:chOff x="400431" y="3860800"/>
            <a:chExt cx="5349240" cy="352044"/>
          </a:xfrm>
        </p:grpSpPr>
        <p:sp>
          <p:nvSpPr>
            <p:cNvPr id="33" name="TextBox 33"/>
            <p:cNvSpPr txBox="1"/>
            <p:nvPr/>
          </p:nvSpPr>
          <p:spPr>
            <a:xfrm>
              <a:off x="400431" y="3860800"/>
              <a:ext cx="54262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冲击吸能表现良好，不自动等同于防刺性能优异。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35" name="Rectangle 35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7492" y="4406900"/>
              <a:ext cx="5547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在抗冲击研究基础上，进一步讨论织物界面与结构的穿刺抵抗能力。</a:t>
              </a:r>
            </a:p>
          </p:txBody>
        </p:sp>
      </p:grpSp>
      <p:grpSp>
        <p:nvGrpSpPr>
          <p:cNvPr id="40" name="source-note"/>
          <p:cNvGrpSpPr/>
          <p:nvPr/>
        </p:nvGrpSpPr>
        <p:grpSpPr>
          <a:xfrm>
            <a:off x="376238" y="4746625"/>
            <a:ext cx="3083636" cy="155258"/>
            <a:chOff x="376238" y="4746625"/>
            <a:chExt cx="3083636" cy="155258"/>
          </a:xfrm>
        </p:grpSpPr>
        <p:sp>
          <p:nvSpPr>
            <p:cNvPr id="39" name="TextBox 39"/>
            <p:cNvSpPr txBox="1"/>
            <p:nvPr/>
          </p:nvSpPr>
          <p:spPr>
            <a:xfrm>
              <a:off x="376238" y="4746625"/>
              <a:ext cx="3162377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逻辑依据：用户汇总图P11；损伤机制参考《防刺相关研究》P5。</a:t>
              </a:r>
            </a:p>
          </p:txBody>
        </p:sp>
      </p:grpSp>
    </p:spTree>
  </p:cSld>
  <p:clrMapOvr>
    <a:masterClrMapping/>
  </p:clrMapOvr>
  <p:transition advClick="1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5060441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SiO₂/DPU浸渍增强芳纶织物的防刺设计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12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4300068" cy="250317"/>
            <a:chOff x="364998" y="800100"/>
            <a:chExt cx="4300068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452650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这是独立的SiO₂/DPU防刺体系，不与前述HDPU配方混同</a:t>
              </a:r>
            </a:p>
          </p:txBody>
        </p:sp>
      </p:grpSp>
      <p:grpSp>
        <p:nvGrpSpPr>
          <p:cNvPr id="16" name="stab-process-0"/>
          <p:cNvGrpSpPr/>
          <p:nvPr/>
        </p:nvGrpSpPr>
        <p:grpSpPr>
          <a:xfrm>
            <a:off x="381000" y="1266825"/>
            <a:ext cx="2752725" cy="1085850"/>
            <a:chOff x="381000" y="1266825"/>
            <a:chExt cx="2752725" cy="1085850"/>
          </a:xfrm>
        </p:grpSpPr>
        <p:sp>
          <p:nvSpPr>
            <p:cNvPr id="11" name="Rectangle 11"/>
            <p:cNvSpPr/>
            <p:nvPr/>
          </p:nvSpPr>
          <p:spPr>
            <a:xfrm>
              <a:off x="381000" y="1266825"/>
              <a:ext cx="2543175" cy="1085850"/>
            </a:xfrm>
            <a:prstGeom prst="roundRect">
              <a:avLst>
                <a:gd name="adj" fmla="val 6140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43687" y="1384300"/>
              <a:ext cx="118622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SiO₂颗粒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5211" y="1774825"/>
              <a:ext cx="6707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分散相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962275" y="1790700"/>
              <a:ext cx="171450" cy="1"/>
            </a:xfrm>
            <a:prstGeom prst="line">
              <a:avLst/>
            </a:prstGeom>
            <a:noFill/>
            <a:ln w="19050">
              <a:solidFill>
                <a:srgbClr val="16859A"/>
              </a:solidFill>
              <a:tailEnd type="triangle" w="lg" len="lg"/>
            </a:ln>
          </p:spPr>
        </p:sp>
      </p:grpSp>
      <p:grpSp>
        <p:nvGrpSpPr>
          <p:cNvPr id="22" name="stab-process-1"/>
          <p:cNvGrpSpPr/>
          <p:nvPr/>
        </p:nvGrpSpPr>
        <p:grpSpPr>
          <a:xfrm>
            <a:off x="3209925" y="1266825"/>
            <a:ext cx="2752725" cy="1085850"/>
            <a:chOff x="3209925" y="1266825"/>
            <a:chExt cx="2752725" cy="1085850"/>
          </a:xfrm>
        </p:grpSpPr>
        <p:sp>
          <p:nvSpPr>
            <p:cNvPr id="17" name="Rectangle 17"/>
            <p:cNvSpPr/>
            <p:nvPr/>
          </p:nvSpPr>
          <p:spPr>
            <a:xfrm>
              <a:off x="3209925" y="1266825"/>
              <a:ext cx="2543175" cy="1085850"/>
            </a:xfrm>
            <a:prstGeom prst="roundRect">
              <a:avLst>
                <a:gd name="adj" fmla="val 6140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72612" y="1384300"/>
              <a:ext cx="105406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DPU基体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74136" y="1774825"/>
              <a:ext cx="10544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聚合物约束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91200" y="1790700"/>
              <a:ext cx="171450" cy="1"/>
            </a:xfrm>
            <a:prstGeom prst="line">
              <a:avLst/>
            </a:prstGeom>
            <a:noFill/>
            <a:ln w="19050">
              <a:solidFill>
                <a:srgbClr val="16859A"/>
              </a:solidFill>
              <a:tailEnd type="triangle" w="lg" len="lg"/>
            </a:ln>
          </p:spPr>
        </p:sp>
      </p:grpSp>
      <p:grpSp>
        <p:nvGrpSpPr>
          <p:cNvPr id="26" name="stab-process-2"/>
          <p:cNvGrpSpPr/>
          <p:nvPr/>
        </p:nvGrpSpPr>
        <p:grpSpPr>
          <a:xfrm>
            <a:off x="6038850" y="1266825"/>
            <a:ext cx="2543175" cy="1085850"/>
            <a:chOff x="6038850" y="1266825"/>
            <a:chExt cx="2543175" cy="1085850"/>
          </a:xfrm>
        </p:grpSpPr>
        <p:sp>
          <p:nvSpPr>
            <p:cNvPr id="23" name="Rectangle 23"/>
            <p:cNvSpPr/>
            <p:nvPr/>
          </p:nvSpPr>
          <p:spPr>
            <a:xfrm>
              <a:off x="6038850" y="1266825"/>
              <a:ext cx="2543175" cy="1085850"/>
            </a:xfrm>
            <a:prstGeom prst="roundRect">
              <a:avLst>
                <a:gd name="adj" fmla="val 6140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01537" y="1384300"/>
              <a:ext cx="10241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浸渍织物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03061" y="1774825"/>
              <a:ext cx="8625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复合成形</a:t>
              </a:r>
            </a:p>
          </p:txBody>
        </p:sp>
      </p:grpSp>
      <p:grpSp>
        <p:nvGrpSpPr>
          <p:cNvPr id="38" name="stab-variables"/>
          <p:cNvGrpSpPr/>
          <p:nvPr/>
        </p:nvGrpSpPr>
        <p:grpSpPr>
          <a:xfrm>
            <a:off x="403479" y="2667000"/>
            <a:ext cx="8349996" cy="704850"/>
            <a:chOff x="403479" y="2667000"/>
            <a:chExt cx="8349996" cy="704850"/>
          </a:xfrm>
        </p:grpSpPr>
        <p:sp>
          <p:nvSpPr>
            <p:cNvPr id="27" name="TextBox 27"/>
            <p:cNvSpPr txBox="1"/>
            <p:nvPr/>
          </p:nvSpPr>
          <p:spPr>
            <a:xfrm>
              <a:off x="403479" y="2667000"/>
              <a:ext cx="1710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汇总图给出的颗粒水平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09575" y="3000375"/>
              <a:ext cx="1562100" cy="371475"/>
            </a:xfrm>
            <a:prstGeom prst="roundRect">
              <a:avLst>
                <a:gd name="adj" fmla="val 12821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9097" y="3070225"/>
              <a:ext cx="683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0 wt%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105025" y="3000375"/>
              <a:ext cx="1562100" cy="371475"/>
            </a:xfrm>
            <a:prstGeom prst="roundRect">
              <a:avLst>
                <a:gd name="adj" fmla="val 12821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44547" y="3070225"/>
              <a:ext cx="683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5 wt%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800475" y="3000375"/>
              <a:ext cx="1562100" cy="371475"/>
            </a:xfrm>
            <a:prstGeom prst="roundRect">
              <a:avLst>
                <a:gd name="adj" fmla="val 12821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39997" y="3070225"/>
              <a:ext cx="683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7 wt%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495925" y="3000375"/>
              <a:ext cx="1562100" cy="371475"/>
            </a:xfrm>
            <a:prstGeom prst="roundRect">
              <a:avLst>
                <a:gd name="adj" fmla="val 12821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35447" y="3070225"/>
              <a:ext cx="683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9 wt%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191375" y="3000375"/>
              <a:ext cx="1562100" cy="371475"/>
            </a:xfrm>
            <a:prstGeom prst="roundRect">
              <a:avLst>
                <a:gd name="adj" fmla="val 12821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74302" y="3070225"/>
              <a:ext cx="7962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10 wt%</a:t>
              </a:r>
            </a:p>
          </p:txBody>
        </p:sp>
      </p:grpSp>
      <p:grpSp>
        <p:nvGrpSpPr>
          <p:cNvPr id="41" name="stab-controls"/>
          <p:cNvGrpSpPr/>
          <p:nvPr/>
        </p:nvGrpSpPr>
        <p:grpSpPr>
          <a:xfrm>
            <a:off x="401574" y="3609975"/>
            <a:ext cx="4695393" cy="604266"/>
            <a:chOff x="401574" y="3609975"/>
            <a:chExt cx="4695393" cy="604266"/>
          </a:xfrm>
        </p:grpSpPr>
        <p:sp>
          <p:nvSpPr>
            <p:cNvPr id="39" name="TextBox 39"/>
            <p:cNvSpPr txBox="1"/>
            <p:nvPr/>
          </p:nvSpPr>
          <p:spPr>
            <a:xfrm>
              <a:off x="401574" y="3609975"/>
              <a:ext cx="454780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重点观察：分散状态、涂层连续性与局部柔性。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1574" y="3905250"/>
              <a:ext cx="475983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对照固定：织物规格、层数、面密度与刺入条件。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42" name="Rectangle 42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07492" y="4406900"/>
              <a:ext cx="5774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含量效应需要与分散及团聚状态结合解释；wt%计算基准待配方核实。</a:t>
              </a:r>
            </a:p>
          </p:txBody>
        </p:sp>
      </p:grpSp>
      <p:grpSp>
        <p:nvGrpSpPr>
          <p:cNvPr id="47" name="source-note"/>
          <p:cNvGrpSpPr/>
          <p:nvPr/>
        </p:nvGrpSpPr>
        <p:grpSpPr>
          <a:xfrm>
            <a:off x="376238" y="4746625"/>
            <a:ext cx="3409909" cy="155258"/>
            <a:chOff x="376238" y="4746625"/>
            <a:chExt cx="3409909" cy="155258"/>
          </a:xfrm>
        </p:grpSpPr>
        <p:sp>
          <p:nvSpPr>
            <p:cNvPr id="46" name="TextBox 46"/>
            <p:cNvSpPr txBox="1"/>
            <p:nvPr/>
          </p:nvSpPr>
          <p:spPr>
            <a:xfrm>
              <a:off x="376238" y="4746625"/>
              <a:ext cx="3536816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来源：用户汇总图P12；不将参考报告中的STF或TPU显微图改标为DPU。</a:t>
              </a:r>
            </a:p>
          </p:txBody>
        </p:sp>
      </p:grpSp>
    </p:spTree>
  </p:cSld>
  <p:clrMapOvr>
    <a:masterClrMapping/>
  </p:clrMapOvr>
  <p:transition advClick="1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4729544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纳米粒子含量对锥刺与刀刺性能的影响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13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3976167" cy="250317"/>
            <a:chOff x="364998" y="800100"/>
            <a:chExt cx="3976167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40429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保留汇总图可读峰值；不从缩略曲线捏造完整数据点</a:t>
              </a:r>
            </a:p>
          </p:txBody>
        </p:sp>
      </p:grpSp>
      <p:grpSp>
        <p:nvGrpSpPr>
          <p:cNvPr id="16" name="peak-0"/>
          <p:cNvGrpSpPr/>
          <p:nvPr/>
        </p:nvGrpSpPr>
        <p:grpSpPr>
          <a:xfrm>
            <a:off x="381000" y="1304925"/>
            <a:ext cx="4095750" cy="1952625"/>
            <a:chOff x="381000" y="1304925"/>
            <a:chExt cx="4095750" cy="1952625"/>
          </a:xfrm>
        </p:grpSpPr>
        <p:sp>
          <p:nvSpPr>
            <p:cNvPr id="11" name="Rectangle 11"/>
            <p:cNvSpPr/>
            <p:nvPr/>
          </p:nvSpPr>
          <p:spPr>
            <a:xfrm>
              <a:off x="381000" y="1304925"/>
              <a:ext cx="4095750" cy="1952625"/>
            </a:xfrm>
            <a:prstGeom prst="roundRect">
              <a:avLst>
                <a:gd name="adj" fmla="val 3902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0550" y="1466850"/>
              <a:ext cx="110490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锥刺峰值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2930" y="1905000"/>
              <a:ext cx="2129251" cy="6610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80" b="1" dirty="0">
                  <a:solidFill>
                    <a:srgbClr val="B94343"/>
                  </a:solidFill>
                  <a:latin typeface="Microsoft YaHei"/>
                  <a:ea typeface="Microsoft YaHei"/>
                  <a:cs typeface="Microsoft YaHei"/>
                </a:rPr>
                <a:t>171.41 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1312" y="2632075"/>
              <a:ext cx="239677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约为原始AF的20.65倍</a:t>
              </a:r>
            </a:p>
          </p:txBody>
        </p:sp>
      </p:grpSp>
      <p:grpSp>
        <p:nvGrpSpPr>
          <p:cNvPr id="22" name="peak-1"/>
          <p:cNvGrpSpPr/>
          <p:nvPr/>
        </p:nvGrpSpPr>
        <p:grpSpPr>
          <a:xfrm>
            <a:off x="4676775" y="1304925"/>
            <a:ext cx="4095750" cy="1952625"/>
            <a:chOff x="4676775" y="1304925"/>
            <a:chExt cx="4095750" cy="1952625"/>
          </a:xfrm>
        </p:grpSpPr>
        <p:sp>
          <p:nvSpPr>
            <p:cNvPr id="17" name="Rectangle 17"/>
            <p:cNvSpPr/>
            <p:nvPr/>
          </p:nvSpPr>
          <p:spPr>
            <a:xfrm>
              <a:off x="4676775" y="1304925"/>
              <a:ext cx="4095750" cy="1952625"/>
            </a:xfrm>
            <a:prstGeom prst="roundRect">
              <a:avLst>
                <a:gd name="adj" fmla="val 3902"/>
              </a:avLst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86325" y="1466850"/>
              <a:ext cx="110490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刀刺峰值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78705" y="1905000"/>
              <a:ext cx="1851605" cy="6610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80" b="1" dirty="0">
                  <a:solidFill>
                    <a:srgbClr val="B94343"/>
                  </a:solidFill>
                  <a:latin typeface="Microsoft YaHei"/>
                  <a:ea typeface="Microsoft YaHei"/>
                  <a:cs typeface="Microsoft YaHei"/>
                </a:rPr>
                <a:t>56.28 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7087" y="2632075"/>
              <a:ext cx="239677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约为原始AF的15.09倍</a:t>
              </a:r>
            </a:p>
          </p:txBody>
        </p:sp>
      </p:grpSp>
      <p:grpSp>
        <p:nvGrpSpPr>
          <p:cNvPr id="25" name="dose-interpretation"/>
          <p:cNvGrpSpPr/>
          <p:nvPr/>
        </p:nvGrpSpPr>
        <p:grpSpPr>
          <a:xfrm>
            <a:off x="400431" y="3508375"/>
            <a:ext cx="5266944" cy="702945"/>
            <a:chOff x="400431" y="3508375"/>
            <a:chExt cx="5266944" cy="702945"/>
          </a:xfrm>
        </p:grpSpPr>
        <p:sp>
          <p:nvSpPr>
            <p:cNvPr id="23" name="TextBox 23"/>
            <p:cNvSpPr txBox="1"/>
            <p:nvPr/>
          </p:nvSpPr>
          <p:spPr>
            <a:xfrm>
              <a:off x="400431" y="3508375"/>
              <a:ext cx="46385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含量 → 分散与局部约束 → 锥刺 / 刀刺响应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1955" y="3917950"/>
              <a:ext cx="53454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峰值样品归属与误差数据未核对，不据此宣布最优添加量。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26" name="Rectangle 26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07492" y="4406900"/>
              <a:ext cx="56422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两类穿刺分别评价；“为原始AF的倍数”不能误写成“提高同样倍数”。</a:t>
              </a:r>
            </a:p>
          </p:txBody>
        </p:sp>
      </p:grpSp>
      <p:grpSp>
        <p:nvGrpSpPr>
          <p:cNvPr id="31" name="source-note"/>
          <p:cNvGrpSpPr/>
          <p:nvPr/>
        </p:nvGrpSpPr>
        <p:grpSpPr>
          <a:xfrm>
            <a:off x="376238" y="4746625"/>
            <a:ext cx="3869320" cy="155258"/>
            <a:chOff x="376238" y="4746625"/>
            <a:chExt cx="3869320" cy="155258"/>
          </a:xfrm>
        </p:grpSpPr>
        <p:sp>
          <p:nvSpPr>
            <p:cNvPr id="30" name="TextBox 30"/>
            <p:cNvSpPr txBox="1"/>
            <p:nvPr/>
          </p:nvSpPr>
          <p:spPr>
            <a:xfrm>
              <a:off x="376238" y="4746625"/>
              <a:ext cx="3979287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来源：用户汇总图P13；完整力—位移曲线及样品浓度对应关系待原始研究稿核对。</a:t>
              </a:r>
            </a:p>
          </p:txBody>
        </p:sp>
      </p:grpSp>
    </p:spTree>
  </p:cSld>
  <p:clrMapOvr>
    <a:masterClrMapping/>
  </p:clrMapOvr>
  <p:transition advClick="1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554736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中间层铺层角度改变复合材料的穿刺抵抗能力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14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4093535" cy="250317"/>
            <a:chOff x="364998" y="800100"/>
            <a:chExt cx="4093535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415420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外层为0°，改变中间层角度；所示值为峰值载荷（N）</a:t>
              </a:r>
            </a:p>
          </p:txBody>
        </p:sp>
      </p:grpSp>
      <p:grpSp>
        <p:nvGrpSpPr>
          <p:cNvPr id="45" name="angle-chart"/>
          <p:cNvGrpSpPr/>
          <p:nvPr/>
        </p:nvGrpSpPr>
        <p:grpSpPr>
          <a:xfrm>
            <a:off x="532962" y="1181100"/>
            <a:ext cx="7782363" cy="2891727"/>
            <a:chOff x="532962" y="1181100"/>
            <a:chExt cx="7782363" cy="2891727"/>
          </a:xfrm>
        </p:grpSpPr>
        <p:sp>
          <p:nvSpPr>
            <p:cNvPr id="11" name="Line 11"/>
            <p:cNvSpPr/>
            <p:nvPr/>
          </p:nvSpPr>
          <p:spPr>
            <a:xfrm>
              <a:off x="885825" y="369570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3164" y="3606800"/>
              <a:ext cx="1736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0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85825" y="2968625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6274" y="2879725"/>
              <a:ext cx="330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200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85825" y="224155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6274" y="2152650"/>
              <a:ext cx="330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400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85825" y="1514475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6274" y="1425575"/>
              <a:ext cx="330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600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448300" y="1200150"/>
              <a:ext cx="142875" cy="142875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60898" y="1181100"/>
              <a:ext cx="4385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锥刺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772275" y="1200150"/>
              <a:ext cx="142875" cy="142875"/>
            </a:xfrm>
            <a:prstGeom prst="rect">
              <a:avLst/>
            </a:prstGeom>
            <a:solidFill>
              <a:srgbClr val="C3874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84873" y="1181100"/>
              <a:ext cx="4385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刀刺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52562" y="2339705"/>
              <a:ext cx="323850" cy="1355995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79209" y="2053955"/>
              <a:ext cx="47055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373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862138" y="3204924"/>
              <a:ext cx="323850" cy="490776"/>
            </a:xfrm>
            <a:prstGeom prst="rect">
              <a:avLst/>
            </a:prstGeom>
            <a:solidFill>
              <a:srgbClr val="C3874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788784" y="2919174"/>
              <a:ext cx="47055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C38742"/>
                  </a:solidFill>
                  <a:latin typeface="Microsoft YaHei"/>
                  <a:ea typeface="Microsoft YaHei"/>
                  <a:cs typeface="Microsoft YaHei"/>
                </a:rPr>
                <a:t>135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65693" y="3794125"/>
              <a:ext cx="8976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0°/0°/0°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309938" y="1965261"/>
              <a:ext cx="323850" cy="1730439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236584" y="1679511"/>
              <a:ext cx="47055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476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719512" y="3157664"/>
              <a:ext cx="323850" cy="538036"/>
            </a:xfrm>
            <a:prstGeom prst="rect">
              <a:avLst/>
            </a:prstGeom>
            <a:solidFill>
              <a:srgbClr val="C3874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646159" y="2871914"/>
              <a:ext cx="47055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C38742"/>
                  </a:solidFill>
                  <a:latin typeface="Microsoft YaHei"/>
                  <a:ea typeface="Microsoft YaHei"/>
                  <a:cs typeface="Microsoft YaHei"/>
                </a:rPr>
                <a:t>148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67870" y="3794125"/>
              <a:ext cx="1008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0°/30°/0°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167312" y="1754410"/>
              <a:ext cx="323850" cy="194129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93959" y="1468660"/>
              <a:ext cx="47055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534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576888" y="3070416"/>
              <a:ext cx="323850" cy="625284"/>
            </a:xfrm>
            <a:prstGeom prst="rect">
              <a:avLst/>
            </a:prstGeom>
            <a:solidFill>
              <a:srgbClr val="C3874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503534" y="2784666"/>
              <a:ext cx="47055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C38742"/>
                  </a:solidFill>
                  <a:latin typeface="Microsoft YaHei"/>
                  <a:ea typeface="Microsoft YaHei"/>
                  <a:cs typeface="Microsoft YaHei"/>
                </a:rPr>
                <a:t>172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25245" y="3794125"/>
              <a:ext cx="1008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0°/45°/0°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024688" y="1987074"/>
              <a:ext cx="323850" cy="1708626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51334" y="1701324"/>
              <a:ext cx="47055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470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434262" y="3110405"/>
              <a:ext cx="323850" cy="585295"/>
            </a:xfrm>
            <a:prstGeom prst="rect">
              <a:avLst/>
            </a:prstGeom>
            <a:solidFill>
              <a:srgbClr val="C3874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0909" y="2824655"/>
              <a:ext cx="470556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C38742"/>
                  </a:solidFill>
                  <a:latin typeface="Microsoft YaHei"/>
                  <a:ea typeface="Microsoft YaHei"/>
                  <a:cs typeface="Microsoft YaHei"/>
                </a:rPr>
                <a:t>161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82620" y="3794125"/>
              <a:ext cx="1008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0°/55°/0°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46" name="Rectangle 46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07492" y="4406900"/>
              <a:ext cx="57188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0°/45°/0°较同向铺层：锥刺峰值提高43.2%，刀刺峰值提高27.4%。</a:t>
              </a:r>
            </a:p>
          </p:txBody>
        </p:sp>
      </p:grpSp>
      <p:grpSp>
        <p:nvGrpSpPr>
          <p:cNvPr id="51" name="source-note"/>
          <p:cNvGrpSpPr/>
          <p:nvPr/>
        </p:nvGrpSpPr>
        <p:grpSpPr>
          <a:xfrm>
            <a:off x="376238" y="4746625"/>
            <a:ext cx="4140512" cy="155258"/>
            <a:chOff x="376238" y="4746625"/>
            <a:chExt cx="4140512" cy="155258"/>
          </a:xfrm>
        </p:grpSpPr>
        <p:sp>
          <p:nvSpPr>
            <p:cNvPr id="50" name="TextBox 50"/>
            <p:cNvSpPr txBox="1"/>
            <p:nvPr/>
          </p:nvSpPr>
          <p:spPr>
            <a:xfrm>
              <a:off x="376238" y="4746625"/>
              <a:ext cx="4140512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来源：用户汇总图P14；提升比例按(534/373−1)、(172/135−1)复算。未提供误差线。</a:t>
              </a:r>
            </a:p>
          </p:txBody>
        </p:sp>
      </p:grpSp>
    </p:spTree>
  </p:cSld>
  <p:clrMapOvr>
    <a:masterClrMapping/>
  </p:clrMapOvr>
  <p:transition advClick="1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4729544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不同穿刺方式下的损伤演化与失效机制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15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5010048" cy="250317"/>
            <a:chOff x="364998" y="800100"/>
            <a:chExt cx="5010048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507282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对照锥刺与刀刺：用过程与形貌解释载荷响应，而非只看最终孔洞</a:t>
              </a:r>
            </a:p>
          </p:txBody>
        </p:sp>
      </p:grpSp>
      <p:grpSp>
        <p:nvGrpSpPr>
          <p:cNvPr id="15" name="damage-reference"/>
          <p:cNvGrpSpPr/>
          <p:nvPr/>
        </p:nvGrpSpPr>
        <p:grpSpPr>
          <a:xfrm>
            <a:off x="402717" y="1285875"/>
            <a:ext cx="3735360" cy="2330196"/>
            <a:chOff x="402717" y="1285875"/>
            <a:chExt cx="3735360" cy="2330196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1572" y="1285875"/>
              <a:ext cx="3456505" cy="171450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402717" y="3082925"/>
              <a:ext cx="2974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参考体系：芳纶 / 不锈钢包芯纱织物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3479" y="3381375"/>
              <a:ext cx="32573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图中(a)锥刺、(b)刀刺；非DPU样品显微图。</a:t>
              </a:r>
            </a:p>
          </p:txBody>
        </p:sp>
      </p:grpSp>
      <p:grpSp>
        <p:nvGrpSpPr>
          <p:cNvPr id="23" name="damage-interpretation"/>
          <p:cNvGrpSpPr/>
          <p:nvPr/>
        </p:nvGrpSpPr>
        <p:grpSpPr>
          <a:xfrm>
            <a:off x="4746117" y="1323975"/>
            <a:ext cx="2612555" cy="2042033"/>
            <a:chOff x="4746117" y="1323975"/>
            <a:chExt cx="2612555" cy="2042033"/>
          </a:xfrm>
        </p:grpSpPr>
        <p:sp>
          <p:nvSpPr>
            <p:cNvPr id="16" name="TextBox 16"/>
            <p:cNvSpPr txBox="1"/>
            <p:nvPr/>
          </p:nvSpPr>
          <p:spPr>
            <a:xfrm>
              <a:off x="4746879" y="1323975"/>
              <a:ext cx="1710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锥刺：推挤与纱线滑移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46117" y="1644650"/>
              <a:ext cx="2802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接触压入 → 纱线分离 → 局部扩孔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46117" y="1920875"/>
              <a:ext cx="2276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约束改变纱线相对运动路径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46879" y="2505075"/>
              <a:ext cx="1710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刀刺：切割与纤维断裂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46117" y="2825750"/>
              <a:ext cx="2802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刀刃接触 → 集中受载 → 切断扩展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46117" y="3101975"/>
              <a:ext cx="2276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需要区分滑移、脱粘与断裂</a:t>
              </a:r>
            </a:p>
          </p:txBody>
        </p:sp>
      </p:grpSp>
      <p:grpSp>
        <p:nvGrpSpPr>
          <p:cNvPr id="25" name="mechanism-validation"/>
          <p:cNvGrpSpPr/>
          <p:nvPr/>
        </p:nvGrpSpPr>
        <p:grpSpPr>
          <a:xfrm>
            <a:off x="401955" y="3889375"/>
            <a:ext cx="5877382" cy="293370"/>
            <a:chOff x="401955" y="3889375"/>
            <a:chExt cx="5877382" cy="293370"/>
          </a:xfrm>
        </p:grpSpPr>
        <p:sp>
          <p:nvSpPr>
            <p:cNvPr id="24" name="TextBox 24"/>
            <p:cNvSpPr txBox="1"/>
            <p:nvPr/>
          </p:nvSpPr>
          <p:spPr>
            <a:xfrm>
              <a:off x="401955" y="3889375"/>
              <a:ext cx="59443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DPU体系仍需：同步图像 / 中断试验 + 力—位移曲线 + 损伤形貌。</a:t>
              </a:r>
            </a:p>
          </p:txBody>
        </p:sp>
      </p:grpSp>
      <p:grpSp>
        <p:nvGrpSpPr>
          <p:cNvPr id="29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26" name="Rectangle 26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07492" y="4406900"/>
              <a:ext cx="6456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参考机制用于提出解释；不能把不同材料体系的显微证据直接移作本体系结论。</a:t>
              </a:r>
            </a:p>
          </p:txBody>
        </p:sp>
      </p:grpSp>
      <p:grpSp>
        <p:nvGrpSpPr>
          <p:cNvPr id="31" name="source-note"/>
          <p:cNvGrpSpPr/>
          <p:nvPr/>
        </p:nvGrpSpPr>
        <p:grpSpPr>
          <a:xfrm>
            <a:off x="376238" y="4746625"/>
            <a:ext cx="3615385" cy="155258"/>
            <a:chOff x="376238" y="4746625"/>
            <a:chExt cx="3615385" cy="155258"/>
          </a:xfrm>
        </p:grpSpPr>
        <p:sp>
          <p:nvSpPr>
            <p:cNvPr id="30" name="TextBox 30"/>
            <p:cNvSpPr txBox="1"/>
            <p:nvPr/>
          </p:nvSpPr>
          <p:spPr>
            <a:xfrm>
              <a:off x="376238" y="4746625"/>
              <a:ext cx="3692444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显微图与机制表述：《防刺相关研究》P5；与用户汇总图P15形成机制对照。</a:t>
              </a:r>
            </a:p>
          </p:txBody>
        </p:sp>
      </p:grpSp>
    </p:spTree>
  </p:cSld>
  <p:clrMapOvr>
    <a:masterClrMapping/>
  </p:clrMapOvr>
  <p:transition advClick="1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0096" y="597598"/>
            <a:ext cx="9154096" cy="72009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-7906"/>
            <a:ext cx="9144000" cy="556641"/>
          </a:xfrm>
          <a:prstGeom prst="rect">
            <a:avLst/>
          </a:prstGeom>
          <a:solidFill>
            <a:srgbClr val="144573"/>
          </a:solidFill>
          <a:ln>
            <a:noFill/>
          </a:ln>
        </p:spPr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1701" t="2985" r="4812" b="1949"/>
          <a:stretch>
            <a:fillRect/>
          </a:stretch>
        </p:blipFill>
        <p:spPr>
          <a:xfrm>
            <a:off x="135376" y="17739"/>
            <a:ext cx="509847" cy="514223"/>
          </a:xfrm>
          <a:prstGeom prst="ellipse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80288" y="120650"/>
            <a:ext cx="2003488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研究结论与展望</a:t>
            </a:r>
          </a:p>
        </p:txBody>
      </p:sp>
      <p:grpSp>
        <p:nvGrpSpPr>
          <p:cNvPr id="7" name="footer"/>
          <p:cNvGrpSpPr/>
          <p:nvPr/>
        </p:nvGrpSpPr>
        <p:grpSpPr>
          <a:xfrm>
            <a:off x="371475" y="4914900"/>
            <a:ext cx="8401050" cy="233362"/>
            <a:chOff x="371475" y="4914900"/>
            <a:chExt cx="8401050" cy="233362"/>
          </a:xfrm>
        </p:grpSpPr>
        <p:sp>
          <p:nvSpPr>
            <p:cNvPr id="4" name="Line 4"/>
            <p:cNvSpPr/>
            <p:nvPr/>
          </p:nvSpPr>
          <p:spPr>
            <a:xfrm>
              <a:off x="371475" y="4914900"/>
              <a:ext cx="8401050" cy="9525"/>
            </a:xfrm>
            <a:custGeom>
              <a:avLst/>
              <a:gdLst/>
              <a:ahLst/>
              <a:cxnLst/>
              <a:rect l="l" t="t" r="r" b="b"/>
              <a:pathLst>
                <a:path w="8401050" h="9525">
                  <a:moveTo>
                    <a:pt x="0" y="0"/>
                  </a:moveTo>
                  <a:lnTo>
                    <a:pt x="8401050" y="0"/>
                  </a:lnTo>
                </a:path>
              </a:pathLst>
            </a:custGeom>
            <a:noFill/>
            <a:ln w="9525">
              <a:solidFill>
                <a:srgbClr val="D4E0E9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76238" y="4984750"/>
              <a:ext cx="1854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芳纶柔性复合材料 / 资料整合完善版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301781" y="4972050"/>
              <a:ext cx="465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16 / 16</a:t>
              </a:r>
            </a:p>
          </p:txBody>
        </p:sp>
      </p:grpSp>
      <p:grpSp>
        <p:nvGrpSpPr>
          <p:cNvPr id="10" name="subtitle"/>
          <p:cNvGrpSpPr/>
          <p:nvPr/>
        </p:nvGrpSpPr>
        <p:grpSpPr>
          <a:xfrm>
            <a:off x="364998" y="800100"/>
            <a:ext cx="4665421" cy="250317"/>
            <a:chOff x="364998" y="800100"/>
            <a:chExt cx="4665421" cy="250317"/>
          </a:xfrm>
        </p:grpSpPr>
        <p:sp>
          <p:nvSpPr>
            <p:cNvPr id="8" name="TextBox 8"/>
            <p:cNvSpPr txBox="1"/>
            <p:nvPr/>
          </p:nvSpPr>
          <p:spPr>
            <a:xfrm>
              <a:off x="364998" y="800100"/>
              <a:ext cx="47295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三层协同：分子网络、织物界面与层间结构共同服务柔性防护</a:t>
              </a:r>
            </a:p>
          </p:txBody>
        </p:sp>
      </p:grpSp>
      <p:grpSp>
        <p:nvGrpSpPr>
          <p:cNvPr id="16" name="conclusion-0"/>
          <p:cNvGrpSpPr/>
          <p:nvPr/>
        </p:nvGrpSpPr>
        <p:grpSpPr>
          <a:xfrm>
            <a:off x="381000" y="1174750"/>
            <a:ext cx="5137976" cy="664845"/>
            <a:chOff x="381000" y="1174750"/>
            <a:chExt cx="5137976" cy="664845"/>
          </a:xfrm>
        </p:grpSpPr>
        <p:sp>
          <p:nvSpPr>
            <p:cNvPr id="11" name="Ellipse 11"/>
            <p:cNvSpPr/>
            <p:nvPr/>
          </p:nvSpPr>
          <p:spPr>
            <a:xfrm>
              <a:off x="381000" y="1238250"/>
              <a:ext cx="476250" cy="476250"/>
            </a:xfrm>
            <a:prstGeom prst="ellipse">
              <a:avLst/>
            </a:prstGeom>
            <a:solidFill>
              <a:srgbClr val="EDF4F9"/>
            </a:solidFill>
            <a:ln w="14288">
              <a:solidFill>
                <a:srgbClr val="16859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0443" y="1339850"/>
              <a:ext cx="357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7656" y="1174750"/>
              <a:ext cx="1549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分子网络设计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9180" y="1546225"/>
              <a:ext cx="44838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10 J吸能效率84.3%；长期保持率需与工况对应。</a:t>
              </a:r>
            </a:p>
          </p:txBody>
        </p:sp>
      </p:grpSp>
      <p:grpSp>
        <p:nvGrpSpPr>
          <p:cNvPr id="22" name="conclusion-1"/>
          <p:cNvGrpSpPr/>
          <p:nvPr/>
        </p:nvGrpSpPr>
        <p:grpSpPr>
          <a:xfrm>
            <a:off x="381000" y="2022475"/>
            <a:ext cx="4972050" cy="664845"/>
            <a:chOff x="381000" y="2022475"/>
            <a:chExt cx="4972050" cy="664845"/>
          </a:xfrm>
        </p:grpSpPr>
        <p:sp>
          <p:nvSpPr>
            <p:cNvPr id="17" name="Ellipse 17"/>
            <p:cNvSpPr/>
            <p:nvPr/>
          </p:nvSpPr>
          <p:spPr>
            <a:xfrm>
              <a:off x="381000" y="2085975"/>
              <a:ext cx="476250" cy="476250"/>
            </a:xfrm>
            <a:prstGeom prst="ellipse">
              <a:avLst/>
            </a:prstGeom>
            <a:solidFill>
              <a:srgbClr val="EDF4F9"/>
            </a:solidFill>
            <a:ln w="14288">
              <a:solidFill>
                <a:srgbClr val="16859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0443" y="2187575"/>
              <a:ext cx="357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7656" y="2022475"/>
              <a:ext cx="1549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织物界面调控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9180" y="2393950"/>
              <a:ext cx="42938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锥刺171.41 N、刀刺56.28 N；样品归属待核。</a:t>
              </a:r>
            </a:p>
          </p:txBody>
        </p:sp>
      </p:grpSp>
      <p:grpSp>
        <p:nvGrpSpPr>
          <p:cNvPr id="27" name="conclusion-2"/>
          <p:cNvGrpSpPr/>
          <p:nvPr/>
        </p:nvGrpSpPr>
        <p:grpSpPr>
          <a:xfrm>
            <a:off x="381000" y="2870200"/>
            <a:ext cx="5307520" cy="664845"/>
            <a:chOff x="381000" y="2870200"/>
            <a:chExt cx="5307520" cy="664845"/>
          </a:xfrm>
        </p:grpSpPr>
        <p:sp>
          <p:nvSpPr>
            <p:cNvPr id="23" name="Ellipse 23"/>
            <p:cNvSpPr/>
            <p:nvPr/>
          </p:nvSpPr>
          <p:spPr>
            <a:xfrm>
              <a:off x="381000" y="2933700"/>
              <a:ext cx="476250" cy="476250"/>
            </a:xfrm>
            <a:prstGeom prst="ellipse">
              <a:avLst/>
            </a:prstGeom>
            <a:solidFill>
              <a:srgbClr val="EDF4F9"/>
            </a:solidFill>
            <a:ln w="14288">
              <a:solidFill>
                <a:srgbClr val="16859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0443" y="3035300"/>
              <a:ext cx="357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7656" y="2870200"/>
              <a:ext cx="1549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复合结构优化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180" y="3241675"/>
              <a:ext cx="4629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63746"/>
                  </a:solidFill>
                  <a:latin typeface="Microsoft YaHei"/>
                  <a:ea typeface="Microsoft YaHei"/>
                  <a:cs typeface="Microsoft YaHei"/>
                </a:rPr>
                <a:t>0°/45°/0°组峰值较同向分别提高43.2%与27.4%。</a:t>
              </a:r>
            </a:p>
          </p:txBody>
        </p:sp>
      </p:grpSp>
      <p:grpSp>
        <p:nvGrpSpPr>
          <p:cNvPr id="29" name="next-work"/>
          <p:cNvGrpSpPr/>
          <p:nvPr/>
        </p:nvGrpSpPr>
        <p:grpSpPr>
          <a:xfrm>
            <a:off x="401574" y="3933825"/>
            <a:ext cx="6396990" cy="308991"/>
            <a:chOff x="401574" y="3933825"/>
            <a:chExt cx="6396990" cy="308991"/>
          </a:xfrm>
        </p:grpSpPr>
        <p:sp>
          <p:nvSpPr>
            <p:cNvPr id="28" name="TextBox 28"/>
            <p:cNvSpPr txBox="1"/>
            <p:nvPr/>
          </p:nvSpPr>
          <p:spPr>
            <a:xfrm>
              <a:off x="401574" y="3933825"/>
              <a:ext cx="645604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59A"/>
                  </a:solidFill>
                  <a:latin typeface="Microsoft YaHei"/>
                  <a:ea typeface="Microsoft YaHei"/>
                  <a:cs typeface="Microsoft YaHei"/>
                </a:rPr>
                <a:t>下一步：核对原始数据与配方，补齐重复性、柔性和损伤过程证据。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361950" y="4333875"/>
            <a:ext cx="8420100" cy="361950"/>
            <a:chOff x="361950" y="4333875"/>
            <a:chExt cx="8420100" cy="361950"/>
          </a:xfrm>
        </p:grpSpPr>
        <p:sp>
          <p:nvSpPr>
            <p:cNvPr id="30" name="Rectangle 30"/>
            <p:cNvSpPr/>
            <p:nvPr/>
          </p:nvSpPr>
          <p:spPr>
            <a:xfrm>
              <a:off x="361950" y="4333875"/>
              <a:ext cx="8420100" cy="361950"/>
            </a:xfrm>
            <a:prstGeom prst="rect">
              <a:avLst/>
            </a:prstGeom>
            <a:solidFill>
              <a:srgbClr val="EDF4F9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61950" y="4333875"/>
              <a:ext cx="38100" cy="361950"/>
            </a:xfrm>
            <a:prstGeom prst="rect">
              <a:avLst/>
            </a:prstGeom>
            <a:solidFill>
              <a:srgbClr val="1685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7492" y="4406900"/>
              <a:ext cx="5547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4573"/>
                  </a:solidFill>
                  <a:latin typeface="Microsoft YaHei"/>
                  <a:ea typeface="Microsoft YaHei"/>
                  <a:cs typeface="Microsoft YaHei"/>
                </a:rPr>
                <a:t>以可追溯数据支撑结论，以明确测试条件界定应用边界。感谢聆听。</a:t>
              </a:r>
            </a:p>
          </p:txBody>
        </p:sp>
      </p:grpSp>
      <p:grpSp>
        <p:nvGrpSpPr>
          <p:cNvPr id="35" name="source-note"/>
          <p:cNvGrpSpPr/>
          <p:nvPr/>
        </p:nvGrpSpPr>
        <p:grpSpPr>
          <a:xfrm>
            <a:off x="376238" y="4746625"/>
            <a:ext cx="4167802" cy="155258"/>
            <a:chOff x="376238" y="4746625"/>
            <a:chExt cx="4167802" cy="155258"/>
          </a:xfrm>
        </p:grpSpPr>
        <p:sp>
          <p:nvSpPr>
            <p:cNvPr id="34" name="TextBox 34"/>
            <p:cNvSpPr txBox="1"/>
            <p:nvPr/>
          </p:nvSpPr>
          <p:spPr>
            <a:xfrm>
              <a:off x="376238" y="4746625"/>
              <a:ext cx="4241441" cy="1552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dirty="0">
                  <a:solidFill>
                    <a:srgbClr val="607485"/>
                  </a:solidFill>
                  <a:latin typeface="Microsoft YaHei"/>
                  <a:ea typeface="Microsoft YaHei"/>
                  <a:cs typeface="Microsoft YaHei"/>
                </a:rPr>
                <a:t>数值依据：用户16页汇总图；防刺研究报告用于背景与机制参照。完整来源见随附说明。</a:t>
              </a:r>
            </a:p>
          </p:txBody>
        </p:sp>
      </p:grpSp>
    </p:spTree>
  </p:cSld>
  <p:clrMapOvr>
    <a:masterClrMapping/>
  </p:clrMapOvr>
  <p:transition advClick="1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e8cd34b-3671-4616-af46-e52639080e19"/>
  <p:tag name="COMMONDATA" val="eyJoZGlkIjoiNWMxODA5MWNiN2VmN2E3YTRjYzJjZTk5YzBiNjdiNDQifQ=="/>
</p:tagLst>
</file>

<file path=ppt/tags/tag2_tf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ags/tag2_tf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809.8,&quot;width&quot;:802.9086614173228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95</ns0:TotalTime>
  <ns0:Words>110</ns0:Words>
  <ns0:Application>Microsoft Office PowerPoint</ns0:Application>
  <ns0:PresentationFormat>全屏显示(16:9)</ns0:PresentationFormat>
  <ns0:Paragraphs>21</ns0:Paragraphs>
  <ns0:Slides>16</ns0:Slides>
  <ns0:Notes>3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4</ns1:i4>
      </ns1:variant>
    </ns1:vector>
  </ns0:HeadingPairs>
  <ns0:TitlesOfParts>
    <ns1:vector size="9" baseType="lpstr">
      <ns1:lpstr>思源黑体 CN Heavy</ns1:lpstr>
      <ns1:lpstr>Arial</ns1:lpstr>
      <ns1:lpstr>等线</ns1:lpstr>
      <ns1:lpstr>微软雅黑</ns1:lpstr>
      <ns1:lpstr>Office 主题</ns1:lpstr>
      <ns1:lpstr>PowerPoint 演示文稿</ns1:lpstr>
      <ns1:lpstr>PowerPoint 演示文稿</ns1:lpstr>
      <ns1:lpstr>PowerPoint 演示文稿</ns1:lpstr>
      <ns1:lpstr>PowerPoint 演示文稿</ns1:lpstr>
    </ns1:vector>
  </ns0:TitlesOfParts>
  <ns0:Company>Microsoft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李佳耀</dc:creator>
  <cp:lastModifiedBy>ch u</cp:lastModifiedBy>
  <cp:revision>371</cp:revision>
  <dcterms:created xsi:type="dcterms:W3CDTF">2018-12-24T01:13:00Z</dcterms:created>
  <dcterms:modified xsi:type="dcterms:W3CDTF">2026-10-23T05:38:14Z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6E90244980AE435294F97C09DD49B63B</vt:lpwstr>
  </property>
  <property fmtid="{D5CDD505-2E9C-101B-9397-08002B2CF9AE}" pid="3" name="KSOProductBuildVer">
    <vt:lpwstr>2052-11.1.0.12763</vt:lpwstr>
  </property>
</Properties>
</file>