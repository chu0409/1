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notesSlides/notesSlide1_tf1.xml" ContentType="application/vnd.openxmlformats-officedocument.presentationml.notesSlide+xml"/>
  <Override PartName="/ppt/notesSlides/notesSlide3_tf1.xml" ContentType="application/vnd.openxmlformats-officedocument.presentationml.notesSlide+xml"/>
  <Override PartName="/ppt/tags/tag2_tf1.xml" ContentType="application/vnd.openxmlformats-officedocument.presentationml.tags+xml"/>
  <Override PartName="/ppt/notesSlides/notesSlide3_tf2.xml" ContentType="application/vnd.openxmlformats-officedocument.presentationml.notesSlide+xml"/>
  <Override PartName="/ppt/tags/tag2_tf2.xml" ContentType="application/vnd.openxmlformats-officedocument.presentationml.tags+xml"/>
  <Override PartName="/ppt/notesSlides/notesSlide3_tf3.xml" ContentType="application/vnd.openxmlformats-officedocument.presentationml.notesSlide+xml"/>
  <Override PartName="/ppt/tags/tag2_tf3.xml" ContentType="application/vnd.openxmlformats-officedocument.presentationml.tags+xml"/>
  <Override PartName="/ppt/notesSlides/notesSlide3_tf4.xml" ContentType="application/vnd.openxmlformats-officedocument.presentationml.notesSlide+xml"/>
  <Override PartName="/ppt/tags/tag2_tf4.xml" ContentType="application/vnd.openxmlformats-officedocument.presentationml.tags+xml"/>
  <Override PartName="/ppt/slides/slide5.xml" ContentType="application/vnd.openxmlformats-officedocument.presentationml.slide+xml"/>
  <Override PartName="/ppt/notesSlides/notesSlide3_tf5.xml" ContentType="application/vnd.openxmlformats-officedocument.presentationml.notesSlide+xml"/>
  <Override PartName="/ppt/tags/tag2_tf5.xml" ContentType="application/vnd.openxmlformats-officedocument.presentationml.tags+xml"/>
  <Override PartName="/ppt/slides/slide6.xml" ContentType="application/vnd.openxmlformats-officedocument.presentationml.slide+xml"/>
  <Override PartName="/ppt/notesSlides/notesSlide3_tf6.xml" ContentType="application/vnd.openxmlformats-officedocument.presentationml.notesSlide+xml"/>
  <Override PartName="/ppt/tags/tag2_tf6.xml" ContentType="application/vnd.openxmlformats-officedocument.presentationml.tags+xml"/>
  <Override PartName="/ppt/slides/slide7.xml" ContentType="application/vnd.openxmlformats-officedocument.presentationml.slide+xml"/>
  <Override PartName="/ppt/notesSlides/notesSlide3_tf7.xml" ContentType="application/vnd.openxmlformats-officedocument.presentationml.notesSlide+xml"/>
  <Override PartName="/ppt/tags/tag2_tf7.xml" ContentType="application/vnd.openxmlformats-officedocument.presentationml.tags+xml"/>
  <Override PartName="/ppt/slides/slide8.xml" ContentType="application/vnd.openxmlformats-officedocument.presentationml.slide+xml"/>
  <Override PartName="/ppt/notesSlides/notesSlide3_tf8.xml" ContentType="application/vnd.openxmlformats-officedocument.presentationml.notesSlide+xml"/>
  <Override PartName="/ppt/tags/tag2_tf8.xml" ContentType="application/vnd.openxmlformats-officedocument.presentationml.tags+xml"/>
  <Override PartName="/ppt/slides/slide9.xml" ContentType="application/vnd.openxmlformats-officedocument.presentationml.slide+xml"/>
  <Override PartName="/ppt/notesSlides/notesSlide3_tf9.xml" ContentType="application/vnd.openxmlformats-officedocument.presentationml.notesSlide+xml"/>
  <Override PartName="/ppt/tags/tag2_tf9.xml" ContentType="application/vnd.openxmlformats-officedocument.presentationml.tags+xml"/>
  <Override PartName="/ppt/slides/slide10.xml" ContentType="application/vnd.openxmlformats-officedocument.presentationml.slide+xml"/>
  <Override PartName="/ppt/notesSlides/notesSlide3_tf10.xml" ContentType="application/vnd.openxmlformats-officedocument.presentationml.notesSlide+xml"/>
  <Override PartName="/ppt/tags/tag2_tf10.xml" ContentType="application/vnd.openxmlformats-officedocument.presentationml.tags+xml"/>
  <Override PartName="/ppt/slides/slide11.xml" ContentType="application/vnd.openxmlformats-officedocument.presentationml.slide+xml"/>
  <Override PartName="/ppt/notesSlides/notesSlide3_tf11.xml" ContentType="application/vnd.openxmlformats-officedocument.presentationml.notesSlide+xml"/>
  <Override PartName="/ppt/tags/tag2_tf11.xml" ContentType="application/vnd.openxmlformats-officedocument.presentationml.tags+xml"/>
  <Override PartName="/ppt/slides/slide12.xml" ContentType="application/vnd.openxmlformats-officedocument.presentationml.slide+xml"/>
  <Override PartName="/ppt/notesSlides/notesSlide3_tf12.xml" ContentType="application/vnd.openxmlformats-officedocument.presentationml.notesSlide+xml"/>
  <Override PartName="/ppt/tags/tag2_tf12.xml" ContentType="application/vnd.openxmlformats-officedocument.presentationml.tags+xml"/>
  <Override PartName="/ppt/slides/slide13.xml" ContentType="application/vnd.openxmlformats-officedocument.presentationml.slide+xml"/>
  <Override PartName="/ppt/notesSlides/notesSlide3_tf13.xml" ContentType="application/vnd.openxmlformats-officedocument.presentationml.notesSlide+xml"/>
  <Override PartName="/ppt/tags/tag2_tf13.xml" ContentType="application/vnd.openxmlformats-officedocument.presentationml.tags+xml"/>
  <Override PartName="/ppt/slides/slide14.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p15="http://schemas.microsoft.com/office/powerpoint/2012/main" xmlns:r="http://schemas.openxmlformats.org/officeDocument/2006/relationships" showSpecialPlsOnTitleSld="0">
  <p:sldMasterIdLst>
    <p:sldMasterId id="2147483648" r:id="rId1"/>
  </p:sldMasterIdLst>
  <p:notesMasterIdLst>
    <p:notesMasterId r:id="rId6"/>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Lst>
  <p:sldSz cx="9144000" cy="5143500" type="screen16x9"/>
  <p:notesSz cx="6858000" cy="9144000"/>
  <p:custDataLst>
    <p:tags r:id="rId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p15:guide id="1" orient="horz" pos="1615">
          <p15:clr>
            <a:srgbClr val="A4A3A4"/>
          </p15:clr>
        </p15:guide>
        <p15:guide id="2" pos="295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n Shengtong" initials="SS" lastIdx="1" clrIdx="0"/>
</p:cmAuthorLst>
</file>

<file path=ppt/presProps.xml><?xml version="1.0" encoding="utf-8"?>
<p:presentationPr xmlns:a="http://schemas.openxmlformats.org/drawingml/2006/main" xmlns:p="http://schemas.openxmlformats.org/presentationml/2006/main" xmlns:p14="http://schemas.microsoft.com/office/powerpoint/2010/main" xmlns:p15="http://schemas.microsoft.com/office/powerpoint/2012/main">
  <p:showPr showNarration="1" useTimings="0">
    <p:present/>
    <p:sldAll/>
    <p:penClr>
      <a:prstClr val="red"/>
    </p:penClr>
    <p:extLst>
      <p:ext uri="{EC167BDD-8182-4AB7-AECC-EB403E3ABB37}">
        <p14:laserClr>
          <a:srgbClr val="FF0000"/>
        </p14:laserClr>
      </p:ext>
      <p:ext uri="{2FDB2607-1784-4EEB-B798-7EB5836EED8A}">
        <p14:showMediaCtrls val="1"/>
      </p:ext>
    </p:extLst>
  </p:showPr>
  <p:clrMru>
    <a:srgbClr val="000000"/>
    <a:srgbClr val="FFFFFF"/>
    <a:srgbClr val="C80000"/>
    <a:srgbClr val="E68BFF"/>
    <a:srgbClr val="E279FF"/>
    <a:srgbClr val="A000CC"/>
    <a:srgbClr val="B2B2B2"/>
    <a:srgbClr val="952C2F"/>
    <a:srgbClr val="B6383D"/>
    <a:srgbClr val="990000"/>
  </p:clrMru>
  <p:extLst>
    <p:ext uri="{E76CE94A-603C-4142-B9EB-6D1370010A27}">
      <p14:discardImageEditData val="0"/>
    </p:ext>
    <p:ext uri="{D31A062A-798A-4329-ABDD-BBA856620510}">
      <p14:defaultImageDpi val="220"/>
    </p:ext>
    <p:ext uri="{FD5EFAAD-0ECE-453E-9831-46B23BE46B34}">
      <p15:chartTrackingRefBased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62" autoAdjust="0"/>
    <p:restoredTop sz="94643"/>
  </p:normalViewPr>
  <p:slideViewPr>
    <p:cSldViewPr>
      <p:cViewPr varScale="1">
        <p:scale>
          <a:sx n="111" d="100"/>
          <a:sy n="111" d="100"/>
        </p:scale>
        <p:origin x="86" y="211"/>
      </p:cViewPr>
      <p:guideLst>
        <p:guide orient="horz" pos="1615"/>
        <p:guide pos="2952"/>
      </p:guideLst>
    </p:cSldViewPr>
  </p:slideViewPr>
  <p:notesTextViewPr>
    <p:cViewPr>
      <p:scale>
        <a:sx n="100" d="100"/>
        <a:sy n="100" d="100"/>
      </p:scale>
      <p:origin x="0" y="0"/>
    </p:cViewPr>
  </p:notesTextViewPr>
  <p:gridSpacing cx="72008" cy="72008"/>
</p:viewPr>
</file>

<file path=ppt/_rels/presentation.xml.rels><?xml version='1.0' encoding='utf-8'?>
<Relationships xmlns="http://schemas.openxmlformats.org/package/2006/relationships"><Relationship Id="rId8" Type="http://schemas.openxmlformats.org/officeDocument/2006/relationships/commentAuthors" Target="commentAuthors.xml" /><Relationship Id="rId7" Type="http://schemas.openxmlformats.org/officeDocument/2006/relationships/tags" Target="tags/tag1.xml" /><Relationship Id="rId12"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notesMaster" Target="notesMasters/notesMaster1.xml" /><Relationship Id="rId11" Type="http://schemas.openxmlformats.org/officeDocument/2006/relationships/theme" Target="theme/theme1.xml" /><Relationship Id="rId10" Type="http://schemas.openxmlformats.org/officeDocument/2006/relationships/viewProps" Target="viewProps.xml" /><Relationship Id="rId9" Type="http://schemas.openxmlformats.org/officeDocument/2006/relationships/presProps" Target="presProps.xml" /><Relationship Id="rId13" Type="http://schemas.openxmlformats.org/officeDocument/2006/relationships/slide" Target="slides/slide1.xml" /><Relationship Id="rId14" Type="http://schemas.openxmlformats.org/officeDocument/2006/relationships/slide" Target="slides/slide2.xml" /><Relationship Id="rId15" Type="http://schemas.openxmlformats.org/officeDocument/2006/relationships/slide" Target="slides/slide3.xml" /><Relationship Id="rId16" Type="http://schemas.openxmlformats.org/officeDocument/2006/relationships/slide" Target="slides/slide4.xml" /><Relationship Id="rId17" Type="http://schemas.openxmlformats.org/officeDocument/2006/relationships/slide" Target="slides/slide5.xml" /><Relationship Id="rId18" Type="http://schemas.openxmlformats.org/officeDocument/2006/relationships/slide" Target="slides/slide6.xml" /><Relationship Id="rId19" Type="http://schemas.openxmlformats.org/officeDocument/2006/relationships/slide" Target="slides/slide7.xml" /><Relationship Id="rId20" Type="http://schemas.openxmlformats.org/officeDocument/2006/relationships/slide" Target="slides/slide8.xml" /><Relationship Id="rId21" Type="http://schemas.openxmlformats.org/officeDocument/2006/relationships/slide" Target="slides/slide9.xml" /><Relationship Id="rId22" Type="http://schemas.openxmlformats.org/officeDocument/2006/relationships/slide" Target="slides/slide10.xml" /><Relationship Id="rId23" Type="http://schemas.openxmlformats.org/officeDocument/2006/relationships/slide" Target="slides/slide11.xml" /><Relationship Id="rId24" Type="http://schemas.openxmlformats.org/officeDocument/2006/relationships/slide" Target="slides/slide12.xml" /><Relationship Id="rId25" Type="http://schemas.openxmlformats.org/officeDocument/2006/relationships/slide" Target="slides/slide13.xml" /><Relationship Id="rId26" Type="http://schemas.openxmlformats.org/officeDocument/2006/relationships/slide" Target="slides/slide14.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95C6AC-69F9-4619-AEBD-50F1DAF91008}" type="datetimeFigureOut">
              <a:rPr lang="zh-CN" altLang="en-US" smtClean="0"/>
              <a:t>2026/10/23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B4CB63-E8D7-48A1-B74B-5EA705C107E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3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_tf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3_tf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3_tf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3_tf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3_tf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3_tf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3_tf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3_tf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3_tf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3_tf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3_tf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3_tf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各位老师、同学，大家好。我是褚生，今天汇报的题目是兼顾高效能量耗散与形状稳定性的芳纶柔性复合材料。汇报将沿着动态网络、织物复合结构和防护机制这条主线展开。</a:t>
            </a:r>
          </a:p>
        </p:txBody>
      </p:sp>
    </p:spTree>
  </p:cSld>
  <p:clrMapOvr>
    <a:masterClrMapping/>
  </p:clrMapOvr>
</p:notes>
</file>

<file path=ppt/notesSlides/notesSlide3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柔性防护材料需要同时回应两类需求：日常穿戴时能够随人体弯曲，在短时冲击或尖锐物侵入时又能有效分散载荷。因此，单纯增加材料厚度并不是唯一的设计方向。我们关注芳纶织物与柔性聚合物的协同，希望在质量、厚度和穿着适应性受到约束的条件下，把能量耗散和形状保持放在同一评价框架中。这里列出的应用是需求场景，不代表材料已经达到相应的防护认证。</a:t>
            </a:r>
          </a:p>
        </p:txBody>
      </p:sp>
    </p:spTree>
  </p:cSld>
  <p:clrMapOvr>
    <a:masterClrMapping/>
  </p:clrMapOvr>
</p:notes>
</file>

<file path=ppt/notesSlides/notesSlide3_tf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从机制角度看，柔性抗冲击和防刺材料可以按四条技术路径梳理。高性能纤维提供承载骨架，聚合物浸渍改善载荷传递，颗粒或摩擦调控改变局部约束，铺层设计则影响载荷扩散方向。每种路径都对应一个需要验证的平衡：例如界面约束增强后，纱线是否仍保有必要的滑移空间。这里做的是概念性比较，并不是基于同一试验条件的性能排名，也不把不同测试体系的数值直接比较。</a:t>
            </a:r>
          </a:p>
        </p:txBody>
      </p:sp>
    </p:spTree>
  </p:cSld>
  <p:clrMapOvr>
    <a:masterClrMapping/>
  </p:clrMapOvr>
</p:notes>
</file>

<file path=ppt/notesSlides/notesSlide3_tf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核心问题可以归结为三个目标之间的协调。柔性要求材料在较长时间尺度或较小变形下具有可适应性；高效耗能需要在加载过程中打开耗散通道；形状稳定又要求卸载后存在能够保持结构和传递载荷的网络。因此，设计不能只追求更软或更硬，而应关注不同时间尺度下的约束如何分工。后续两项研究都围绕这一问题展开：先设计分子网络，再调控织物界面和层间结构。</a:t>
            </a:r>
          </a:p>
        </p:txBody>
      </p:sp>
    </p:spTree>
  </p:cSld>
  <p:clrMapOvr>
    <a:masterClrMapping/>
  </p:clrMapOvr>
</p:notes>
</file>

<file path=ppt/notesSlides/notesSlide3_tf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研究思路由小到大分为三个层次。第一层是动态聚氨酯网络，讨论耗能单元与稳定约束如何共存；第二层是聚合物与芳纶织物复合，分析能量如何从局部接触区传递到更大的纱线网络；第三层引入二氧化硅和铺层角度，比较不同接触形态下的穿透行为。两项研究的共同变量是约束与耗散的协调。评价上统一关注防护表现、形状保持和柔性代价，避免只凭一个峰值作判断。</a:t>
            </a:r>
          </a:p>
        </p:txBody>
      </p:sp>
    </p:spTree>
  </p:cSld>
  <p:clrMapOvr>
    <a:masterClrMapping/>
  </p:clrMapOvr>
</p:notes>
</file>

<file path=ppt/notesSlides/notesSlide3_tf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展示多时间尺度动态网络的设计假设。短时尺度上，部分可逆相互作用作为耗能单元；较长时尺度上，另一部分约束承担结构保持。需要强调，这不是对具体化学键或反应配方的认定，因为当前材料未提供合成方案。验证时应先结合配方和结构表征确认相互作用类型，再通过动态力学、应力松弛和循环加载，判断是否存在预期的时间尺度差异。只有结构证据与力学响应相互对应，才能支持网络分工的解释。</a:t>
            </a:r>
          </a:p>
        </p:txBody>
      </p:sp>
    </p:spTree>
  </p:cSld>
  <p:clrMapOvr>
    <a:masterClrMapping/>
  </p:clrMapOvr>
</p:notes>
</file>

<file path=ppt/notesSlides/notesSlide3_tf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形状稳定性不宜只用卸载后的一张照片判断。这里建议把变形、卸载和恢复过程连接起来，分别记录初始尺寸、加载尺寸以及统一等待时间后的尺寸。循环拉伸反映可恢复变形与残余应变，蠕变和应力松弛则补充长时间载荷下的稳定性证据。需要同时考察温度和恢复时间，因为材料恢复得快与最终恢复得多是两个问题。本页呈现的是评价设计，尚不能据此声称动态网络已经改善了材料的形状稳定性。</a:t>
            </a:r>
          </a:p>
        </p:txBody>
      </p:sp>
    </p:spTree>
  </p:cSld>
  <p:clrMapOvr>
    <a:masterClrMapping/>
  </p:clrMapOvr>
</p:notes>
</file>

<file path=ppt/notesSlides/notesSlide3_tf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冲击能量吸收首先要厘清能量收支。若采用带力和位移采集的仪器化冲击试验，加载过程中的外力做功可以通过力位移积分获得；随后还要区分回弹、试样耗散和设备损失，不能把所有输入功直接称为材料吸能。对复合材料，应观察接触区压缩、基体变形、纱线拉伸以及界面相对运动等可能的耗散通道。比较不同试样时统一入射能量、面密度和支撑边界，同时报告峰值力、最大位移和损伤状态，形成完整证据链。</a:t>
            </a:r>
          </a:p>
        </p:txBody>
      </p:sp>
    </p:spTree>
  </p:cSld>
  <p:clrMapOvr>
    <a:masterClrMapping/>
  </p:clrMapOvr>
</p:notes>
</file>

<file path=ppt/notesSlides/notesSlide3_tf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重复冲击和环境服役验证回答的是另一类问题：第一次表现较好之后，防护能力能否保持。建议把原始状态、重复冲击后和环境处理后分开评价。重复冲击可以比较同一位置与不同位置加载，环境处理则根据实际应用选择温湿度和老化条件。在统一测试条件下，跟踪耗散指标、残余变形与损伤扩展，并设置未经处理的对照。这里不预设保持率数值，也不把性能暂时回升直接解释为自修复，相关机制仍需要独立证据。</a:t>
            </a:r>
          </a:p>
        </p:txBody>
      </p:sp>
    </p:spTree>
  </p:cSld>
  <p:clrMapOvr>
    <a:masterClrMapping/>
  </p:clrMapOvr>
</p:notes>
</file>

<file path=ppt/notesSlides/notesSlide3_tf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项研究把关注点转向二氧化硅、动态聚氨酯与芳纶织物的界面协同。这里暂将DPU作为动态聚氨酯的工作缩写，具体结构需由原始配方确认。二氧化硅分布在聚合物与纱线周围，可能影响接触、摩擦和界面载荷传递，但这种作用依赖颗粒分散和涂层连续性。研究设计应同时观察纱线交叉点与单根纱线表面，区分均匀包覆和局部团聚。最终要检验的是约束是否有效而不过度，而不是简单追求更高添加量。</a:t>
            </a:r>
          </a:p>
        </p:txBody>
      </p:sp>
    </p:spTree>
  </p:cSld>
  <p:clrMapOvr>
    <a:masterClrMapping/>
  </p:clrMapOvr>
</p:notes>
</file>

<file path=ppt/notesSlides/notesSlide3_tf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颗粒含量对防刺性能的影响，需要把锥刺和刀刺分开讨论。锥刺更需要观察纱线分离、推挤和滑移，刀刺还涉及刀刃接触与纤维切断；两者都可能出现多种机制共同作用。建议设置未处理织物、仅DPU处理和多个颗粒添加水平的对照，并固定织物规格和加工工艺。添加量增加可能改变局部约束，也可能引入团聚或柔性损失，所以不能预设单调提升。结果应以完整力位移曲线、穿透功和形貌证据共同解释。</a:t>
            </a:r>
          </a:p>
        </p:txBody>
      </p:sp>
    </p:spTree>
  </p:cSld>
  <p:clrMapOvr>
    <a:masterClrMapping/>
  </p:clrMapOvr>
</p:notes>
</file>

<file path=ppt/notesSlides/notesSlide3_tf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铺层角度是从几何结构层面调控防护的变量。图中展示同向与错角铺层的示意，不表示它们已经完成性能排序。改变层间角度可能改变载荷传递方向和层间相对运动，但织物经纬结构、摩擦和接触位置都会参与作用。因此，各组需要保持总层数、面密度和边界条件一致，并对刺入位置和尖端朝向进行控制。锥刺和刀刺分别评价，最后再把穿透表现与弯曲柔性一起比较，确定是否存在适合实际需求的角度组合。</a:t>
            </a:r>
          </a:p>
        </p:txBody>
      </p:sp>
    </p:spTree>
  </p:cSld>
  <p:clrMapOvr>
    <a:masterClrMapping/>
  </p:clrMapOvr>
</p:notes>
</file>

<file path=ppt/notesSlides/notesSlide3_tf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损伤机制应通过连续证据重建，而不是仅凭最终孔洞作推断。这里把侵入过程分为接触压入、纱线约束与载荷扩散，以及穿透或切断三个观察阶段。锥刺中重点观察纱线是否被推开，刀刺中还要记录切口走向和断裂纤维。载荷曲线中的峰值和突降需要与同步图像或分阶段中断试验对应，再结合表面和截面形貌，判断滑移、拔出、脱粘和断裂各自出现的位置。本图是机制假设，不能代替原位观测结果。</a:t>
            </a:r>
          </a:p>
        </p:txBody>
      </p:sp>
    </p:spTree>
  </p:cSld>
  <p:clrMapOvr>
    <a:masterClrMapping/>
  </p:clrMapOvr>
</p:notes>
</file>

<file path=ppt/notesSlides/notesSlide3_tf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作一个归纳。两项研究可以用同一条主线组织：以动态网络协调耗散与结构保持，以织物界面和铺层结构调控局部载荷与穿透路径。当前可以明确的是设计逻辑和评价框架，实验性能提升及最优参数仍需数据支持。下一步应补齐合成与结构证据、受控条件下的防护曲线，以及损伤过程观察，并把柔性代价纳入评价。我的汇报到此结束，恳请各位老师和同学批评指正。</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990000"/>
        </a:solidFill>
        <a:effectLst/>
      </p:bgPr>
    </p:bg>
    <p:spTree>
      <p:nvGrpSpPr>
        <p:cNvPr id="1" name=""/>
        <p:cNvGrpSpPr/>
        <p:nvPr/>
      </p:nvGrpSpPr>
      <p:grpSpPr>
        <a:xfrm>
          <a:off x="0" y="0"/>
          <a:ext cx="0" cy="0"/>
          <a:chOff x="0" y="0"/>
          <a:chExt cx="0" cy="0"/>
        </a:xfrm>
      </p:grpSpPr>
      <p:sp>
        <p:nvSpPr>
          <p:cNvPr id="6" name="矩形 5"/>
          <p:cNvSpPr/>
          <p:nvPr userDrawn="1"/>
        </p:nvSpPr>
        <p:spPr>
          <a:xfrm>
            <a:off x="-1" y="-6856"/>
            <a:ext cx="9135489" cy="5150356"/>
          </a:xfrm>
          <a:prstGeom prst="rect">
            <a:avLst/>
          </a:prstGeom>
          <a:solidFill>
            <a:srgbClr val="952C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028" name="Picture 4" descr="C:\Users\Administrator\Desktop\未标题-1.png"/>
          <p:cNvPicPr>
            <a:picLocks noChangeAspect="1" noChangeArrowheads="1"/>
          </p:cNvPicPr>
          <p:nvPr userDrawn="1"/>
        </p:nvPicPr>
        <p:blipFill>
          <a:blip r:embed="rId2" cstate="print"/>
          <a:srcRect/>
          <a:stretch>
            <a:fillRect/>
          </a:stretch>
        </p:blipFill>
        <p:spPr bwMode="auto">
          <a:xfrm>
            <a:off x="7555777" y="267494"/>
            <a:ext cx="1278718" cy="367705"/>
          </a:xfrm>
          <a:prstGeom prst="rect">
            <a:avLst/>
          </a:prstGeom>
          <a:noFill/>
        </p:spPr>
      </p:pic>
      <p:pic>
        <p:nvPicPr>
          <p:cNvPr id="86" name="Picture 3" descr="C:\Users\Administrator\Desktop\未标题-1.png"/>
          <p:cNvPicPr>
            <a:picLocks noChangeAspect="1" noChangeArrowheads="1"/>
          </p:cNvPicPr>
          <p:nvPr userDrawn="1"/>
        </p:nvPicPr>
        <p:blipFill>
          <a:blip r:embed="rId3" cstate="print"/>
          <a:srcRect/>
          <a:stretch>
            <a:fillRect/>
          </a:stretch>
        </p:blipFill>
        <p:spPr bwMode="auto">
          <a:xfrm>
            <a:off x="2664296" y="3056339"/>
            <a:ext cx="3744416" cy="1724888"/>
          </a:xfrm>
          <a:prstGeom prst="rect">
            <a:avLst/>
          </a:prstGeom>
          <a:noFill/>
        </p:spPr>
      </p:pic>
      <p:grpSp>
        <p:nvGrpSpPr>
          <p:cNvPr id="8" name="组 7"/>
          <p:cNvGrpSpPr/>
          <p:nvPr userDrawn="1"/>
        </p:nvGrpSpPr>
        <p:grpSpPr>
          <a:xfrm>
            <a:off x="6516216" y="4533968"/>
            <a:ext cx="2592288" cy="144016"/>
            <a:chOff x="6516216" y="4533968"/>
            <a:chExt cx="2592288" cy="144016"/>
          </a:xfrm>
        </p:grpSpPr>
        <p:cxnSp>
          <p:nvCxnSpPr>
            <p:cNvPr id="139" name="直接连接符 138"/>
            <p:cNvCxnSpPr/>
            <p:nvPr userDrawn="1"/>
          </p:nvCxnSpPr>
          <p:spPr>
            <a:xfrm flipH="1">
              <a:off x="651621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userDrawn="1"/>
          </p:nvCxnSpPr>
          <p:spPr>
            <a:xfrm flipH="1">
              <a:off x="6710084"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userDrawn="1"/>
          </p:nvCxnSpPr>
          <p:spPr>
            <a:xfrm flipH="1">
              <a:off x="6807018"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userDrawn="1"/>
          </p:nvCxnSpPr>
          <p:spPr>
            <a:xfrm flipH="1">
              <a:off x="6903952"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userDrawn="1"/>
          </p:nvCxnSpPr>
          <p:spPr>
            <a:xfrm flipH="1">
              <a:off x="700088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userDrawn="1"/>
          </p:nvCxnSpPr>
          <p:spPr>
            <a:xfrm flipH="1">
              <a:off x="7097820"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userDrawn="1"/>
          </p:nvCxnSpPr>
          <p:spPr>
            <a:xfrm flipH="1">
              <a:off x="7291688"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userDrawn="1"/>
          </p:nvCxnSpPr>
          <p:spPr>
            <a:xfrm flipH="1">
              <a:off x="7582490"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userDrawn="1"/>
          </p:nvCxnSpPr>
          <p:spPr>
            <a:xfrm flipH="1">
              <a:off x="7388622"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userDrawn="1"/>
          </p:nvCxnSpPr>
          <p:spPr>
            <a:xfrm flipH="1">
              <a:off x="7873292"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userDrawn="1"/>
          </p:nvCxnSpPr>
          <p:spPr>
            <a:xfrm flipH="1">
              <a:off x="797022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userDrawn="1"/>
          </p:nvCxnSpPr>
          <p:spPr>
            <a:xfrm flipH="1">
              <a:off x="8164094"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userDrawn="1"/>
          </p:nvCxnSpPr>
          <p:spPr>
            <a:xfrm flipH="1">
              <a:off x="8067160"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userDrawn="1"/>
          </p:nvCxnSpPr>
          <p:spPr>
            <a:xfrm flipH="1">
              <a:off x="8261028"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userDrawn="1"/>
          </p:nvCxnSpPr>
          <p:spPr>
            <a:xfrm flipH="1">
              <a:off x="845489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userDrawn="1"/>
          </p:nvCxnSpPr>
          <p:spPr>
            <a:xfrm flipH="1">
              <a:off x="8648764"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6" name="直接连接符 155"/>
            <p:cNvCxnSpPr/>
            <p:nvPr userDrawn="1"/>
          </p:nvCxnSpPr>
          <p:spPr>
            <a:xfrm flipH="1">
              <a:off x="8842632"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userDrawn="1"/>
          </p:nvCxnSpPr>
          <p:spPr>
            <a:xfrm flipH="1">
              <a:off x="903649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userDrawn="1"/>
          </p:nvCxnSpPr>
          <p:spPr>
            <a:xfrm flipH="1">
              <a:off x="7776358"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userDrawn="1"/>
          </p:nvCxnSpPr>
          <p:spPr>
            <a:xfrm flipH="1">
              <a:off x="8357962"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5" name="直接连接符 164"/>
            <p:cNvCxnSpPr/>
            <p:nvPr userDrawn="1"/>
          </p:nvCxnSpPr>
          <p:spPr>
            <a:xfrm flipH="1">
              <a:off x="8551830"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6" name="直接连接符 165"/>
            <p:cNvCxnSpPr/>
            <p:nvPr userDrawn="1"/>
          </p:nvCxnSpPr>
          <p:spPr>
            <a:xfrm flipH="1">
              <a:off x="8745698"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userDrawn="1"/>
          </p:nvCxnSpPr>
          <p:spPr>
            <a:xfrm flipH="1">
              <a:off x="6613150"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p:nvPr userDrawn="1"/>
          </p:nvCxnSpPr>
          <p:spPr>
            <a:xfrm flipH="1">
              <a:off x="893956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2" name="直接连接符 171"/>
            <p:cNvCxnSpPr/>
            <p:nvPr userDrawn="1"/>
          </p:nvCxnSpPr>
          <p:spPr>
            <a:xfrm flipH="1">
              <a:off x="7194754"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userDrawn="1"/>
          </p:nvCxnSpPr>
          <p:spPr>
            <a:xfrm flipH="1">
              <a:off x="748555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userDrawn="1"/>
          </p:nvCxnSpPr>
          <p:spPr>
            <a:xfrm flipH="1">
              <a:off x="7679424"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89" name="组 88"/>
          <p:cNvGrpSpPr/>
          <p:nvPr userDrawn="1"/>
        </p:nvGrpSpPr>
        <p:grpSpPr>
          <a:xfrm>
            <a:off x="42402" y="4533968"/>
            <a:ext cx="2592288" cy="144016"/>
            <a:chOff x="6516216" y="4533968"/>
            <a:chExt cx="2592288" cy="144016"/>
          </a:xfrm>
        </p:grpSpPr>
        <p:cxnSp>
          <p:nvCxnSpPr>
            <p:cNvPr id="90" name="直接连接符 138"/>
            <p:cNvCxnSpPr/>
            <p:nvPr userDrawn="1"/>
          </p:nvCxnSpPr>
          <p:spPr>
            <a:xfrm flipH="1">
              <a:off x="651621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直接连接符 140"/>
            <p:cNvCxnSpPr/>
            <p:nvPr userDrawn="1"/>
          </p:nvCxnSpPr>
          <p:spPr>
            <a:xfrm flipH="1">
              <a:off x="6710084"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直接连接符 141"/>
            <p:cNvCxnSpPr/>
            <p:nvPr userDrawn="1"/>
          </p:nvCxnSpPr>
          <p:spPr>
            <a:xfrm flipH="1">
              <a:off x="6807018"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3" name="直接连接符 142"/>
            <p:cNvCxnSpPr/>
            <p:nvPr userDrawn="1"/>
          </p:nvCxnSpPr>
          <p:spPr>
            <a:xfrm flipH="1">
              <a:off x="6903952"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4" name="直接连接符 143"/>
            <p:cNvCxnSpPr/>
            <p:nvPr userDrawn="1"/>
          </p:nvCxnSpPr>
          <p:spPr>
            <a:xfrm flipH="1">
              <a:off x="700088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直接连接符 144"/>
            <p:cNvCxnSpPr/>
            <p:nvPr userDrawn="1"/>
          </p:nvCxnSpPr>
          <p:spPr>
            <a:xfrm flipH="1">
              <a:off x="7097820"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6" name="直接连接符 145"/>
            <p:cNvCxnSpPr/>
            <p:nvPr userDrawn="1"/>
          </p:nvCxnSpPr>
          <p:spPr>
            <a:xfrm flipH="1">
              <a:off x="7291688"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7" name="直接连接符 146"/>
            <p:cNvCxnSpPr/>
            <p:nvPr userDrawn="1"/>
          </p:nvCxnSpPr>
          <p:spPr>
            <a:xfrm flipH="1">
              <a:off x="7582490"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8" name="直接连接符 147"/>
            <p:cNvCxnSpPr/>
            <p:nvPr userDrawn="1"/>
          </p:nvCxnSpPr>
          <p:spPr>
            <a:xfrm flipH="1">
              <a:off x="7388622"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9" name="直接连接符 148"/>
            <p:cNvCxnSpPr/>
            <p:nvPr userDrawn="1"/>
          </p:nvCxnSpPr>
          <p:spPr>
            <a:xfrm flipH="1">
              <a:off x="7873292"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0" name="直接连接符 149"/>
            <p:cNvCxnSpPr/>
            <p:nvPr userDrawn="1"/>
          </p:nvCxnSpPr>
          <p:spPr>
            <a:xfrm flipH="1">
              <a:off x="797022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1" name="直接连接符 150"/>
            <p:cNvCxnSpPr/>
            <p:nvPr userDrawn="1"/>
          </p:nvCxnSpPr>
          <p:spPr>
            <a:xfrm flipH="1">
              <a:off x="8164094"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2" name="直接连接符 151"/>
            <p:cNvCxnSpPr/>
            <p:nvPr userDrawn="1"/>
          </p:nvCxnSpPr>
          <p:spPr>
            <a:xfrm flipH="1">
              <a:off x="8067160"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6" name="直接连接符 152"/>
            <p:cNvCxnSpPr/>
            <p:nvPr userDrawn="1"/>
          </p:nvCxnSpPr>
          <p:spPr>
            <a:xfrm flipH="1">
              <a:off x="8261028"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7" name="直接连接符 153"/>
            <p:cNvCxnSpPr/>
            <p:nvPr userDrawn="1"/>
          </p:nvCxnSpPr>
          <p:spPr>
            <a:xfrm flipH="1">
              <a:off x="845489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8" name="直接连接符 154"/>
            <p:cNvCxnSpPr/>
            <p:nvPr userDrawn="1"/>
          </p:nvCxnSpPr>
          <p:spPr>
            <a:xfrm flipH="1">
              <a:off x="8648764"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9" name="直接连接符 155"/>
            <p:cNvCxnSpPr/>
            <p:nvPr userDrawn="1"/>
          </p:nvCxnSpPr>
          <p:spPr>
            <a:xfrm flipH="1">
              <a:off x="8842632"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0" name="直接连接符 156"/>
            <p:cNvCxnSpPr/>
            <p:nvPr userDrawn="1"/>
          </p:nvCxnSpPr>
          <p:spPr>
            <a:xfrm flipH="1">
              <a:off x="903649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1" name="直接连接符 158"/>
            <p:cNvCxnSpPr/>
            <p:nvPr userDrawn="1"/>
          </p:nvCxnSpPr>
          <p:spPr>
            <a:xfrm flipH="1">
              <a:off x="7776358"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2" name="直接连接符 163"/>
            <p:cNvCxnSpPr/>
            <p:nvPr userDrawn="1"/>
          </p:nvCxnSpPr>
          <p:spPr>
            <a:xfrm flipH="1">
              <a:off x="8357962"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3" name="直接连接符 164"/>
            <p:cNvCxnSpPr/>
            <p:nvPr userDrawn="1"/>
          </p:nvCxnSpPr>
          <p:spPr>
            <a:xfrm flipH="1">
              <a:off x="8551830"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4" name="直接连接符 165"/>
            <p:cNvCxnSpPr/>
            <p:nvPr userDrawn="1"/>
          </p:nvCxnSpPr>
          <p:spPr>
            <a:xfrm flipH="1">
              <a:off x="8745698"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5" name="直接连接符 166"/>
            <p:cNvCxnSpPr/>
            <p:nvPr userDrawn="1"/>
          </p:nvCxnSpPr>
          <p:spPr>
            <a:xfrm flipH="1">
              <a:off x="6613150"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6" name="直接连接符 167"/>
            <p:cNvCxnSpPr/>
            <p:nvPr userDrawn="1"/>
          </p:nvCxnSpPr>
          <p:spPr>
            <a:xfrm flipH="1">
              <a:off x="893956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7" name="直接连接符 171"/>
            <p:cNvCxnSpPr/>
            <p:nvPr userDrawn="1"/>
          </p:nvCxnSpPr>
          <p:spPr>
            <a:xfrm flipH="1">
              <a:off x="7194754"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8" name="直接连接符 173"/>
            <p:cNvCxnSpPr/>
            <p:nvPr userDrawn="1"/>
          </p:nvCxnSpPr>
          <p:spPr>
            <a:xfrm flipH="1">
              <a:off x="748555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9" name="直接连接符 174"/>
            <p:cNvCxnSpPr/>
            <p:nvPr userDrawn="1"/>
          </p:nvCxnSpPr>
          <p:spPr>
            <a:xfrm flipH="1">
              <a:off x="7679424"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2052" name="Picture 4" descr="C:\Users\zhangwenyue\Desktop\东华PPT模板\P4-5\3.jpg"/>
          <p:cNvPicPr>
            <a:picLocks noChangeAspect="1" noChangeArrowheads="1"/>
          </p:cNvPicPr>
          <p:nvPr userDrawn="1"/>
        </p:nvPicPr>
        <p:blipFill>
          <a:blip r:embed="rId2" cstate="print"/>
          <a:srcRect/>
          <a:stretch>
            <a:fillRect/>
          </a:stretch>
        </p:blipFill>
        <p:spPr bwMode="auto">
          <a:xfrm>
            <a:off x="-13258800" y="-19069050"/>
            <a:ext cx="2160000" cy="3240000"/>
          </a:xfrm>
          <a:prstGeom prst="rect">
            <a:avLst/>
          </a:prstGeom>
          <a:noFill/>
        </p:spPr>
      </p:pic>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rgbClr val="990000"/>
        </a:solidFill>
        <a:effectLst/>
      </p:bgPr>
    </p:bg>
    <p:spTree>
      <p:nvGrpSpPr>
        <p:cNvPr id="1" name=""/>
        <p:cNvGrpSpPr/>
        <p:nvPr/>
      </p:nvGrpSpPr>
      <p:grpSpPr>
        <a:xfrm>
          <a:off x="0" y="0"/>
          <a:ext cx="0" cy="0"/>
          <a:chOff x="0" y="0"/>
          <a:chExt cx="0" cy="0"/>
        </a:xfrm>
      </p:grpSpPr>
      <p:sp>
        <p:nvSpPr>
          <p:cNvPr id="6" name="矩形 5"/>
          <p:cNvSpPr/>
          <p:nvPr userDrawn="1"/>
        </p:nvSpPr>
        <p:spPr>
          <a:xfrm>
            <a:off x="-1" y="-6856"/>
            <a:ext cx="9135489" cy="5150356"/>
          </a:xfrm>
          <a:prstGeom prst="rect">
            <a:avLst/>
          </a:prstGeom>
          <a:solidFill>
            <a:srgbClr val="952C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8" name="组 7"/>
          <p:cNvGrpSpPr/>
          <p:nvPr userDrawn="1"/>
        </p:nvGrpSpPr>
        <p:grpSpPr>
          <a:xfrm>
            <a:off x="6372200" y="4350115"/>
            <a:ext cx="2592288" cy="144016"/>
            <a:chOff x="6516216" y="4533968"/>
            <a:chExt cx="2592288" cy="144016"/>
          </a:xfrm>
        </p:grpSpPr>
        <p:cxnSp>
          <p:nvCxnSpPr>
            <p:cNvPr id="139" name="直接连接符 138"/>
            <p:cNvCxnSpPr/>
            <p:nvPr userDrawn="1"/>
          </p:nvCxnSpPr>
          <p:spPr>
            <a:xfrm flipH="1">
              <a:off x="651621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userDrawn="1"/>
          </p:nvCxnSpPr>
          <p:spPr>
            <a:xfrm flipH="1">
              <a:off x="6710084"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userDrawn="1"/>
          </p:nvCxnSpPr>
          <p:spPr>
            <a:xfrm flipH="1">
              <a:off x="6807018"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userDrawn="1"/>
          </p:nvCxnSpPr>
          <p:spPr>
            <a:xfrm flipH="1">
              <a:off x="6903952"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userDrawn="1"/>
          </p:nvCxnSpPr>
          <p:spPr>
            <a:xfrm flipH="1">
              <a:off x="700088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userDrawn="1"/>
          </p:nvCxnSpPr>
          <p:spPr>
            <a:xfrm flipH="1">
              <a:off x="7097820"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userDrawn="1"/>
          </p:nvCxnSpPr>
          <p:spPr>
            <a:xfrm flipH="1">
              <a:off x="7291688"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userDrawn="1"/>
          </p:nvCxnSpPr>
          <p:spPr>
            <a:xfrm flipH="1">
              <a:off x="7582490"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userDrawn="1"/>
          </p:nvCxnSpPr>
          <p:spPr>
            <a:xfrm flipH="1">
              <a:off x="7388622"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userDrawn="1"/>
          </p:nvCxnSpPr>
          <p:spPr>
            <a:xfrm flipH="1">
              <a:off x="7873292"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userDrawn="1"/>
          </p:nvCxnSpPr>
          <p:spPr>
            <a:xfrm flipH="1">
              <a:off x="797022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userDrawn="1"/>
          </p:nvCxnSpPr>
          <p:spPr>
            <a:xfrm flipH="1">
              <a:off x="8164094"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userDrawn="1"/>
          </p:nvCxnSpPr>
          <p:spPr>
            <a:xfrm flipH="1">
              <a:off x="8067160"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userDrawn="1"/>
          </p:nvCxnSpPr>
          <p:spPr>
            <a:xfrm flipH="1">
              <a:off x="8261028"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userDrawn="1"/>
          </p:nvCxnSpPr>
          <p:spPr>
            <a:xfrm flipH="1">
              <a:off x="845489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userDrawn="1"/>
          </p:nvCxnSpPr>
          <p:spPr>
            <a:xfrm flipH="1">
              <a:off x="8648764"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6" name="直接连接符 155"/>
            <p:cNvCxnSpPr/>
            <p:nvPr userDrawn="1"/>
          </p:nvCxnSpPr>
          <p:spPr>
            <a:xfrm flipH="1">
              <a:off x="8842632"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userDrawn="1"/>
          </p:nvCxnSpPr>
          <p:spPr>
            <a:xfrm flipH="1">
              <a:off x="903649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userDrawn="1"/>
          </p:nvCxnSpPr>
          <p:spPr>
            <a:xfrm flipH="1">
              <a:off x="7776358"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userDrawn="1"/>
          </p:nvCxnSpPr>
          <p:spPr>
            <a:xfrm flipH="1">
              <a:off x="8357962"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5" name="直接连接符 164"/>
            <p:cNvCxnSpPr/>
            <p:nvPr userDrawn="1"/>
          </p:nvCxnSpPr>
          <p:spPr>
            <a:xfrm flipH="1">
              <a:off x="8551830"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6" name="直接连接符 165"/>
            <p:cNvCxnSpPr/>
            <p:nvPr userDrawn="1"/>
          </p:nvCxnSpPr>
          <p:spPr>
            <a:xfrm flipH="1">
              <a:off x="8745698"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userDrawn="1"/>
          </p:nvCxnSpPr>
          <p:spPr>
            <a:xfrm flipH="1">
              <a:off x="6613150"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p:nvPr userDrawn="1"/>
          </p:nvCxnSpPr>
          <p:spPr>
            <a:xfrm flipH="1">
              <a:off x="893956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2" name="直接连接符 171"/>
            <p:cNvCxnSpPr/>
            <p:nvPr userDrawn="1"/>
          </p:nvCxnSpPr>
          <p:spPr>
            <a:xfrm flipH="1">
              <a:off x="7194754"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userDrawn="1"/>
          </p:nvCxnSpPr>
          <p:spPr>
            <a:xfrm flipH="1">
              <a:off x="748555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userDrawn="1"/>
          </p:nvCxnSpPr>
          <p:spPr>
            <a:xfrm flipH="1">
              <a:off x="7679424"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89" name="组 88"/>
          <p:cNvGrpSpPr/>
          <p:nvPr userDrawn="1"/>
        </p:nvGrpSpPr>
        <p:grpSpPr>
          <a:xfrm>
            <a:off x="179512" y="4350434"/>
            <a:ext cx="2592288" cy="144016"/>
            <a:chOff x="6516216" y="4533968"/>
            <a:chExt cx="2592288" cy="144016"/>
          </a:xfrm>
        </p:grpSpPr>
        <p:cxnSp>
          <p:nvCxnSpPr>
            <p:cNvPr id="90" name="直接连接符 138"/>
            <p:cNvCxnSpPr/>
            <p:nvPr userDrawn="1"/>
          </p:nvCxnSpPr>
          <p:spPr>
            <a:xfrm flipH="1">
              <a:off x="651621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直接连接符 140"/>
            <p:cNvCxnSpPr/>
            <p:nvPr userDrawn="1"/>
          </p:nvCxnSpPr>
          <p:spPr>
            <a:xfrm flipH="1">
              <a:off x="6710084"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直接连接符 141"/>
            <p:cNvCxnSpPr/>
            <p:nvPr userDrawn="1"/>
          </p:nvCxnSpPr>
          <p:spPr>
            <a:xfrm flipH="1">
              <a:off x="6807018"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3" name="直接连接符 142"/>
            <p:cNvCxnSpPr/>
            <p:nvPr userDrawn="1"/>
          </p:nvCxnSpPr>
          <p:spPr>
            <a:xfrm flipH="1">
              <a:off x="6903952"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4" name="直接连接符 143"/>
            <p:cNvCxnSpPr/>
            <p:nvPr userDrawn="1"/>
          </p:nvCxnSpPr>
          <p:spPr>
            <a:xfrm flipH="1">
              <a:off x="700088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直接连接符 144"/>
            <p:cNvCxnSpPr/>
            <p:nvPr userDrawn="1"/>
          </p:nvCxnSpPr>
          <p:spPr>
            <a:xfrm flipH="1">
              <a:off x="7097820"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6" name="直接连接符 145"/>
            <p:cNvCxnSpPr/>
            <p:nvPr userDrawn="1"/>
          </p:nvCxnSpPr>
          <p:spPr>
            <a:xfrm flipH="1">
              <a:off x="7291688"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7" name="直接连接符 146"/>
            <p:cNvCxnSpPr/>
            <p:nvPr userDrawn="1"/>
          </p:nvCxnSpPr>
          <p:spPr>
            <a:xfrm flipH="1">
              <a:off x="7582490"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8" name="直接连接符 147"/>
            <p:cNvCxnSpPr/>
            <p:nvPr userDrawn="1"/>
          </p:nvCxnSpPr>
          <p:spPr>
            <a:xfrm flipH="1">
              <a:off x="7388622"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9" name="直接连接符 148"/>
            <p:cNvCxnSpPr/>
            <p:nvPr userDrawn="1"/>
          </p:nvCxnSpPr>
          <p:spPr>
            <a:xfrm flipH="1">
              <a:off x="7873292"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0" name="直接连接符 149"/>
            <p:cNvCxnSpPr/>
            <p:nvPr userDrawn="1"/>
          </p:nvCxnSpPr>
          <p:spPr>
            <a:xfrm flipH="1">
              <a:off x="797022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1" name="直接连接符 150"/>
            <p:cNvCxnSpPr/>
            <p:nvPr userDrawn="1"/>
          </p:nvCxnSpPr>
          <p:spPr>
            <a:xfrm flipH="1">
              <a:off x="8164094"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2" name="直接连接符 151"/>
            <p:cNvCxnSpPr/>
            <p:nvPr userDrawn="1"/>
          </p:nvCxnSpPr>
          <p:spPr>
            <a:xfrm flipH="1">
              <a:off x="8067160"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6" name="直接连接符 152"/>
            <p:cNvCxnSpPr/>
            <p:nvPr userDrawn="1"/>
          </p:nvCxnSpPr>
          <p:spPr>
            <a:xfrm flipH="1">
              <a:off x="8261028"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7" name="直接连接符 153"/>
            <p:cNvCxnSpPr/>
            <p:nvPr userDrawn="1"/>
          </p:nvCxnSpPr>
          <p:spPr>
            <a:xfrm flipH="1">
              <a:off x="845489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8" name="直接连接符 154"/>
            <p:cNvCxnSpPr/>
            <p:nvPr userDrawn="1"/>
          </p:nvCxnSpPr>
          <p:spPr>
            <a:xfrm flipH="1">
              <a:off x="8648764"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9" name="直接连接符 155"/>
            <p:cNvCxnSpPr/>
            <p:nvPr userDrawn="1"/>
          </p:nvCxnSpPr>
          <p:spPr>
            <a:xfrm flipH="1">
              <a:off x="8842632"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0" name="直接连接符 156"/>
            <p:cNvCxnSpPr/>
            <p:nvPr userDrawn="1"/>
          </p:nvCxnSpPr>
          <p:spPr>
            <a:xfrm flipH="1">
              <a:off x="903649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1" name="直接连接符 158"/>
            <p:cNvCxnSpPr/>
            <p:nvPr userDrawn="1"/>
          </p:nvCxnSpPr>
          <p:spPr>
            <a:xfrm flipH="1">
              <a:off x="7776358"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2" name="直接连接符 163"/>
            <p:cNvCxnSpPr/>
            <p:nvPr userDrawn="1"/>
          </p:nvCxnSpPr>
          <p:spPr>
            <a:xfrm flipH="1">
              <a:off x="8357962"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3" name="直接连接符 164"/>
            <p:cNvCxnSpPr/>
            <p:nvPr userDrawn="1"/>
          </p:nvCxnSpPr>
          <p:spPr>
            <a:xfrm flipH="1">
              <a:off x="8551830"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4" name="直接连接符 165"/>
            <p:cNvCxnSpPr/>
            <p:nvPr userDrawn="1"/>
          </p:nvCxnSpPr>
          <p:spPr>
            <a:xfrm flipH="1">
              <a:off x="8745698"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5" name="直接连接符 166"/>
            <p:cNvCxnSpPr/>
            <p:nvPr userDrawn="1"/>
          </p:nvCxnSpPr>
          <p:spPr>
            <a:xfrm flipH="1">
              <a:off x="6613150"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6" name="直接连接符 167"/>
            <p:cNvCxnSpPr/>
            <p:nvPr userDrawn="1"/>
          </p:nvCxnSpPr>
          <p:spPr>
            <a:xfrm flipH="1">
              <a:off x="893956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7" name="直接连接符 171"/>
            <p:cNvCxnSpPr/>
            <p:nvPr userDrawn="1"/>
          </p:nvCxnSpPr>
          <p:spPr>
            <a:xfrm flipH="1">
              <a:off x="7194754"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8" name="直接连接符 173"/>
            <p:cNvCxnSpPr/>
            <p:nvPr userDrawn="1"/>
          </p:nvCxnSpPr>
          <p:spPr>
            <a:xfrm flipH="1">
              <a:off x="7485556"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9" name="直接连接符 174"/>
            <p:cNvCxnSpPr/>
            <p:nvPr userDrawn="1"/>
          </p:nvCxnSpPr>
          <p:spPr>
            <a:xfrm flipH="1">
              <a:off x="7679424" y="4533968"/>
              <a:ext cx="72008" cy="144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61" name="Picture 2" descr="C:\Users\Administrator\Desktop\未标题-2.png"/>
          <p:cNvPicPr>
            <a:picLocks noChangeAspect="1" noChangeArrowheads="1"/>
          </p:cNvPicPr>
          <p:nvPr userDrawn="1"/>
        </p:nvPicPr>
        <p:blipFill>
          <a:blip r:embed="rId2" cstate="print"/>
          <a:srcRect/>
          <a:stretch>
            <a:fillRect/>
          </a:stretch>
        </p:blipFill>
        <p:spPr bwMode="auto">
          <a:xfrm>
            <a:off x="2885281" y="2787774"/>
            <a:ext cx="3373438" cy="1905000"/>
          </a:xfrm>
          <a:prstGeom prst="rect">
            <a:avLst/>
          </a:prstGeom>
          <a:noFill/>
        </p:spPr>
      </p:pic>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121607B-2C00-4C53-AC9C-C94EA6A9CFA9}" type="datetime1">
              <a:rPr lang="zh-CN" altLang="en-US" smtClean="0"/>
              <a:t>2026/10/23</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0C913308-F349-4B6D-A68A-DD1791B4A57B}" type="slidenum">
              <a:rPr lang="zh-CN" altLang="en-US" smtClean="0"/>
              <a:t>‹#›</a:t>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4767263"/>
            <a:ext cx="2057400" cy="273844"/>
          </a:xfrm>
        </p:spPr>
        <p:txBody>
          <a:bodyPr/>
          <a:lstStyle/>
          <a:p>
            <a:fld id="{6F79BD1C-BEA7-4B17-9F05-CD17E1B19350}" type="datetimeFigureOut">
              <a:rPr lang="zh-CN" altLang="en-US" smtClean="0"/>
              <a:t>2026/10/23</a:t>
            </a:fld>
            <a:endParaRPr lang="zh-CN" altLang="en-US"/>
          </a:p>
        </p:txBody>
      </p:sp>
      <p:sp>
        <p:nvSpPr>
          <p:cNvPr id="3" name="Footer Placeholder 2"/>
          <p:cNvSpPr>
            <a:spLocks noGrp="1"/>
          </p:cNvSpPr>
          <p:nvPr>
            <p:ph type="ftr" sz="quarter" idx="11"/>
          </p:nvPr>
        </p:nvSpPr>
        <p:spPr>
          <a:xfrm>
            <a:off x="3028950" y="4767263"/>
            <a:ext cx="3086100" cy="273844"/>
          </a:xfrm>
        </p:spPr>
        <p:txBody>
          <a:bodyPr/>
          <a:lstStyle/>
          <a:p>
            <a:endParaRPr lang="zh-CN" altLang="en-US"/>
          </a:p>
        </p:txBody>
      </p:sp>
      <p:sp>
        <p:nvSpPr>
          <p:cNvPr id="4" name="Slide Number Placeholder 3"/>
          <p:cNvSpPr>
            <a:spLocks noGrp="1"/>
          </p:cNvSpPr>
          <p:nvPr>
            <p:ph type="sldNum" sz="quarter" idx="12"/>
          </p:nvPr>
        </p:nvSpPr>
        <p:spPr>
          <a:xfrm>
            <a:off x="6457950" y="4767263"/>
            <a:ext cx="2057400" cy="273844"/>
          </a:xfrm>
        </p:spPr>
        <p:txBody>
          <a:bodyPr/>
          <a:lstStyle/>
          <a:p>
            <a:fld id="{BD1DFDFF-C2B3-481A-BF65-5E9CEBFBA804}" type="slidenum">
              <a:rPr lang="zh-CN" altLang="en-US" smtClean="0"/>
              <a:t>‹#›</a:t>
            </a:fld>
            <a:endParaRPr lang="zh-CN" alt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02443" y="1"/>
            <a:ext cx="8137922" cy="771524"/>
          </a:xfrm>
        </p:spPr>
        <p:txBody>
          <a:bodyPr/>
          <a:lstStyle>
            <a:lvl1pPr>
              <a:defRPr/>
            </a:lvl1pPr>
          </a:lstStyle>
          <a:p>
            <a:r>
              <a:rPr lang="en-US" altLang="zh-CN" dirty="0"/>
              <a:t>Click to edit Master title style</a:t>
            </a:r>
            <a:endParaRPr lang="zh-CN" altLang="en-US" dirty="0"/>
          </a:p>
        </p:txBody>
      </p:sp>
      <p:sp>
        <p:nvSpPr>
          <p:cNvPr id="3" name="日期占位符 2"/>
          <p:cNvSpPr>
            <a:spLocks noGrp="1"/>
          </p:cNvSpPr>
          <p:nvPr>
            <p:ph type="dt" sz="half" idx="10"/>
          </p:nvPr>
        </p:nvSpPr>
        <p:spPr>
          <a:xfrm>
            <a:off x="4051299" y="4680347"/>
            <a:ext cx="1041402" cy="154786"/>
          </a:xfrm>
        </p:spPr>
        <p:txBody>
          <a:bodyPr/>
          <a:lstStyle/>
          <a:p>
            <a:fld id="{6489D9C7-5DC6-4263-87FF-7C99F6FB63C3}" type="datetime1">
              <a:rPr lang="zh-CN" altLang="en-US" smtClean="0"/>
              <a:t>2026/10/23</a:t>
            </a:fld>
            <a:endParaRPr lang="zh-CN" altLang="en-US"/>
          </a:p>
        </p:txBody>
      </p:sp>
      <p:sp>
        <p:nvSpPr>
          <p:cNvPr id="4" name="页脚占位符 3"/>
          <p:cNvSpPr>
            <a:spLocks noGrp="1"/>
          </p:cNvSpPr>
          <p:nvPr>
            <p:ph type="ftr" sz="quarter" idx="11"/>
          </p:nvPr>
        </p:nvSpPr>
        <p:spPr>
          <a:xfrm>
            <a:off x="502443" y="4680347"/>
            <a:ext cx="3105151" cy="154786"/>
          </a:xfrm>
        </p:spPr>
        <p:txBody>
          <a:bodyPr/>
          <a:lstStyle/>
          <a:p>
            <a:r>
              <a:rPr lang="en-US" altLang="zh-CN"/>
              <a:t>www.islide.cc</a:t>
            </a:r>
            <a:endParaRPr lang="zh-CN" altLang="en-US" dirty="0"/>
          </a:p>
        </p:txBody>
      </p:sp>
      <p:sp>
        <p:nvSpPr>
          <p:cNvPr id="5" name="灯片编号占位符 4"/>
          <p:cNvSpPr>
            <a:spLocks noGrp="1"/>
          </p:cNvSpPr>
          <p:nvPr>
            <p:ph type="sldNum" sz="quarter" idx="12"/>
          </p:nvPr>
        </p:nvSpPr>
        <p:spPr>
          <a:xfrm>
            <a:off x="6457949" y="4680347"/>
            <a:ext cx="2182416" cy="154786"/>
          </a:xfrm>
        </p:spPr>
        <p:txBody>
          <a:bodyPr/>
          <a:lstStyle/>
          <a:p>
            <a:fld id="{5DD3DB80-B894-403A-B48E-6FDC1A72010E}" type="slidenum">
              <a:rPr lang="zh-CN" altLang="en-US" smtClean="0"/>
              <a:t>‹#›</a:t>
            </a:fld>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  <Relationship Id="rId2" Type="http://schemas.openxmlformats.org/officeDocument/2006/relationships/notesSlide" Target="../notesSlides/notesSlide1_tf1.xml"/>
</Relationships>
</file>

<file path=ppt/slides/_rels/slide2.xml.rels><?xml version='1.0' encoding='utf-8'?>
<Relationships xmlns="http://schemas.openxmlformats.org/package/2006/relationships"><Relationship Id="rId2" Type="http://schemas.openxmlformats.org/officeDocument/2006/relationships/slideLayout" Target="../slideLayouts/slideLayout11.xml" /><Relationship Id="rId1" Type="http://schemas.openxmlformats.org/officeDocument/2006/relationships/tags" Target="../tags/tag2_tf1.xml" /><Relationship Id="rId4" Type="http://schemas.openxmlformats.org/officeDocument/2006/relationships/image" Target="../media/image6.png" />  <Relationship Id="rId5" Type="http://schemas.openxmlformats.org/officeDocument/2006/relationships/notesSlide" Target="../notesSlides/notesSlide3_tf1.xml"/>
</Relationships>
</file>

<file path=ppt/slides/_rels/slide3.xml.rels><?xml version='1.0' encoding='utf-8'?>
<Relationships xmlns="http://schemas.openxmlformats.org/package/2006/relationships"><Relationship Id="rId2" Type="http://schemas.openxmlformats.org/officeDocument/2006/relationships/slideLayout" Target="../slideLayouts/slideLayout11.xml" /><Relationship Id="rId1" Type="http://schemas.openxmlformats.org/officeDocument/2006/relationships/tags" Target="../tags/tag2_tf2.xml" /><Relationship Id="rId4" Type="http://schemas.openxmlformats.org/officeDocument/2006/relationships/image" Target="../media/image6.png" />  <Relationship Id="rId5" Type="http://schemas.openxmlformats.org/officeDocument/2006/relationships/notesSlide" Target="../notesSlides/notesSlide3_tf2.xml"/>
</Relationships>
</file>

<file path=ppt/slides/_rels/slide4.xml.rels><?xml version='1.0' encoding='utf-8'?>
<Relationships xmlns="http://schemas.openxmlformats.org/package/2006/relationships"><Relationship Id="rId2" Type="http://schemas.openxmlformats.org/officeDocument/2006/relationships/slideLayout" Target="../slideLayouts/slideLayout11.xml" /><Relationship Id="rId1" Type="http://schemas.openxmlformats.org/officeDocument/2006/relationships/tags" Target="../tags/tag2_tf3.xml" /><Relationship Id="rId4" Type="http://schemas.openxmlformats.org/officeDocument/2006/relationships/image" Target="../media/image6.png" />  <Relationship Id="rId5" Type="http://schemas.openxmlformats.org/officeDocument/2006/relationships/notesSlide" Target="../notesSlides/notesSlide3_tf3.xml"/>
</Relationships>
</file>

<file path=ppt/slides/_rels/slide5.xml.rels><?xml version='1.0' encoding='utf-8'?>
<Relationships xmlns="http://schemas.openxmlformats.org/package/2006/relationships"><Relationship Id="rId2" Type="http://schemas.openxmlformats.org/officeDocument/2006/relationships/slideLayout" Target="../slideLayouts/slideLayout11.xml" /><Relationship Id="rId1" Type="http://schemas.openxmlformats.org/officeDocument/2006/relationships/tags" Target="../tags/tag2_tf4.xml" /><Relationship Id="rId4" Type="http://schemas.openxmlformats.org/officeDocument/2006/relationships/image" Target="../media/image6.png" />  <Relationship Id="rId5" Type="http://schemas.openxmlformats.org/officeDocument/2006/relationships/notesSlide" Target="../notesSlides/notesSlide3_tf4.xml"/>
</Relationships>
</file>

<file path=ppt/slides/_rels/slide6.xml.rels><?xml version='1.0' encoding='utf-8'?>
<Relationships xmlns="http://schemas.openxmlformats.org/package/2006/relationships"><Relationship Id="rId2" Type="http://schemas.openxmlformats.org/officeDocument/2006/relationships/slideLayout" Target="../slideLayouts/slideLayout11.xml" /><Relationship Id="rId1" Type="http://schemas.openxmlformats.org/officeDocument/2006/relationships/tags" Target="../tags/tag2_tf5.xml" /><Relationship Id="rId4" Type="http://schemas.openxmlformats.org/officeDocument/2006/relationships/image" Target="../media/image6.png" />  <Relationship Id="rId5" Type="http://schemas.openxmlformats.org/officeDocument/2006/relationships/notesSlide" Target="../notesSlides/notesSlide3_tf5.xml"/>
</Relationships>
</file>

<file path=ppt/slides/_rels/slide7.xml.rels><?xml version='1.0' encoding='utf-8'?>
<Relationships xmlns="http://schemas.openxmlformats.org/package/2006/relationships"><Relationship Id="rId2" Type="http://schemas.openxmlformats.org/officeDocument/2006/relationships/slideLayout" Target="../slideLayouts/slideLayout11.xml" /><Relationship Id="rId1" Type="http://schemas.openxmlformats.org/officeDocument/2006/relationships/tags" Target="../tags/tag2_tf6.xml" /><Relationship Id="rId4" Type="http://schemas.openxmlformats.org/officeDocument/2006/relationships/image" Target="../media/image6.png" />  <Relationship Id="rId5" Type="http://schemas.openxmlformats.org/officeDocument/2006/relationships/notesSlide" Target="../notesSlides/notesSlide3_tf6.xml"/>
</Relationships>
</file>

<file path=ppt/slides/_rels/slide8.xml.rels><?xml version='1.0' encoding='utf-8'?>
<Relationships xmlns="http://schemas.openxmlformats.org/package/2006/relationships"><Relationship Id="rId2" Type="http://schemas.openxmlformats.org/officeDocument/2006/relationships/slideLayout" Target="../slideLayouts/slideLayout11.xml" /><Relationship Id="rId1" Type="http://schemas.openxmlformats.org/officeDocument/2006/relationships/tags" Target="../tags/tag2_tf7.xml" /><Relationship Id="rId4" Type="http://schemas.openxmlformats.org/officeDocument/2006/relationships/image" Target="../media/image6.png" />  <Relationship Id="rId5" Type="http://schemas.openxmlformats.org/officeDocument/2006/relationships/notesSlide" Target="../notesSlides/notesSlide3_tf7.xml"/>
</Relationships>
</file>

<file path=ppt/slides/_rels/slide9.xml.rels><?xml version='1.0' encoding='utf-8'?>
<Relationships xmlns="http://schemas.openxmlformats.org/package/2006/relationships"><Relationship Id="rId2" Type="http://schemas.openxmlformats.org/officeDocument/2006/relationships/slideLayout" Target="../slideLayouts/slideLayout11.xml" /><Relationship Id="rId1" Type="http://schemas.openxmlformats.org/officeDocument/2006/relationships/tags" Target="../tags/tag2_tf8.xml" /><Relationship Id="rId4" Type="http://schemas.openxmlformats.org/officeDocument/2006/relationships/image" Target="../media/image6.png" />  <Relationship Id="rId5" Type="http://schemas.openxmlformats.org/officeDocument/2006/relationships/notesSlide" Target="../notesSlides/notesSlide3_tf8.xml"/>
</Relationships>
</file>

<file path=ppt/slides/_rels/slide10.xml.rels><?xml version='1.0' encoding='utf-8'?>
<Relationships xmlns="http://schemas.openxmlformats.org/package/2006/relationships"><Relationship Id="rId2" Type="http://schemas.openxmlformats.org/officeDocument/2006/relationships/slideLayout" Target="../slideLayouts/slideLayout11.xml" /><Relationship Id="rId1" Type="http://schemas.openxmlformats.org/officeDocument/2006/relationships/tags" Target="../tags/tag2_tf9.xml" /><Relationship Id="rId4" Type="http://schemas.openxmlformats.org/officeDocument/2006/relationships/image" Target="../media/image6.png" />  <Relationship Id="rId5" Type="http://schemas.openxmlformats.org/officeDocument/2006/relationships/notesSlide" Target="../notesSlides/notesSlide3_tf9.xml"/>
</Relationships>
</file>

<file path=ppt/slides/_rels/slide11.xml.rels><?xml version='1.0' encoding='utf-8'?>
<Relationships xmlns="http://schemas.openxmlformats.org/package/2006/relationships"><Relationship Id="rId2" Type="http://schemas.openxmlformats.org/officeDocument/2006/relationships/slideLayout" Target="../slideLayouts/slideLayout11.xml" /><Relationship Id="rId1" Type="http://schemas.openxmlformats.org/officeDocument/2006/relationships/tags" Target="../tags/tag2_tf10.xml" /><Relationship Id="rId4" Type="http://schemas.openxmlformats.org/officeDocument/2006/relationships/image" Target="../media/image6.png" />  <Relationship Id="rId5" Type="http://schemas.openxmlformats.org/officeDocument/2006/relationships/notesSlide" Target="../notesSlides/notesSlide3_tf10.xml"/>
</Relationships>
</file>

<file path=ppt/slides/_rels/slide12.xml.rels><?xml version='1.0' encoding='utf-8'?>
<Relationships xmlns="http://schemas.openxmlformats.org/package/2006/relationships"><Relationship Id="rId2" Type="http://schemas.openxmlformats.org/officeDocument/2006/relationships/slideLayout" Target="../slideLayouts/slideLayout11.xml" /><Relationship Id="rId1" Type="http://schemas.openxmlformats.org/officeDocument/2006/relationships/tags" Target="../tags/tag2_tf11.xml" /><Relationship Id="rId4" Type="http://schemas.openxmlformats.org/officeDocument/2006/relationships/image" Target="../media/image6.png" />  <Relationship Id="rId5" Type="http://schemas.openxmlformats.org/officeDocument/2006/relationships/notesSlide" Target="../notesSlides/notesSlide3_tf11.xml"/>
</Relationships>
</file>

<file path=ppt/slides/_rels/slide13.xml.rels><?xml version='1.0' encoding='utf-8'?>
<Relationships xmlns="http://schemas.openxmlformats.org/package/2006/relationships"><Relationship Id="rId2" Type="http://schemas.openxmlformats.org/officeDocument/2006/relationships/slideLayout" Target="../slideLayouts/slideLayout11.xml" /><Relationship Id="rId1" Type="http://schemas.openxmlformats.org/officeDocument/2006/relationships/tags" Target="../tags/tag2_tf12.xml" /><Relationship Id="rId4" Type="http://schemas.openxmlformats.org/officeDocument/2006/relationships/image" Target="../media/image6.png" />  <Relationship Id="rId5" Type="http://schemas.openxmlformats.org/officeDocument/2006/relationships/notesSlide" Target="../notesSlides/notesSlide3_tf12.xml"/>
</Relationships>
</file>

<file path=ppt/slides/_rels/slide14.xml.rels><?xml version='1.0' encoding='utf-8'?>
<Relationships xmlns="http://schemas.openxmlformats.org/package/2006/relationships"><Relationship Id="rId2" Type="http://schemas.openxmlformats.org/officeDocument/2006/relationships/slideLayout" Target="../slideLayouts/slideLayout11.xml" /><Relationship Id="rId1" Type="http://schemas.openxmlformats.org/officeDocument/2006/relationships/tags" Target="../tags/tag2_tf13.xml" /><Relationship Id="rId4" Type="http://schemas.openxmlformats.org/officeDocument/2006/relationships/image" Target="../media/image6.png" />  <Relationship Id="rId5" Type="http://schemas.openxmlformats.org/officeDocument/2006/relationships/notesSlide" Target="../notesSlides/notesSlide3_tf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860768" y="990357"/>
            <a:ext cx="752765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860768" y="2427481"/>
            <a:ext cx="752765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300192" y="3765316"/>
            <a:ext cx="2016224" cy="738664"/>
          </a:xfrm>
          <a:prstGeom prst="rect">
            <a:avLst/>
          </a:prstGeom>
          <a:noFill/>
        </p:spPr>
        <p:txBody>
          <a:bodyPr wrap="square">
            <a:spAutoFit/>
          </a:bodyPr>
          <a:lstStyle/>
          <a:p>
            <a:r>
              <a:rPr lang="zh-CN" altLang="en-US" sz="1400" b="1" dirty="0">
                <a:solidFill>
                  <a:schemeClr val="bg1"/>
                </a:solidFill>
                <a:latin typeface="微软雅黑" panose="020B0503020204020204" charset="-122"/>
                <a:ea typeface="微软雅黑" panose="020B0503020204020204" charset="-122"/>
              </a:rPr>
              <a:t>汇报人</a:t>
            </a:r>
            <a:r>
              <a:rPr lang="zh-CN" altLang="en-US" sz="1400" dirty="0">
                <a:solidFill>
                  <a:schemeClr val="bg1"/>
                </a:solidFill>
                <a:latin typeface="微软雅黑" panose="020B0503020204020204" charset="-122"/>
                <a:ea typeface="微软雅黑" panose="020B0503020204020204" charset="-122"/>
              </a:rPr>
              <a:t>：褚生    </a:t>
            </a:r>
            <a:endParaRPr lang="en-US" altLang="zh-CN" sz="1400" dirty="0">
              <a:solidFill>
                <a:schemeClr val="bg1"/>
              </a:solidFill>
              <a:latin typeface="微软雅黑" panose="020B0503020204020204" charset="-122"/>
              <a:ea typeface="微软雅黑" panose="020B0503020204020204" charset="-122"/>
            </a:endParaRPr>
          </a:p>
          <a:p>
            <a:r>
              <a:rPr lang="zh-CN" altLang="en-US" sz="1400" b="1" dirty="0">
                <a:solidFill>
                  <a:schemeClr val="bg1"/>
                </a:solidFill>
                <a:latin typeface="微软雅黑" panose="020B0503020204020204" charset="-122"/>
                <a:ea typeface="微软雅黑" panose="020B0503020204020204" charset="-122"/>
              </a:rPr>
              <a:t>导  师 </a:t>
            </a:r>
            <a:r>
              <a:rPr lang="zh-CN" altLang="en-US" sz="1400" dirty="0">
                <a:solidFill>
                  <a:schemeClr val="bg1"/>
                </a:solidFill>
                <a:latin typeface="微软雅黑" panose="020B0503020204020204" charset="-122"/>
                <a:ea typeface="微软雅黑" panose="020B0503020204020204" charset="-122"/>
              </a:rPr>
              <a:t>：王新厚教授 </a:t>
            </a:r>
            <a:endParaRPr lang="en-US" altLang="zh-CN" sz="1400" b="1" dirty="0">
              <a:solidFill>
                <a:schemeClr val="bg1"/>
              </a:solidFill>
              <a:latin typeface="微软雅黑" panose="020B0503020204020204" charset="-122"/>
              <a:ea typeface="微软雅黑" panose="020B0503020204020204" charset="-122"/>
            </a:endParaRPr>
          </a:p>
          <a:p>
            <a:r>
              <a:rPr lang="zh-CN" altLang="en-US" sz="1400" b="1" dirty="0">
                <a:solidFill>
                  <a:schemeClr val="bg1"/>
                </a:solidFill>
                <a:latin typeface="微软雅黑" panose="020B0503020204020204" charset="-122"/>
                <a:ea typeface="微软雅黑" panose="020B0503020204020204" charset="-122"/>
              </a:rPr>
              <a:t>汇报时间</a:t>
            </a:r>
            <a:r>
              <a:rPr lang="zh-CN" altLang="en-US" sz="1400" dirty="0">
                <a:solidFill>
                  <a:schemeClr val="bg1"/>
                </a:solidFill>
                <a:latin typeface="微软雅黑" panose="020B0503020204020204" charset="-122"/>
                <a:ea typeface="微软雅黑" panose="020B0503020204020204" charset="-122"/>
              </a:rPr>
              <a:t>：</a:t>
            </a:r>
            <a:r>
              <a:rPr lang="en-US" altLang="zh-CN" sz="1400" dirty="0">
                <a:solidFill>
                  <a:schemeClr val="bg1"/>
                </a:solidFill>
                <a:latin typeface="微软雅黑" panose="020B0503020204020204" charset="-122"/>
                <a:ea typeface="微软雅黑" panose="020B0503020204020204" charset="-122"/>
              </a:rPr>
              <a:t>2026.10.28   </a:t>
            </a:r>
          </a:p>
        </p:txBody>
      </p:sp>
      <p:sp>
        <p:nvSpPr>
          <p:cNvPr id="4" name="文本框 3"/>
          <p:cNvSpPr txBox="1"/>
          <p:nvPr/>
        </p:nvSpPr>
        <p:spPr>
          <a:xfrm>
            <a:off x="1331482" y="1127864"/>
            <a:ext cx="6807576" cy="1200329"/>
          </a:xfrm>
          <a:prstGeom prst="rect">
            <a:avLst/>
          </a:prstGeom>
          <a:noFill/>
        </p:spPr>
        <p:txBody>
          <a:bodyPr wrap="square">
            <a:spAutoFit/>
          </a:bodyPr>
          <a:lstStyle/>
          <a:p>
            <a:pPr algn="ctr"/>
            <a:r>
              <a:rPr lang="zh-CN" altLang="en-US" sz="36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兼顾高效能量耗散与形状稳定性的芳纶柔性复合材料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 name="矩形 8"/>
          <p:cNvSpPr/>
          <p:nvPr/>
        </p:nvSpPr>
        <p:spPr>
          <a:xfrm>
            <a:off x="-10066" y="597600"/>
            <a:ext cx="9154065" cy="72000"/>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0" y="-7934"/>
            <a:ext cx="9144000" cy="556614"/>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p:cNvPicPr>
            <a:picLocks noChangeAspect="1"/>
          </p:cNvPicPr>
          <p:nvPr>
            <p:custDataLst>
              <p:tags r:id="rId1"/>
            </p:custDataLst>
          </p:nvPr>
        </p:nvPicPr>
        <p:blipFill>
          <a:blip r:embed="rId4"/>
          <a:srcRect l="1701" t="2985" r="4812" b="1949"/>
          <a:stretch>
            <a:fillRect/>
          </a:stretch>
        </p:blipFill>
        <p:spPr>
          <a:xfrm>
            <a:off x="135376" y="17739"/>
            <a:ext cx="509847" cy="514223"/>
          </a:xfrm>
          <a:prstGeom prst="ellipse">
            <a:avLst/>
          </a:prstGeom>
        </p:spPr>
      </p:pic>
      <p:grpSp>
        <p:nvGrpSpPr>
          <p:cNvPr id="6" name="page-title"/>
          <p:cNvGrpSpPr/>
          <p:nvPr/>
        </p:nvGrpSpPr>
        <p:grpSpPr>
          <a:xfrm>
            <a:off x="789813" y="120650"/>
            <a:ext cx="3555695" cy="396050"/>
            <a:chOff x="789813" y="120650"/>
            <a:chExt cx="3555695" cy="396050"/>
          </a:xfrm>
        </p:grpSpPr>
        <p:sp>
          <p:nvSpPr>
            <p:cNvPr id="5" name="TextBox 5"/>
            <p:cNvSpPr txBox="1"/>
            <p:nvPr/>
          </p:nvSpPr>
          <p:spPr>
            <a:xfrm>
              <a:off x="789813" y="120650"/>
              <a:ext cx="3639122" cy="396050"/>
            </a:xfrm>
            <a:prstGeom prst="rect">
              <a:avLst/>
            </a:prstGeom>
            <a:noFill/>
            <a:ln>
              <a:noFill/>
            </a:ln>
          </p:spPr>
          <p:txBody>
            <a:bodyPr wrap="none" lIns="0" tIns="0" rIns="0" bIns="0" anchor="t" anchorCtr="0">
              <a:spAutoFit/>
            </a:bodyPr>
            <a:lstStyle/>
            <a:p>
              <a:pPr algn="l"/>
              <a:r>
                <a:rPr lang="zh-CN" sz="2020" b="1" dirty="0">
                  <a:solidFill>
                    <a:srgbClr val="FFFFFF"/>
                  </a:solidFill>
                  <a:latin typeface="Microsoft YaHei"/>
                  <a:ea typeface="Microsoft YaHei"/>
                  <a:cs typeface="Microsoft YaHei"/>
                </a:rPr>
                <a:t>柔性防护纺织材料的应用需求</a:t>
              </a:r>
            </a:p>
          </p:txBody>
        </p:sp>
      </p:grpSp>
      <p:grpSp>
        <p:nvGrpSpPr>
          <p:cNvPr id="12" name="page-footer"/>
          <p:cNvGrpSpPr/>
          <p:nvPr/>
        </p:nvGrpSpPr>
        <p:grpSpPr>
          <a:xfrm>
            <a:off x="366712" y="4905375"/>
            <a:ext cx="8405813" cy="233362"/>
            <a:chOff x="366712" y="4905375"/>
            <a:chExt cx="8405813" cy="233362"/>
          </a:xfrm>
        </p:grpSpPr>
        <p:sp>
          <p:nvSpPr>
            <p:cNvPr id="7" name="Line 7"/>
            <p:cNvSpPr/>
            <p:nvPr/>
          </p:nvSpPr>
          <p:spPr>
            <a:xfrm>
              <a:off x="371475" y="4905375"/>
              <a:ext cx="8401050" cy="9525"/>
            </a:xfrm>
            <a:custGeom>
              <a:avLst/>
              <a:gdLst/>
              <a:ahLst/>
              <a:cxnLst/>
              <a:rect l="l" t="t" r="r" b="b"/>
              <a:pathLst>
                <a:path w="8401050" h="9525">
                  <a:moveTo>
                    <a:pt x="0" y="0"/>
                  </a:moveTo>
                  <a:lnTo>
                    <a:pt x="8401050" y="0"/>
                  </a:lnTo>
                </a:path>
              </a:pathLst>
            </a:custGeom>
            <a:noFill/>
            <a:ln w="9525">
              <a:solidFill>
                <a:srgbClr val="DADDDC"/>
              </a:solidFill>
            </a:ln>
          </p:spPr>
        </p:sp>
        <p:sp>
          <p:nvSpPr>
            <p:cNvPr id="8" name="TextBox 8"/>
            <p:cNvSpPr txBox="1"/>
            <p:nvPr/>
          </p:nvSpPr>
          <p:spPr>
            <a:xfrm>
              <a:off x="366712" y="4962525"/>
              <a:ext cx="1893216"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芳纶柔性复合材料 / 纺织学生论坛</a:t>
              </a:r>
            </a:p>
          </p:txBody>
        </p:sp>
        <p:sp>
          <p:nvSpPr>
            <p:cNvPr id="10" name="TextBox 10"/>
            <p:cNvSpPr txBox="1"/>
            <p:nvPr/>
          </p:nvSpPr>
          <p:spPr>
            <a:xfrm>
              <a:off x="6519862" y="4962525"/>
              <a:ext cx="579882"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应用需求</a:t>
              </a:r>
            </a:p>
          </p:txBody>
        </p:sp>
        <p:sp>
          <p:nvSpPr>
            <p:cNvPr id="11" name="TextBox 11"/>
            <p:cNvSpPr txBox="1"/>
            <p:nvPr/>
          </p:nvSpPr>
          <p:spPr>
            <a:xfrm>
              <a:off x="8301781" y="4962525"/>
              <a:ext cx="465981" cy="176212"/>
            </a:xfrm>
            <a:prstGeom prst="rect">
              <a:avLst/>
            </a:prstGeom>
            <a:noFill/>
            <a:ln>
              <a:noFill/>
            </a:ln>
          </p:spPr>
          <p:txBody>
            <a:bodyPr wrap="none" lIns="0" tIns="0" rIns="0" bIns="0" anchor="t" anchorCtr="0">
              <a:spAutoFit/>
            </a:bodyPr>
            <a:lstStyle/>
            <a:p>
              <a:pPr algn="r"/>
              <a:r>
                <a:rPr lang="zh-CN" sz="900" dirty="0">
                  <a:solidFill>
                    <a:srgbClr val="69747A"/>
                  </a:solidFill>
                  <a:latin typeface="Microsoft YaHei"/>
                  <a:ea typeface="Microsoft YaHei"/>
                  <a:cs typeface="Microsoft YaHei"/>
                </a:rPr>
                <a:t>02 / 14</a:t>
              </a:r>
            </a:p>
          </p:txBody>
        </p:sp>
      </p:grpSp>
      <p:grpSp>
        <p:nvGrpSpPr>
          <p:cNvPr id="15" name="context"/>
          <p:cNvGrpSpPr/>
          <p:nvPr/>
        </p:nvGrpSpPr>
        <p:grpSpPr>
          <a:xfrm>
            <a:off x="364998" y="800100"/>
            <a:ext cx="3286912" cy="250317"/>
            <a:chOff x="364998" y="800100"/>
            <a:chExt cx="3286912" cy="250317"/>
          </a:xfrm>
        </p:grpSpPr>
        <p:sp>
          <p:nvSpPr>
            <p:cNvPr id="14" name="TextBox 14"/>
            <p:cNvSpPr txBox="1"/>
            <p:nvPr/>
          </p:nvSpPr>
          <p:spPr>
            <a:xfrm>
              <a:off x="364998" y="800100"/>
              <a:ext cx="3356420" cy="250317"/>
            </a:xfrm>
            <a:prstGeom prst="rect">
              <a:avLst/>
            </a:prstGeom>
            <a:noFill/>
            <a:ln>
              <a:noFill/>
            </a:ln>
          </p:spPr>
          <p:txBody>
            <a:bodyPr wrap="none" lIns="0" tIns="0" rIns="0" bIns="0" anchor="t" anchorCtr="0">
              <a:spAutoFit/>
            </a:bodyPr>
            <a:lstStyle/>
            <a:p>
              <a:pPr algn="l"/>
              <a:r>
                <a:rPr lang="zh-CN" sz="1280" dirty="0">
                  <a:solidFill>
                    <a:srgbClr val="69747A"/>
                  </a:solidFill>
                  <a:latin typeface="Microsoft YaHei"/>
                  <a:ea typeface="Microsoft YaHei"/>
                  <a:cs typeface="Microsoft YaHei"/>
                </a:rPr>
                <a:t>以穿着适应性与瞬态防护需求牵引材料设计</a:t>
              </a:r>
            </a:p>
          </p:txBody>
        </p:sp>
      </p:grpSp>
      <p:grpSp>
        <p:nvGrpSpPr>
          <p:cNvPr id="25" name="need-0"/>
          <p:cNvGrpSpPr/>
          <p:nvPr/>
        </p:nvGrpSpPr>
        <p:grpSpPr>
          <a:xfrm>
            <a:off x="381000" y="1247775"/>
            <a:ext cx="2638425" cy="2200275"/>
            <a:chOff x="381000" y="1247775"/>
            <a:chExt cx="2638425" cy="2200275"/>
          </a:xfrm>
        </p:grpSpPr>
        <p:sp>
          <p:nvSpPr>
            <p:cNvPr id="16" name="Rectangle 16"/>
            <p:cNvSpPr/>
            <p:nvPr/>
          </p:nvSpPr>
          <p:spPr>
            <a:xfrm>
              <a:off x="381000" y="1247775"/>
              <a:ext cx="2638425" cy="2200275"/>
            </a:xfrm>
            <a:prstGeom prst="roundRect">
              <a:avLst>
                <a:gd name="adj" fmla="val 3463"/>
              </a:avLst>
            </a:prstGeom>
            <a:solidFill>
              <a:srgbClr val="F6F2EE"/>
            </a:solidFill>
            <a:ln>
              <a:noFill/>
            </a:ln>
          </p:spPr>
        </p:sp>
        <p:sp>
          <p:nvSpPr>
            <p:cNvPr id="17" name="TextBox 17"/>
            <p:cNvSpPr txBox="1"/>
            <p:nvPr/>
          </p:nvSpPr>
          <p:spPr>
            <a:xfrm>
              <a:off x="571500" y="1362075"/>
              <a:ext cx="1104900" cy="367665"/>
            </a:xfrm>
            <a:prstGeom prst="rect">
              <a:avLst/>
            </a:prstGeom>
            <a:noFill/>
            <a:ln>
              <a:noFill/>
            </a:ln>
          </p:spPr>
          <p:txBody>
            <a:bodyPr wrap="none" lIns="0" tIns="0" rIns="0" bIns="0" anchor="t" anchorCtr="0">
              <a:spAutoFit/>
            </a:bodyPr>
            <a:lstStyle/>
            <a:p>
              <a:pPr algn="l"/>
              <a:r>
                <a:rPr lang="zh-CN" sz="1880" b="1" dirty="0">
                  <a:solidFill>
                    <a:srgbClr val="9E423D"/>
                  </a:solidFill>
                  <a:latin typeface="Microsoft YaHei"/>
                  <a:ea typeface="Microsoft YaHei"/>
                  <a:cs typeface="Microsoft YaHei"/>
                </a:rPr>
                <a:t>日常穿戴</a:t>
              </a:r>
            </a:p>
          </p:txBody>
        </p:sp>
        <p:sp>
          <p:nvSpPr>
            <p:cNvPr id="19" name="Ellipse 19"/>
            <p:cNvSpPr/>
            <p:nvPr/>
          </p:nvSpPr>
          <p:spPr>
            <a:xfrm>
              <a:off x="590550" y="1924050"/>
              <a:ext cx="57150" cy="57150"/>
            </a:xfrm>
            <a:prstGeom prst="ellipse">
              <a:avLst/>
            </a:prstGeom>
            <a:solidFill>
              <a:srgbClr val="246D73"/>
            </a:solidFill>
            <a:ln>
              <a:noFill/>
            </a:ln>
          </p:spPr>
        </p:sp>
        <p:sp>
          <p:nvSpPr>
            <p:cNvPr id="20" name="TextBox 20"/>
            <p:cNvSpPr txBox="1"/>
            <p:nvPr/>
          </p:nvSpPr>
          <p:spPr>
            <a:xfrm>
              <a:off x="754380" y="1841500"/>
              <a:ext cx="110490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弯曲与贴合</a:t>
              </a:r>
            </a:p>
          </p:txBody>
        </p:sp>
        <p:sp>
          <p:nvSpPr>
            <p:cNvPr id="21" name="Ellipse 21"/>
            <p:cNvSpPr/>
            <p:nvPr/>
          </p:nvSpPr>
          <p:spPr>
            <a:xfrm>
              <a:off x="590550" y="2362200"/>
              <a:ext cx="57150" cy="57150"/>
            </a:xfrm>
            <a:prstGeom prst="ellipse">
              <a:avLst/>
            </a:prstGeom>
            <a:solidFill>
              <a:srgbClr val="246D73"/>
            </a:solidFill>
            <a:ln>
              <a:noFill/>
            </a:ln>
          </p:spPr>
        </p:sp>
        <p:sp>
          <p:nvSpPr>
            <p:cNvPr id="22" name="TextBox 22"/>
            <p:cNvSpPr txBox="1"/>
            <p:nvPr/>
          </p:nvSpPr>
          <p:spPr>
            <a:xfrm>
              <a:off x="754380" y="2279650"/>
              <a:ext cx="110490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轻量与薄型</a:t>
              </a:r>
            </a:p>
          </p:txBody>
        </p:sp>
        <p:sp>
          <p:nvSpPr>
            <p:cNvPr id="23" name="Ellipse 23"/>
            <p:cNvSpPr/>
            <p:nvPr/>
          </p:nvSpPr>
          <p:spPr>
            <a:xfrm>
              <a:off x="590550" y="2800350"/>
              <a:ext cx="57150" cy="57150"/>
            </a:xfrm>
            <a:prstGeom prst="ellipse">
              <a:avLst/>
            </a:prstGeom>
            <a:solidFill>
              <a:srgbClr val="246D73"/>
            </a:solidFill>
            <a:ln>
              <a:noFill/>
            </a:ln>
          </p:spPr>
        </p:sp>
        <p:sp>
          <p:nvSpPr>
            <p:cNvPr id="24" name="TextBox 24"/>
            <p:cNvSpPr txBox="1"/>
            <p:nvPr/>
          </p:nvSpPr>
          <p:spPr>
            <a:xfrm>
              <a:off x="754380" y="2717800"/>
              <a:ext cx="110490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运动适应性</a:t>
              </a:r>
            </a:p>
          </p:txBody>
        </p:sp>
      </p:grpSp>
      <p:grpSp>
        <p:nvGrpSpPr>
          <p:cNvPr id="34" name="need-1"/>
          <p:cNvGrpSpPr/>
          <p:nvPr/>
        </p:nvGrpSpPr>
        <p:grpSpPr>
          <a:xfrm>
            <a:off x="3267075" y="1247775"/>
            <a:ext cx="2638425" cy="2200275"/>
            <a:chOff x="3267075" y="1247775"/>
            <a:chExt cx="2638425" cy="2200275"/>
          </a:xfrm>
        </p:grpSpPr>
        <p:sp>
          <p:nvSpPr>
            <p:cNvPr id="26" name="Rectangle 26"/>
            <p:cNvSpPr/>
            <p:nvPr/>
          </p:nvSpPr>
          <p:spPr>
            <a:xfrm>
              <a:off x="3267075" y="1247775"/>
              <a:ext cx="2638425" cy="2200275"/>
            </a:xfrm>
            <a:prstGeom prst="roundRect">
              <a:avLst>
                <a:gd name="adj" fmla="val 3463"/>
              </a:avLst>
            </a:prstGeom>
            <a:solidFill>
              <a:srgbClr val="F6F2EE"/>
            </a:solidFill>
            <a:ln>
              <a:noFill/>
            </a:ln>
          </p:spPr>
        </p:sp>
        <p:sp>
          <p:nvSpPr>
            <p:cNvPr id="27" name="TextBox 27"/>
            <p:cNvSpPr txBox="1"/>
            <p:nvPr/>
          </p:nvSpPr>
          <p:spPr>
            <a:xfrm>
              <a:off x="3457575" y="1362075"/>
              <a:ext cx="1104900" cy="367665"/>
            </a:xfrm>
            <a:prstGeom prst="rect">
              <a:avLst/>
            </a:prstGeom>
            <a:noFill/>
            <a:ln>
              <a:noFill/>
            </a:ln>
          </p:spPr>
          <p:txBody>
            <a:bodyPr wrap="none" lIns="0" tIns="0" rIns="0" bIns="0" anchor="t" anchorCtr="0">
              <a:spAutoFit/>
            </a:bodyPr>
            <a:lstStyle/>
            <a:p>
              <a:pPr algn="l"/>
              <a:r>
                <a:rPr lang="zh-CN" sz="1880" b="1" dirty="0">
                  <a:solidFill>
                    <a:srgbClr val="9E423D"/>
                  </a:solidFill>
                  <a:latin typeface="Microsoft YaHei"/>
                  <a:ea typeface="Microsoft YaHei"/>
                  <a:cs typeface="Microsoft YaHei"/>
                </a:rPr>
                <a:t>瞬态防护</a:t>
              </a:r>
            </a:p>
          </p:txBody>
        </p:sp>
        <p:sp>
          <p:nvSpPr>
            <p:cNvPr id="28" name="Ellipse 28"/>
            <p:cNvSpPr/>
            <p:nvPr/>
          </p:nvSpPr>
          <p:spPr>
            <a:xfrm>
              <a:off x="3476625" y="1924050"/>
              <a:ext cx="57150" cy="57150"/>
            </a:xfrm>
            <a:prstGeom prst="ellipse">
              <a:avLst/>
            </a:prstGeom>
            <a:solidFill>
              <a:srgbClr val="246D73"/>
            </a:solidFill>
            <a:ln>
              <a:noFill/>
            </a:ln>
          </p:spPr>
        </p:sp>
        <p:sp>
          <p:nvSpPr>
            <p:cNvPr id="29" name="TextBox 29"/>
            <p:cNvSpPr txBox="1"/>
            <p:nvPr/>
          </p:nvSpPr>
          <p:spPr>
            <a:xfrm>
              <a:off x="3640455" y="1841500"/>
              <a:ext cx="130683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冲击载荷分散</a:t>
              </a:r>
            </a:p>
          </p:txBody>
        </p:sp>
        <p:sp>
          <p:nvSpPr>
            <p:cNvPr id="30" name="Ellipse 30"/>
            <p:cNvSpPr/>
            <p:nvPr/>
          </p:nvSpPr>
          <p:spPr>
            <a:xfrm>
              <a:off x="3476625" y="2362200"/>
              <a:ext cx="57150" cy="57150"/>
            </a:xfrm>
            <a:prstGeom prst="ellipse">
              <a:avLst/>
            </a:prstGeom>
            <a:solidFill>
              <a:srgbClr val="246D73"/>
            </a:solidFill>
            <a:ln>
              <a:noFill/>
            </a:ln>
          </p:spPr>
        </p:sp>
        <p:sp>
          <p:nvSpPr>
            <p:cNvPr id="31" name="TextBox 31"/>
            <p:cNvSpPr txBox="1"/>
            <p:nvPr/>
          </p:nvSpPr>
          <p:spPr>
            <a:xfrm>
              <a:off x="3640455" y="2279650"/>
              <a:ext cx="150876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尖锐物侵入阻滞</a:t>
              </a:r>
            </a:p>
          </p:txBody>
        </p:sp>
        <p:sp>
          <p:nvSpPr>
            <p:cNvPr id="32" name="Ellipse 32"/>
            <p:cNvSpPr/>
            <p:nvPr/>
          </p:nvSpPr>
          <p:spPr>
            <a:xfrm>
              <a:off x="3476625" y="2800350"/>
              <a:ext cx="57150" cy="57150"/>
            </a:xfrm>
            <a:prstGeom prst="ellipse">
              <a:avLst/>
            </a:prstGeom>
            <a:solidFill>
              <a:srgbClr val="246D73"/>
            </a:solidFill>
            <a:ln>
              <a:noFill/>
            </a:ln>
          </p:spPr>
        </p:sp>
        <p:sp>
          <p:nvSpPr>
            <p:cNvPr id="33" name="TextBox 33"/>
            <p:cNvSpPr txBox="1"/>
            <p:nvPr/>
          </p:nvSpPr>
          <p:spPr>
            <a:xfrm>
              <a:off x="3640455" y="2717800"/>
              <a:ext cx="130683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局部损伤控制</a:t>
              </a:r>
            </a:p>
          </p:txBody>
        </p:sp>
      </p:grpSp>
      <p:grpSp>
        <p:nvGrpSpPr>
          <p:cNvPr id="43" name="need-2"/>
          <p:cNvGrpSpPr/>
          <p:nvPr/>
        </p:nvGrpSpPr>
        <p:grpSpPr>
          <a:xfrm>
            <a:off x="6153150" y="1247775"/>
            <a:ext cx="2638425" cy="2200275"/>
            <a:chOff x="6153150" y="1247775"/>
            <a:chExt cx="2638425" cy="2200275"/>
          </a:xfrm>
        </p:grpSpPr>
        <p:sp>
          <p:nvSpPr>
            <p:cNvPr id="35" name="Rectangle 35"/>
            <p:cNvSpPr/>
            <p:nvPr/>
          </p:nvSpPr>
          <p:spPr>
            <a:xfrm>
              <a:off x="6153150" y="1247775"/>
              <a:ext cx="2638425" cy="2200275"/>
            </a:xfrm>
            <a:prstGeom prst="roundRect">
              <a:avLst>
                <a:gd name="adj" fmla="val 3463"/>
              </a:avLst>
            </a:prstGeom>
            <a:solidFill>
              <a:srgbClr val="F6F2EE"/>
            </a:solidFill>
            <a:ln>
              <a:noFill/>
            </a:ln>
          </p:spPr>
        </p:sp>
        <p:sp>
          <p:nvSpPr>
            <p:cNvPr id="36" name="TextBox 36"/>
            <p:cNvSpPr txBox="1"/>
            <p:nvPr/>
          </p:nvSpPr>
          <p:spPr>
            <a:xfrm>
              <a:off x="6343650" y="1362075"/>
              <a:ext cx="1104900" cy="367665"/>
            </a:xfrm>
            <a:prstGeom prst="rect">
              <a:avLst/>
            </a:prstGeom>
            <a:noFill/>
            <a:ln>
              <a:noFill/>
            </a:ln>
          </p:spPr>
          <p:txBody>
            <a:bodyPr wrap="none" lIns="0" tIns="0" rIns="0" bIns="0" anchor="t" anchorCtr="0">
              <a:spAutoFit/>
            </a:bodyPr>
            <a:lstStyle/>
            <a:p>
              <a:pPr algn="l"/>
              <a:r>
                <a:rPr lang="zh-CN" sz="1880" b="1" dirty="0">
                  <a:solidFill>
                    <a:srgbClr val="9E423D"/>
                  </a:solidFill>
                  <a:latin typeface="Microsoft YaHei"/>
                  <a:ea typeface="Microsoft YaHei"/>
                  <a:cs typeface="Microsoft YaHei"/>
                </a:rPr>
                <a:t>持续服役</a:t>
              </a:r>
            </a:p>
          </p:txBody>
        </p:sp>
        <p:sp>
          <p:nvSpPr>
            <p:cNvPr id="37" name="Ellipse 37"/>
            <p:cNvSpPr/>
            <p:nvPr/>
          </p:nvSpPr>
          <p:spPr>
            <a:xfrm>
              <a:off x="6362700" y="1924050"/>
              <a:ext cx="57150" cy="57150"/>
            </a:xfrm>
            <a:prstGeom prst="ellipse">
              <a:avLst/>
            </a:prstGeom>
            <a:solidFill>
              <a:srgbClr val="246D73"/>
            </a:solidFill>
            <a:ln>
              <a:noFill/>
            </a:ln>
          </p:spPr>
        </p:sp>
        <p:sp>
          <p:nvSpPr>
            <p:cNvPr id="38" name="TextBox 38"/>
            <p:cNvSpPr txBox="1"/>
            <p:nvPr/>
          </p:nvSpPr>
          <p:spPr>
            <a:xfrm>
              <a:off x="6526530" y="1841500"/>
              <a:ext cx="150876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卸载后形状保持</a:t>
              </a:r>
            </a:p>
          </p:txBody>
        </p:sp>
        <p:sp>
          <p:nvSpPr>
            <p:cNvPr id="39" name="Ellipse 39"/>
            <p:cNvSpPr/>
            <p:nvPr/>
          </p:nvSpPr>
          <p:spPr>
            <a:xfrm>
              <a:off x="6362700" y="2362200"/>
              <a:ext cx="57150" cy="57150"/>
            </a:xfrm>
            <a:prstGeom prst="ellipse">
              <a:avLst/>
            </a:prstGeom>
            <a:solidFill>
              <a:srgbClr val="246D73"/>
            </a:solidFill>
            <a:ln>
              <a:noFill/>
            </a:ln>
          </p:spPr>
        </p:sp>
        <p:sp>
          <p:nvSpPr>
            <p:cNvPr id="40" name="TextBox 40"/>
            <p:cNvSpPr txBox="1"/>
            <p:nvPr/>
          </p:nvSpPr>
          <p:spPr>
            <a:xfrm>
              <a:off x="6526530" y="2279650"/>
              <a:ext cx="171069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多次加载可重复性</a:t>
              </a:r>
            </a:p>
          </p:txBody>
        </p:sp>
        <p:sp>
          <p:nvSpPr>
            <p:cNvPr id="41" name="Ellipse 41"/>
            <p:cNvSpPr/>
            <p:nvPr/>
          </p:nvSpPr>
          <p:spPr>
            <a:xfrm>
              <a:off x="6362700" y="2800350"/>
              <a:ext cx="57150" cy="57150"/>
            </a:xfrm>
            <a:prstGeom prst="ellipse">
              <a:avLst/>
            </a:prstGeom>
            <a:solidFill>
              <a:srgbClr val="246D73"/>
            </a:solidFill>
            <a:ln>
              <a:noFill/>
            </a:ln>
          </p:spPr>
        </p:sp>
        <p:sp>
          <p:nvSpPr>
            <p:cNvPr id="42" name="TextBox 42"/>
            <p:cNvSpPr txBox="1"/>
            <p:nvPr/>
          </p:nvSpPr>
          <p:spPr>
            <a:xfrm>
              <a:off x="6526530" y="2717800"/>
              <a:ext cx="110490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环境适应性</a:t>
              </a:r>
            </a:p>
          </p:txBody>
        </p:sp>
      </p:grpSp>
      <p:grpSp>
        <p:nvGrpSpPr>
          <p:cNvPr id="46" name="requirement"/>
          <p:cNvGrpSpPr/>
          <p:nvPr/>
        </p:nvGrpSpPr>
        <p:grpSpPr>
          <a:xfrm>
            <a:off x="403098" y="3721100"/>
            <a:ext cx="5727192" cy="322707"/>
            <a:chOff x="403098" y="3721100"/>
            <a:chExt cx="5727192" cy="322707"/>
          </a:xfrm>
        </p:grpSpPr>
        <p:sp>
          <p:nvSpPr>
            <p:cNvPr id="44" name="TextBox 44"/>
            <p:cNvSpPr txBox="1"/>
            <p:nvPr/>
          </p:nvSpPr>
          <p:spPr>
            <a:xfrm>
              <a:off x="403098" y="3771900"/>
              <a:ext cx="781812" cy="250317"/>
            </a:xfrm>
            <a:prstGeom prst="rect">
              <a:avLst/>
            </a:prstGeom>
            <a:noFill/>
            <a:ln>
              <a:noFill/>
            </a:ln>
          </p:spPr>
          <p:txBody>
            <a:bodyPr wrap="none" lIns="0" tIns="0" rIns="0" bIns="0" anchor="t" anchorCtr="0">
              <a:spAutoFit/>
            </a:bodyPr>
            <a:lstStyle/>
            <a:p>
              <a:pPr algn="l"/>
              <a:r>
                <a:rPr lang="zh-CN" sz="1280" b="1" dirty="0">
                  <a:solidFill>
                    <a:srgbClr val="246D73"/>
                  </a:solidFill>
                  <a:latin typeface="Microsoft YaHei"/>
                  <a:ea typeface="Microsoft YaHei"/>
                  <a:cs typeface="Microsoft YaHei"/>
                </a:rPr>
                <a:t>设计约束</a:t>
              </a:r>
            </a:p>
          </p:txBody>
        </p:sp>
        <p:sp>
          <p:nvSpPr>
            <p:cNvPr id="45" name="TextBox 45"/>
            <p:cNvSpPr txBox="1"/>
            <p:nvPr/>
          </p:nvSpPr>
          <p:spPr>
            <a:xfrm>
              <a:off x="1448943" y="3721100"/>
              <a:ext cx="4759833" cy="322707"/>
            </a:xfrm>
            <a:prstGeom prst="rect">
              <a:avLst/>
            </a:prstGeom>
            <a:noFill/>
            <a:ln>
              <a:noFill/>
            </a:ln>
          </p:spPr>
          <p:txBody>
            <a:bodyPr wrap="none" lIns="0" tIns="0" rIns="0" bIns="0" anchor="t" anchorCtr="0">
              <a:spAutoFit/>
            </a:bodyPr>
            <a:lstStyle/>
            <a:p>
              <a:pPr algn="l"/>
              <a:r>
                <a:rPr lang="zh-CN" sz="1650" b="1" dirty="0">
                  <a:solidFill>
                    <a:srgbClr val="29343A"/>
                  </a:solidFill>
                  <a:latin typeface="Microsoft YaHei"/>
                  <a:ea typeface="Microsoft YaHei"/>
                  <a:cs typeface="Microsoft YaHei"/>
                </a:rPr>
                <a:t>同等质量与厚度下，兼顾防护表现和穿着适应性</a:t>
              </a:r>
            </a:p>
          </p:txBody>
        </p:sp>
      </p:grpSp>
      <p:grpSp>
        <p:nvGrpSpPr>
          <p:cNvPr id="50" name="takeaway"/>
          <p:cNvGrpSpPr/>
          <p:nvPr/>
        </p:nvGrpSpPr>
        <p:grpSpPr>
          <a:xfrm>
            <a:off x="361950" y="4419600"/>
            <a:ext cx="8420100" cy="361950"/>
            <a:chOff x="361950" y="4419600"/>
            <a:chExt cx="8420100" cy="361950"/>
          </a:xfrm>
        </p:grpSpPr>
        <p:sp>
          <p:nvSpPr>
            <p:cNvPr id="47" name="Rectangle 47"/>
            <p:cNvSpPr/>
            <p:nvPr/>
          </p:nvSpPr>
          <p:spPr>
            <a:xfrm>
              <a:off x="361950" y="4419600"/>
              <a:ext cx="8420100" cy="361950"/>
            </a:xfrm>
            <a:prstGeom prst="rect">
              <a:avLst/>
            </a:prstGeom>
            <a:solidFill>
              <a:srgbClr val="F6F2EE"/>
            </a:solidFill>
            <a:ln>
              <a:noFill/>
            </a:ln>
          </p:spPr>
        </p:sp>
        <p:sp>
          <p:nvSpPr>
            <p:cNvPr id="48" name="Rectangle 48"/>
            <p:cNvSpPr/>
            <p:nvPr/>
          </p:nvSpPr>
          <p:spPr>
            <a:xfrm>
              <a:off x="361950" y="4419600"/>
              <a:ext cx="38100" cy="361950"/>
            </a:xfrm>
            <a:prstGeom prst="rect">
              <a:avLst/>
            </a:prstGeom>
            <a:solidFill>
              <a:srgbClr val="9E423D"/>
            </a:solidFill>
            <a:ln>
              <a:noFill/>
            </a:ln>
          </p:spPr>
        </p:sp>
        <p:sp>
          <p:nvSpPr>
            <p:cNvPr id="49" name="TextBox 49"/>
            <p:cNvSpPr txBox="1"/>
            <p:nvPr/>
          </p:nvSpPr>
          <p:spPr>
            <a:xfrm>
              <a:off x="497967" y="4492625"/>
              <a:ext cx="5183886" cy="264033"/>
            </a:xfrm>
            <a:prstGeom prst="rect">
              <a:avLst/>
            </a:prstGeom>
            <a:noFill/>
            <a:ln>
              <a:noFill/>
            </a:ln>
          </p:spPr>
          <p:txBody>
            <a:bodyPr wrap="none" lIns="0" tIns="0" rIns="0" bIns="0" anchor="t" anchorCtr="0">
              <a:spAutoFit/>
            </a:bodyPr>
            <a:lstStyle/>
            <a:p>
              <a:pPr algn="l"/>
              <a:r>
                <a:rPr lang="zh-CN" sz="1350" b="1" dirty="0">
                  <a:solidFill>
                    <a:srgbClr val="9E423D"/>
                  </a:solidFill>
                  <a:latin typeface="Microsoft YaHei"/>
                  <a:ea typeface="Microsoft YaHei"/>
                  <a:cs typeface="Microsoft YaHei"/>
                </a:rPr>
                <a:t>应用需求决定多目标评价：不能只用强度或厚度替代防护能力。</a:t>
              </a:r>
            </a:p>
          </p:txBody>
        </p:sp>
      </p:grpSp>
    </p:spTree>
  </p:cSld>
  <p:clrMapOvr>
    <a:masterClrMapping/>
  </p:clrMapOvr>
  <p:transition advClick="1"/>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 name="矩形 8"/>
          <p:cNvSpPr/>
          <p:nvPr/>
        </p:nvSpPr>
        <p:spPr>
          <a:xfrm>
            <a:off x="-10066" y="597600"/>
            <a:ext cx="9154065" cy="72000"/>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0" y="-7934"/>
            <a:ext cx="9144000" cy="556614"/>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p:cNvPicPr>
            <a:picLocks noChangeAspect="1"/>
          </p:cNvPicPr>
          <p:nvPr>
            <p:custDataLst>
              <p:tags r:id="rId1"/>
            </p:custDataLst>
          </p:nvPr>
        </p:nvPicPr>
        <p:blipFill>
          <a:blip r:embed="rId4"/>
          <a:srcRect l="1701" t="2985" r="4812" b="1949"/>
          <a:stretch>
            <a:fillRect/>
          </a:stretch>
        </p:blipFill>
        <p:spPr>
          <a:xfrm>
            <a:off x="135376" y="17739"/>
            <a:ext cx="509847" cy="514223"/>
          </a:xfrm>
          <a:prstGeom prst="ellipse">
            <a:avLst/>
          </a:prstGeom>
        </p:spPr>
      </p:pic>
      <p:grpSp>
        <p:nvGrpSpPr>
          <p:cNvPr id="6" name="page-title"/>
          <p:cNvGrpSpPr/>
          <p:nvPr/>
        </p:nvGrpSpPr>
        <p:grpSpPr>
          <a:xfrm>
            <a:off x="789813" y="120650"/>
            <a:ext cx="4099560" cy="396050"/>
            <a:chOff x="789813" y="120650"/>
            <a:chExt cx="4099560" cy="396050"/>
          </a:xfrm>
        </p:grpSpPr>
        <p:sp>
          <p:nvSpPr>
            <p:cNvPr id="5" name="TextBox 5"/>
            <p:cNvSpPr txBox="1"/>
            <p:nvPr/>
          </p:nvSpPr>
          <p:spPr>
            <a:xfrm>
              <a:off x="789813" y="120650"/>
              <a:ext cx="4184332" cy="396050"/>
            </a:xfrm>
            <a:prstGeom prst="rect">
              <a:avLst/>
            </a:prstGeom>
            <a:noFill/>
            <a:ln>
              <a:noFill/>
            </a:ln>
          </p:spPr>
          <p:txBody>
            <a:bodyPr wrap="none" lIns="0" tIns="0" rIns="0" bIns="0" anchor="t" anchorCtr="0">
              <a:spAutoFit/>
            </a:bodyPr>
            <a:lstStyle/>
            <a:p>
              <a:pPr algn="l"/>
              <a:r>
                <a:rPr lang="zh-CN" sz="2020" b="1" dirty="0">
                  <a:solidFill>
                    <a:srgbClr val="FFFFFF"/>
                  </a:solidFill>
                  <a:latin typeface="Microsoft YaHei"/>
                  <a:ea typeface="Microsoft YaHei"/>
                  <a:cs typeface="Microsoft YaHei"/>
                </a:rPr>
                <a:t>柔性抗冲击与防刺材料的研究现状</a:t>
              </a:r>
            </a:p>
          </p:txBody>
        </p:sp>
      </p:grpSp>
      <p:grpSp>
        <p:nvGrpSpPr>
          <p:cNvPr id="12" name="page-footer"/>
          <p:cNvGrpSpPr/>
          <p:nvPr/>
        </p:nvGrpSpPr>
        <p:grpSpPr>
          <a:xfrm>
            <a:off x="366712" y="4905375"/>
            <a:ext cx="8405813" cy="233362"/>
            <a:chOff x="366712" y="4905375"/>
            <a:chExt cx="8405813" cy="233362"/>
          </a:xfrm>
        </p:grpSpPr>
        <p:sp>
          <p:nvSpPr>
            <p:cNvPr id="7" name="Line 7"/>
            <p:cNvSpPr/>
            <p:nvPr/>
          </p:nvSpPr>
          <p:spPr>
            <a:xfrm>
              <a:off x="371475" y="4905375"/>
              <a:ext cx="8401050" cy="9525"/>
            </a:xfrm>
            <a:custGeom>
              <a:avLst/>
              <a:gdLst/>
              <a:ahLst/>
              <a:cxnLst/>
              <a:rect l="l" t="t" r="r" b="b"/>
              <a:pathLst>
                <a:path w="8401050" h="9525">
                  <a:moveTo>
                    <a:pt x="0" y="0"/>
                  </a:moveTo>
                  <a:lnTo>
                    <a:pt x="8401050" y="0"/>
                  </a:lnTo>
                </a:path>
              </a:pathLst>
            </a:custGeom>
            <a:noFill/>
            <a:ln w="9525">
              <a:solidFill>
                <a:srgbClr val="DADDDC"/>
              </a:solidFill>
            </a:ln>
          </p:spPr>
        </p:sp>
        <p:sp>
          <p:nvSpPr>
            <p:cNvPr id="8" name="TextBox 8"/>
            <p:cNvSpPr txBox="1"/>
            <p:nvPr/>
          </p:nvSpPr>
          <p:spPr>
            <a:xfrm>
              <a:off x="366712" y="4962525"/>
              <a:ext cx="1893216"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芳纶柔性复合材料 / 纺织学生论坛</a:t>
              </a:r>
            </a:p>
          </p:txBody>
        </p:sp>
        <p:sp>
          <p:nvSpPr>
            <p:cNvPr id="10" name="TextBox 10"/>
            <p:cNvSpPr txBox="1"/>
            <p:nvPr/>
          </p:nvSpPr>
          <p:spPr>
            <a:xfrm>
              <a:off x="6519862" y="4962525"/>
              <a:ext cx="579882"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研究路径</a:t>
              </a:r>
            </a:p>
          </p:txBody>
        </p:sp>
        <p:sp>
          <p:nvSpPr>
            <p:cNvPr id="11" name="TextBox 11"/>
            <p:cNvSpPr txBox="1"/>
            <p:nvPr/>
          </p:nvSpPr>
          <p:spPr>
            <a:xfrm>
              <a:off x="8301781" y="4962525"/>
              <a:ext cx="465981" cy="176212"/>
            </a:xfrm>
            <a:prstGeom prst="rect">
              <a:avLst/>
            </a:prstGeom>
            <a:noFill/>
            <a:ln>
              <a:noFill/>
            </a:ln>
          </p:spPr>
          <p:txBody>
            <a:bodyPr wrap="none" lIns="0" tIns="0" rIns="0" bIns="0" anchor="t" anchorCtr="0">
              <a:spAutoFit/>
            </a:bodyPr>
            <a:lstStyle/>
            <a:p>
              <a:pPr algn="r"/>
              <a:r>
                <a:rPr lang="zh-CN" sz="900" dirty="0">
                  <a:solidFill>
                    <a:srgbClr val="69747A"/>
                  </a:solidFill>
                  <a:latin typeface="Microsoft YaHei"/>
                  <a:ea typeface="Microsoft YaHei"/>
                  <a:cs typeface="Microsoft YaHei"/>
                </a:rPr>
                <a:t>03 / 14</a:t>
              </a:r>
            </a:p>
          </p:txBody>
        </p:sp>
      </p:grpSp>
      <p:grpSp>
        <p:nvGrpSpPr>
          <p:cNvPr id="15" name="context"/>
          <p:cNvGrpSpPr/>
          <p:nvPr/>
        </p:nvGrpSpPr>
        <p:grpSpPr>
          <a:xfrm>
            <a:off x="364998" y="800100"/>
            <a:ext cx="5010048" cy="250317"/>
            <a:chOff x="364998" y="800100"/>
            <a:chExt cx="5010048" cy="250317"/>
          </a:xfrm>
        </p:grpSpPr>
        <p:sp>
          <p:nvSpPr>
            <p:cNvPr id="14" name="TextBox 14"/>
            <p:cNvSpPr txBox="1"/>
            <p:nvPr/>
          </p:nvSpPr>
          <p:spPr>
            <a:xfrm>
              <a:off x="364998" y="800100"/>
              <a:ext cx="5072824" cy="250317"/>
            </a:xfrm>
            <a:prstGeom prst="rect">
              <a:avLst/>
            </a:prstGeom>
            <a:noFill/>
            <a:ln>
              <a:noFill/>
            </a:ln>
          </p:spPr>
          <p:txBody>
            <a:bodyPr wrap="none" lIns="0" tIns="0" rIns="0" bIns="0" anchor="t" anchorCtr="0">
              <a:spAutoFit/>
            </a:bodyPr>
            <a:lstStyle/>
            <a:p>
              <a:pPr algn="l"/>
              <a:r>
                <a:rPr lang="zh-CN" sz="1280" dirty="0">
                  <a:solidFill>
                    <a:srgbClr val="69747A"/>
                  </a:solidFill>
                  <a:latin typeface="Microsoft YaHei"/>
                  <a:ea typeface="Microsoft YaHei"/>
                  <a:cs typeface="Microsoft YaHei"/>
                </a:rPr>
                <a:t>技术路径的机制比较：梳理设计变量，而非跨试验条件的性能排名</a:t>
              </a:r>
            </a:p>
          </p:txBody>
        </p:sp>
      </p:grpSp>
      <p:grpSp>
        <p:nvGrpSpPr>
          <p:cNvPr id="39" name="comparison"/>
          <p:cNvGrpSpPr/>
          <p:nvPr/>
        </p:nvGrpSpPr>
        <p:grpSpPr>
          <a:xfrm>
            <a:off x="381000" y="1266825"/>
            <a:ext cx="8391525" cy="2790825"/>
            <a:chOff x="381000" y="1266825"/>
            <a:chExt cx="8391525" cy="2790825"/>
          </a:xfrm>
        </p:grpSpPr>
        <p:sp>
          <p:nvSpPr>
            <p:cNvPr id="16" name="Rectangle 16"/>
            <p:cNvSpPr/>
            <p:nvPr/>
          </p:nvSpPr>
          <p:spPr>
            <a:xfrm>
              <a:off x="381000" y="1266825"/>
              <a:ext cx="8391525" cy="419100"/>
            </a:xfrm>
            <a:prstGeom prst="rect">
              <a:avLst/>
            </a:prstGeom>
            <a:solidFill>
              <a:srgbClr val="9E423D"/>
            </a:solidFill>
            <a:ln>
              <a:noFill/>
            </a:ln>
          </p:spPr>
        </p:sp>
        <p:sp>
          <p:nvSpPr>
            <p:cNvPr id="17" name="TextBox 17"/>
            <p:cNvSpPr txBox="1"/>
            <p:nvPr/>
          </p:nvSpPr>
          <p:spPr>
            <a:xfrm>
              <a:off x="516255" y="1365250"/>
              <a:ext cx="90297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icrosoft YaHei"/>
                  <a:ea typeface="Microsoft YaHei"/>
                  <a:cs typeface="Microsoft YaHei"/>
                </a:rPr>
                <a:t>技术路径</a:t>
              </a:r>
            </a:p>
          </p:txBody>
        </p:sp>
        <p:sp>
          <p:nvSpPr>
            <p:cNvPr id="19" name="TextBox 19"/>
            <p:cNvSpPr txBox="1"/>
            <p:nvPr/>
          </p:nvSpPr>
          <p:spPr>
            <a:xfrm>
              <a:off x="2287905" y="1365250"/>
              <a:ext cx="90297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icrosoft YaHei"/>
                  <a:ea typeface="Microsoft YaHei"/>
                  <a:cs typeface="Microsoft YaHei"/>
                </a:rPr>
                <a:t>作用机制</a:t>
              </a:r>
            </a:p>
          </p:txBody>
        </p:sp>
        <p:sp>
          <p:nvSpPr>
            <p:cNvPr id="20" name="TextBox 20"/>
            <p:cNvSpPr txBox="1"/>
            <p:nvPr/>
          </p:nvSpPr>
          <p:spPr>
            <a:xfrm>
              <a:off x="5316855" y="1365250"/>
              <a:ext cx="150876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icrosoft YaHei"/>
                  <a:ea typeface="Microsoft YaHei"/>
                  <a:cs typeface="Microsoft YaHei"/>
                </a:rPr>
                <a:t>需要平衡的问题</a:t>
              </a:r>
            </a:p>
          </p:txBody>
        </p:sp>
        <p:sp>
          <p:nvSpPr>
            <p:cNvPr id="21" name="Rectangle 21"/>
            <p:cNvSpPr/>
            <p:nvPr/>
          </p:nvSpPr>
          <p:spPr>
            <a:xfrm>
              <a:off x="381000" y="1685925"/>
              <a:ext cx="8391525" cy="590550"/>
            </a:xfrm>
            <a:prstGeom prst="rect">
              <a:avLst/>
            </a:prstGeom>
            <a:solidFill>
              <a:srgbClr val="F6F2EE"/>
            </a:solidFill>
            <a:ln>
              <a:noFill/>
            </a:ln>
          </p:spPr>
        </p:sp>
        <p:sp>
          <p:nvSpPr>
            <p:cNvPr id="22" name="TextBox 22"/>
            <p:cNvSpPr txBox="1"/>
            <p:nvPr/>
          </p:nvSpPr>
          <p:spPr>
            <a:xfrm>
              <a:off x="517017" y="1873250"/>
              <a:ext cx="1367409" cy="264033"/>
            </a:xfrm>
            <a:prstGeom prst="rect">
              <a:avLst/>
            </a:prstGeom>
            <a:noFill/>
            <a:ln>
              <a:noFill/>
            </a:ln>
          </p:spPr>
          <p:txBody>
            <a:bodyPr wrap="none" lIns="0" tIns="0" rIns="0" bIns="0" anchor="t" anchorCtr="0">
              <a:spAutoFit/>
            </a:bodyPr>
            <a:lstStyle/>
            <a:p>
              <a:pPr algn="l"/>
              <a:r>
                <a:rPr lang="zh-CN" sz="1350" b="1" dirty="0">
                  <a:solidFill>
                    <a:srgbClr val="29343A"/>
                  </a:solidFill>
                  <a:latin typeface="Microsoft YaHei"/>
                  <a:ea typeface="Microsoft YaHei"/>
                  <a:cs typeface="Microsoft YaHei"/>
                </a:rPr>
                <a:t>高性能纤维织物</a:t>
              </a:r>
            </a:p>
          </p:txBody>
        </p:sp>
        <p:sp>
          <p:nvSpPr>
            <p:cNvPr id="23" name="TextBox 23"/>
            <p:cNvSpPr txBox="1"/>
            <p:nvPr/>
          </p:nvSpPr>
          <p:spPr>
            <a:xfrm>
              <a:off x="2288667" y="1873250"/>
              <a:ext cx="1730883" cy="264033"/>
            </a:xfrm>
            <a:prstGeom prst="rect">
              <a:avLst/>
            </a:prstGeom>
            <a:noFill/>
            <a:ln>
              <a:noFill/>
            </a:ln>
          </p:spPr>
          <p:txBody>
            <a:bodyPr wrap="none" lIns="0" tIns="0" rIns="0" bIns="0" anchor="t" anchorCtr="0">
              <a:spAutoFit/>
            </a:bodyPr>
            <a:lstStyle/>
            <a:p>
              <a:pPr algn="l"/>
              <a:r>
                <a:rPr lang="zh-CN" sz="1350" dirty="0">
                  <a:solidFill>
                    <a:srgbClr val="29343A"/>
                  </a:solidFill>
                  <a:latin typeface="Microsoft YaHei"/>
                  <a:ea typeface="Microsoft YaHei"/>
                  <a:cs typeface="Microsoft YaHei"/>
                </a:rPr>
                <a:t>纱线承载与网络传力</a:t>
              </a:r>
            </a:p>
          </p:txBody>
        </p:sp>
        <p:sp>
          <p:nvSpPr>
            <p:cNvPr id="24" name="TextBox 24"/>
            <p:cNvSpPr txBox="1"/>
            <p:nvPr/>
          </p:nvSpPr>
          <p:spPr>
            <a:xfrm>
              <a:off x="5317617" y="1873250"/>
              <a:ext cx="1630549" cy="264033"/>
            </a:xfrm>
            <a:prstGeom prst="rect">
              <a:avLst/>
            </a:prstGeom>
            <a:noFill/>
            <a:ln>
              <a:noFill/>
            </a:ln>
          </p:spPr>
          <p:txBody>
            <a:bodyPr wrap="none" lIns="0" tIns="0" rIns="0" bIns="0" anchor="t" anchorCtr="0">
              <a:spAutoFit/>
            </a:bodyPr>
            <a:lstStyle/>
            <a:p>
              <a:pPr algn="l"/>
              <a:r>
                <a:rPr lang="zh-CN" sz="1350" dirty="0">
                  <a:solidFill>
                    <a:srgbClr val="29343A"/>
                  </a:solidFill>
                  <a:latin typeface="Microsoft YaHei"/>
                  <a:ea typeface="Microsoft YaHei"/>
                  <a:cs typeface="Microsoft YaHei"/>
                </a:rPr>
                <a:t>防护能力 ↔ 面密度</a:t>
              </a:r>
            </a:p>
          </p:txBody>
        </p:sp>
        <p:sp>
          <p:nvSpPr>
            <p:cNvPr id="25" name="Line 25"/>
            <p:cNvSpPr/>
            <p:nvPr/>
          </p:nvSpPr>
          <p:spPr>
            <a:xfrm>
              <a:off x="381000" y="2276475"/>
              <a:ext cx="8391525" cy="9525"/>
            </a:xfrm>
            <a:custGeom>
              <a:avLst/>
              <a:gdLst/>
              <a:ahLst/>
              <a:cxnLst/>
              <a:rect l="l" t="t" r="r" b="b"/>
              <a:pathLst>
                <a:path w="8391525" h="9525">
                  <a:moveTo>
                    <a:pt x="0" y="0"/>
                  </a:moveTo>
                  <a:lnTo>
                    <a:pt x="8391525" y="0"/>
                  </a:lnTo>
                </a:path>
              </a:pathLst>
            </a:custGeom>
            <a:noFill/>
            <a:ln w="9525">
              <a:solidFill>
                <a:srgbClr val="DADDDC"/>
              </a:solidFill>
            </a:ln>
          </p:spPr>
        </p:sp>
        <p:sp>
          <p:nvSpPr>
            <p:cNvPr id="26" name="TextBox 26"/>
            <p:cNvSpPr txBox="1"/>
            <p:nvPr/>
          </p:nvSpPr>
          <p:spPr>
            <a:xfrm>
              <a:off x="517017" y="2463800"/>
              <a:ext cx="1520237" cy="264033"/>
            </a:xfrm>
            <a:prstGeom prst="rect">
              <a:avLst/>
            </a:prstGeom>
            <a:noFill/>
            <a:ln>
              <a:noFill/>
            </a:ln>
          </p:spPr>
          <p:txBody>
            <a:bodyPr wrap="none" lIns="0" tIns="0" rIns="0" bIns="0" anchor="t" anchorCtr="0">
              <a:spAutoFit/>
            </a:bodyPr>
            <a:lstStyle/>
            <a:p>
              <a:pPr algn="l"/>
              <a:r>
                <a:rPr lang="zh-CN" sz="1350" b="1" dirty="0">
                  <a:solidFill>
                    <a:srgbClr val="29343A"/>
                  </a:solidFill>
                  <a:latin typeface="Microsoft YaHei"/>
                  <a:ea typeface="Microsoft YaHei"/>
                  <a:cs typeface="Microsoft YaHei"/>
                </a:rPr>
                <a:t>聚合物 / 织物复合</a:t>
              </a:r>
            </a:p>
          </p:txBody>
        </p:sp>
        <p:sp>
          <p:nvSpPr>
            <p:cNvPr id="27" name="TextBox 27"/>
            <p:cNvSpPr txBox="1"/>
            <p:nvPr/>
          </p:nvSpPr>
          <p:spPr>
            <a:xfrm>
              <a:off x="2288667" y="2463800"/>
              <a:ext cx="2094357" cy="264033"/>
            </a:xfrm>
            <a:prstGeom prst="rect">
              <a:avLst/>
            </a:prstGeom>
            <a:noFill/>
            <a:ln>
              <a:noFill/>
            </a:ln>
          </p:spPr>
          <p:txBody>
            <a:bodyPr wrap="none" lIns="0" tIns="0" rIns="0" bIns="0" anchor="t" anchorCtr="0">
              <a:spAutoFit/>
            </a:bodyPr>
            <a:lstStyle/>
            <a:p>
              <a:pPr algn="l"/>
              <a:r>
                <a:rPr lang="zh-CN" sz="1350" dirty="0">
                  <a:solidFill>
                    <a:srgbClr val="29343A"/>
                  </a:solidFill>
                  <a:latin typeface="Microsoft YaHei"/>
                  <a:ea typeface="Microsoft YaHei"/>
                  <a:cs typeface="Microsoft YaHei"/>
                </a:rPr>
                <a:t>基体变形与界面载荷传递</a:t>
              </a:r>
            </a:p>
          </p:txBody>
        </p:sp>
        <p:sp>
          <p:nvSpPr>
            <p:cNvPr id="28" name="TextBox 28"/>
            <p:cNvSpPr txBox="1"/>
            <p:nvPr/>
          </p:nvSpPr>
          <p:spPr>
            <a:xfrm>
              <a:off x="5317617" y="2463800"/>
              <a:ext cx="1812286" cy="264033"/>
            </a:xfrm>
            <a:prstGeom prst="rect">
              <a:avLst/>
            </a:prstGeom>
            <a:noFill/>
            <a:ln>
              <a:noFill/>
            </a:ln>
          </p:spPr>
          <p:txBody>
            <a:bodyPr wrap="none" lIns="0" tIns="0" rIns="0" bIns="0" anchor="t" anchorCtr="0">
              <a:spAutoFit/>
            </a:bodyPr>
            <a:lstStyle/>
            <a:p>
              <a:pPr algn="l"/>
              <a:r>
                <a:rPr lang="zh-CN" sz="1350" dirty="0">
                  <a:solidFill>
                    <a:srgbClr val="29343A"/>
                  </a:solidFill>
                  <a:latin typeface="Microsoft YaHei"/>
                  <a:ea typeface="Microsoft YaHei"/>
                  <a:cs typeface="Microsoft YaHei"/>
                </a:rPr>
                <a:t>结构约束 ↔ 穿着柔性</a:t>
              </a:r>
            </a:p>
          </p:txBody>
        </p:sp>
        <p:sp>
          <p:nvSpPr>
            <p:cNvPr id="29" name="Line 29"/>
            <p:cNvSpPr/>
            <p:nvPr/>
          </p:nvSpPr>
          <p:spPr>
            <a:xfrm>
              <a:off x="381000" y="2867025"/>
              <a:ext cx="8391525" cy="9525"/>
            </a:xfrm>
            <a:custGeom>
              <a:avLst/>
              <a:gdLst/>
              <a:ahLst/>
              <a:cxnLst/>
              <a:rect l="l" t="t" r="r" b="b"/>
              <a:pathLst>
                <a:path w="8391525" h="9525">
                  <a:moveTo>
                    <a:pt x="0" y="0"/>
                  </a:moveTo>
                  <a:lnTo>
                    <a:pt x="8391525" y="0"/>
                  </a:lnTo>
                </a:path>
              </a:pathLst>
            </a:custGeom>
            <a:noFill/>
            <a:ln w="9525">
              <a:solidFill>
                <a:srgbClr val="DADDDC"/>
              </a:solidFill>
            </a:ln>
          </p:spPr>
        </p:sp>
        <p:sp>
          <p:nvSpPr>
            <p:cNvPr id="30" name="Rectangle 30"/>
            <p:cNvSpPr/>
            <p:nvPr/>
          </p:nvSpPr>
          <p:spPr>
            <a:xfrm>
              <a:off x="381000" y="2867025"/>
              <a:ext cx="8391525" cy="590550"/>
            </a:xfrm>
            <a:prstGeom prst="rect">
              <a:avLst/>
            </a:prstGeom>
            <a:solidFill>
              <a:srgbClr val="F6F2EE"/>
            </a:solidFill>
            <a:ln>
              <a:noFill/>
            </a:ln>
          </p:spPr>
        </p:sp>
        <p:sp>
          <p:nvSpPr>
            <p:cNvPr id="31" name="TextBox 31"/>
            <p:cNvSpPr txBox="1"/>
            <p:nvPr/>
          </p:nvSpPr>
          <p:spPr>
            <a:xfrm>
              <a:off x="517017" y="3054350"/>
              <a:ext cx="1367409" cy="264033"/>
            </a:xfrm>
            <a:prstGeom prst="rect">
              <a:avLst/>
            </a:prstGeom>
            <a:noFill/>
            <a:ln>
              <a:noFill/>
            </a:ln>
          </p:spPr>
          <p:txBody>
            <a:bodyPr wrap="none" lIns="0" tIns="0" rIns="0" bIns="0" anchor="t" anchorCtr="0">
              <a:spAutoFit/>
            </a:bodyPr>
            <a:lstStyle/>
            <a:p>
              <a:pPr algn="l"/>
              <a:r>
                <a:rPr lang="zh-CN" sz="1350" b="1" dirty="0">
                  <a:solidFill>
                    <a:srgbClr val="29343A"/>
                  </a:solidFill>
                  <a:latin typeface="Microsoft YaHei"/>
                  <a:ea typeface="Microsoft YaHei"/>
                  <a:cs typeface="Microsoft YaHei"/>
                </a:rPr>
                <a:t>颗粒与摩擦调控</a:t>
              </a:r>
            </a:p>
          </p:txBody>
        </p:sp>
        <p:sp>
          <p:nvSpPr>
            <p:cNvPr id="32" name="TextBox 32"/>
            <p:cNvSpPr txBox="1"/>
            <p:nvPr/>
          </p:nvSpPr>
          <p:spPr>
            <a:xfrm>
              <a:off x="2288667" y="3054350"/>
              <a:ext cx="2094357" cy="264033"/>
            </a:xfrm>
            <a:prstGeom prst="rect">
              <a:avLst/>
            </a:prstGeom>
            <a:noFill/>
            <a:ln>
              <a:noFill/>
            </a:ln>
          </p:spPr>
          <p:txBody>
            <a:bodyPr wrap="none" lIns="0" tIns="0" rIns="0" bIns="0" anchor="t" anchorCtr="0">
              <a:spAutoFit/>
            </a:bodyPr>
            <a:lstStyle/>
            <a:p>
              <a:pPr algn="l"/>
              <a:r>
                <a:rPr lang="zh-CN" sz="1350" dirty="0">
                  <a:solidFill>
                    <a:srgbClr val="29343A"/>
                  </a:solidFill>
                  <a:latin typeface="Microsoft YaHei"/>
                  <a:ea typeface="Microsoft YaHei"/>
                  <a:cs typeface="Microsoft YaHei"/>
                </a:rPr>
                <a:t>接触与纱线相对运动调节</a:t>
              </a:r>
            </a:p>
          </p:txBody>
        </p:sp>
        <p:sp>
          <p:nvSpPr>
            <p:cNvPr id="33" name="TextBox 33"/>
            <p:cNvSpPr txBox="1"/>
            <p:nvPr/>
          </p:nvSpPr>
          <p:spPr>
            <a:xfrm>
              <a:off x="5317617" y="3054350"/>
              <a:ext cx="1812286" cy="264033"/>
            </a:xfrm>
            <a:prstGeom prst="rect">
              <a:avLst/>
            </a:prstGeom>
            <a:noFill/>
            <a:ln>
              <a:noFill/>
            </a:ln>
          </p:spPr>
          <p:txBody>
            <a:bodyPr wrap="none" lIns="0" tIns="0" rIns="0" bIns="0" anchor="t" anchorCtr="0">
              <a:spAutoFit/>
            </a:bodyPr>
            <a:lstStyle/>
            <a:p>
              <a:pPr algn="l"/>
              <a:r>
                <a:rPr lang="zh-CN" sz="1350" dirty="0">
                  <a:solidFill>
                    <a:srgbClr val="29343A"/>
                  </a:solidFill>
                  <a:latin typeface="Microsoft YaHei"/>
                  <a:ea typeface="Microsoft YaHei"/>
                  <a:cs typeface="Microsoft YaHei"/>
                </a:rPr>
                <a:t>有效分散 ↔ 局部团聚</a:t>
              </a:r>
            </a:p>
          </p:txBody>
        </p:sp>
        <p:sp>
          <p:nvSpPr>
            <p:cNvPr id="34" name="Line 34"/>
            <p:cNvSpPr/>
            <p:nvPr/>
          </p:nvSpPr>
          <p:spPr>
            <a:xfrm>
              <a:off x="381000" y="3457575"/>
              <a:ext cx="8391525" cy="9525"/>
            </a:xfrm>
            <a:custGeom>
              <a:avLst/>
              <a:gdLst/>
              <a:ahLst/>
              <a:cxnLst/>
              <a:rect l="l" t="t" r="r" b="b"/>
              <a:pathLst>
                <a:path w="8391525" h="9525">
                  <a:moveTo>
                    <a:pt x="0" y="0"/>
                  </a:moveTo>
                  <a:lnTo>
                    <a:pt x="8391525" y="0"/>
                  </a:lnTo>
                </a:path>
              </a:pathLst>
            </a:custGeom>
            <a:noFill/>
            <a:ln w="9525">
              <a:solidFill>
                <a:srgbClr val="DADDDC"/>
              </a:solidFill>
            </a:ln>
          </p:spPr>
        </p:sp>
        <p:sp>
          <p:nvSpPr>
            <p:cNvPr id="35" name="TextBox 35"/>
            <p:cNvSpPr txBox="1"/>
            <p:nvPr/>
          </p:nvSpPr>
          <p:spPr>
            <a:xfrm>
              <a:off x="517017" y="3644900"/>
              <a:ext cx="1367409" cy="264033"/>
            </a:xfrm>
            <a:prstGeom prst="rect">
              <a:avLst/>
            </a:prstGeom>
            <a:noFill/>
            <a:ln>
              <a:noFill/>
            </a:ln>
          </p:spPr>
          <p:txBody>
            <a:bodyPr wrap="none" lIns="0" tIns="0" rIns="0" bIns="0" anchor="t" anchorCtr="0">
              <a:spAutoFit/>
            </a:bodyPr>
            <a:lstStyle/>
            <a:p>
              <a:pPr algn="l"/>
              <a:r>
                <a:rPr lang="zh-CN" sz="1350" b="1" dirty="0">
                  <a:solidFill>
                    <a:srgbClr val="29343A"/>
                  </a:solidFill>
                  <a:latin typeface="Microsoft YaHei"/>
                  <a:ea typeface="Microsoft YaHei"/>
                  <a:cs typeface="Microsoft YaHei"/>
                </a:rPr>
                <a:t>多层与角度设计</a:t>
              </a:r>
            </a:p>
          </p:txBody>
        </p:sp>
        <p:sp>
          <p:nvSpPr>
            <p:cNvPr id="36" name="TextBox 36"/>
            <p:cNvSpPr txBox="1"/>
            <p:nvPr/>
          </p:nvSpPr>
          <p:spPr>
            <a:xfrm>
              <a:off x="2288667" y="3644900"/>
              <a:ext cx="2094357" cy="264033"/>
            </a:xfrm>
            <a:prstGeom prst="rect">
              <a:avLst/>
            </a:prstGeom>
            <a:noFill/>
            <a:ln>
              <a:noFill/>
            </a:ln>
          </p:spPr>
          <p:txBody>
            <a:bodyPr wrap="none" lIns="0" tIns="0" rIns="0" bIns="0" anchor="t" anchorCtr="0">
              <a:spAutoFit/>
            </a:bodyPr>
            <a:lstStyle/>
            <a:p>
              <a:pPr algn="l"/>
              <a:r>
                <a:rPr lang="zh-CN" sz="1350" dirty="0">
                  <a:solidFill>
                    <a:srgbClr val="29343A"/>
                  </a:solidFill>
                  <a:latin typeface="Microsoft YaHei"/>
                  <a:ea typeface="Microsoft YaHei"/>
                  <a:cs typeface="Microsoft YaHei"/>
                </a:rPr>
                <a:t>层间传力及载荷路径调整</a:t>
              </a:r>
            </a:p>
          </p:txBody>
        </p:sp>
        <p:sp>
          <p:nvSpPr>
            <p:cNvPr id="37" name="TextBox 37"/>
            <p:cNvSpPr txBox="1"/>
            <p:nvPr/>
          </p:nvSpPr>
          <p:spPr>
            <a:xfrm>
              <a:off x="5317617" y="3644900"/>
              <a:ext cx="1994023" cy="264033"/>
            </a:xfrm>
            <a:prstGeom prst="rect">
              <a:avLst/>
            </a:prstGeom>
            <a:noFill/>
            <a:ln>
              <a:noFill/>
            </a:ln>
          </p:spPr>
          <p:txBody>
            <a:bodyPr wrap="none" lIns="0" tIns="0" rIns="0" bIns="0" anchor="t" anchorCtr="0">
              <a:spAutoFit/>
            </a:bodyPr>
            <a:lstStyle/>
            <a:p>
              <a:pPr algn="l"/>
              <a:r>
                <a:rPr lang="zh-CN" sz="1350" dirty="0">
                  <a:solidFill>
                    <a:srgbClr val="29343A"/>
                  </a:solidFill>
                  <a:latin typeface="Microsoft YaHei"/>
                  <a:ea typeface="Microsoft YaHei"/>
                  <a:cs typeface="Microsoft YaHei"/>
                </a:rPr>
                <a:t>定向约束 ↔ 方向适应性</a:t>
              </a:r>
            </a:p>
          </p:txBody>
        </p:sp>
        <p:sp>
          <p:nvSpPr>
            <p:cNvPr id="38" name="Line 38"/>
            <p:cNvSpPr/>
            <p:nvPr/>
          </p:nvSpPr>
          <p:spPr>
            <a:xfrm>
              <a:off x="381000" y="4048125"/>
              <a:ext cx="8391525" cy="9525"/>
            </a:xfrm>
            <a:custGeom>
              <a:avLst/>
              <a:gdLst/>
              <a:ahLst/>
              <a:cxnLst/>
              <a:rect l="l" t="t" r="r" b="b"/>
              <a:pathLst>
                <a:path w="8391525" h="9525">
                  <a:moveTo>
                    <a:pt x="0" y="0"/>
                  </a:moveTo>
                  <a:lnTo>
                    <a:pt x="8391525" y="0"/>
                  </a:lnTo>
                </a:path>
              </a:pathLst>
            </a:custGeom>
            <a:noFill/>
            <a:ln w="9525">
              <a:solidFill>
                <a:srgbClr val="DADDDC"/>
              </a:solidFill>
            </a:ln>
          </p:spPr>
        </p:sp>
      </p:grpSp>
      <p:grpSp>
        <p:nvGrpSpPr>
          <p:cNvPr id="43" name="takeaway"/>
          <p:cNvGrpSpPr/>
          <p:nvPr/>
        </p:nvGrpSpPr>
        <p:grpSpPr>
          <a:xfrm>
            <a:off x="361950" y="4419600"/>
            <a:ext cx="8420100" cy="361950"/>
            <a:chOff x="361950" y="4419600"/>
            <a:chExt cx="8420100" cy="361950"/>
          </a:xfrm>
        </p:grpSpPr>
        <p:sp>
          <p:nvSpPr>
            <p:cNvPr id="40" name="Rectangle 40"/>
            <p:cNvSpPr/>
            <p:nvPr/>
          </p:nvSpPr>
          <p:spPr>
            <a:xfrm>
              <a:off x="361950" y="4419600"/>
              <a:ext cx="8420100" cy="361950"/>
            </a:xfrm>
            <a:prstGeom prst="rect">
              <a:avLst/>
            </a:prstGeom>
            <a:solidFill>
              <a:srgbClr val="F6F2EE"/>
            </a:solidFill>
            <a:ln>
              <a:noFill/>
            </a:ln>
          </p:spPr>
        </p:sp>
        <p:sp>
          <p:nvSpPr>
            <p:cNvPr id="41" name="Rectangle 41"/>
            <p:cNvSpPr/>
            <p:nvPr/>
          </p:nvSpPr>
          <p:spPr>
            <a:xfrm>
              <a:off x="361950" y="4419600"/>
              <a:ext cx="38100" cy="361950"/>
            </a:xfrm>
            <a:prstGeom prst="rect">
              <a:avLst/>
            </a:prstGeom>
            <a:solidFill>
              <a:srgbClr val="9E423D"/>
            </a:solidFill>
            <a:ln>
              <a:noFill/>
            </a:ln>
          </p:spPr>
        </p:sp>
        <p:sp>
          <p:nvSpPr>
            <p:cNvPr id="42" name="TextBox 42"/>
            <p:cNvSpPr txBox="1"/>
            <p:nvPr/>
          </p:nvSpPr>
          <p:spPr>
            <a:xfrm>
              <a:off x="497967" y="4492625"/>
              <a:ext cx="5183886" cy="264033"/>
            </a:xfrm>
            <a:prstGeom prst="rect">
              <a:avLst/>
            </a:prstGeom>
            <a:noFill/>
            <a:ln>
              <a:noFill/>
            </a:ln>
          </p:spPr>
          <p:txBody>
            <a:bodyPr wrap="none" lIns="0" tIns="0" rIns="0" bIns="0" anchor="t" anchorCtr="0">
              <a:spAutoFit/>
            </a:bodyPr>
            <a:lstStyle/>
            <a:p>
              <a:pPr algn="l"/>
              <a:r>
                <a:rPr lang="zh-CN" sz="1350" b="1" dirty="0">
                  <a:solidFill>
                    <a:srgbClr val="9E423D"/>
                  </a:solidFill>
                  <a:latin typeface="Microsoft YaHei"/>
                  <a:ea typeface="Microsoft YaHei"/>
                  <a:cs typeface="Microsoft YaHei"/>
                </a:rPr>
                <a:t>切入点：把分子网络、织物界面和层间结构放在同一设计框架。</a:t>
              </a:r>
            </a:p>
          </p:txBody>
        </p:sp>
      </p:grpSp>
    </p:spTree>
  </p:cSld>
  <p:clrMapOvr>
    <a:masterClrMapping/>
  </p:clrMapOvr>
  <p:transition advClick="1"/>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 name="矩形 8"/>
          <p:cNvSpPr/>
          <p:nvPr/>
        </p:nvSpPr>
        <p:spPr>
          <a:xfrm>
            <a:off x="-10066" y="597600"/>
            <a:ext cx="9154065" cy="72000"/>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0" y="-7934"/>
            <a:ext cx="9144000" cy="556614"/>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p:cNvPicPr>
            <a:picLocks noChangeAspect="1"/>
          </p:cNvPicPr>
          <p:nvPr>
            <p:custDataLst>
              <p:tags r:id="rId1"/>
            </p:custDataLst>
          </p:nvPr>
        </p:nvPicPr>
        <p:blipFill>
          <a:blip r:embed="rId4"/>
          <a:srcRect l="1701" t="2985" r="4812" b="1949"/>
          <a:stretch>
            <a:fillRect/>
          </a:stretch>
        </p:blipFill>
        <p:spPr>
          <a:xfrm>
            <a:off x="135376" y="17739"/>
            <a:ext cx="509847" cy="514223"/>
          </a:xfrm>
          <a:prstGeom prst="ellipse">
            <a:avLst/>
          </a:prstGeom>
        </p:spPr>
      </p:pic>
      <p:grpSp>
        <p:nvGrpSpPr>
          <p:cNvPr id="6" name="page-title"/>
          <p:cNvGrpSpPr/>
          <p:nvPr/>
        </p:nvGrpSpPr>
        <p:grpSpPr>
          <a:xfrm>
            <a:off x="789813" y="120650"/>
            <a:ext cx="6003087" cy="396050"/>
            <a:chOff x="789813" y="120650"/>
            <a:chExt cx="6003087" cy="396050"/>
          </a:xfrm>
        </p:grpSpPr>
        <p:sp>
          <p:nvSpPr>
            <p:cNvPr id="5" name="TextBox 5"/>
            <p:cNvSpPr txBox="1"/>
            <p:nvPr/>
          </p:nvSpPr>
          <p:spPr>
            <a:xfrm>
              <a:off x="789813" y="120650"/>
              <a:ext cx="6092571" cy="396050"/>
            </a:xfrm>
            <a:prstGeom prst="rect">
              <a:avLst/>
            </a:prstGeom>
            <a:noFill/>
            <a:ln>
              <a:noFill/>
            </a:ln>
          </p:spPr>
          <p:txBody>
            <a:bodyPr wrap="none" lIns="0" tIns="0" rIns="0" bIns="0" anchor="t" anchorCtr="0">
              <a:spAutoFit/>
            </a:bodyPr>
            <a:lstStyle/>
            <a:p>
              <a:pPr algn="l"/>
              <a:r>
                <a:rPr lang="zh-CN" sz="2020" b="1" dirty="0">
                  <a:solidFill>
                    <a:srgbClr val="FFFFFF"/>
                  </a:solidFill>
                  <a:latin typeface="Microsoft YaHei"/>
                  <a:ea typeface="Microsoft YaHei"/>
                  <a:cs typeface="Microsoft YaHei"/>
                </a:rPr>
                <a:t>关键问题：高效耗能、柔性与形状稳定如何兼顾？</a:t>
              </a:r>
            </a:p>
          </p:txBody>
        </p:sp>
      </p:grpSp>
      <p:grpSp>
        <p:nvGrpSpPr>
          <p:cNvPr id="12" name="page-footer"/>
          <p:cNvGrpSpPr/>
          <p:nvPr/>
        </p:nvGrpSpPr>
        <p:grpSpPr>
          <a:xfrm>
            <a:off x="366712" y="4905375"/>
            <a:ext cx="8405813" cy="233362"/>
            <a:chOff x="366712" y="4905375"/>
            <a:chExt cx="8405813" cy="233362"/>
          </a:xfrm>
        </p:grpSpPr>
        <p:sp>
          <p:nvSpPr>
            <p:cNvPr id="7" name="Line 7"/>
            <p:cNvSpPr/>
            <p:nvPr/>
          </p:nvSpPr>
          <p:spPr>
            <a:xfrm>
              <a:off x="371475" y="4905375"/>
              <a:ext cx="8401050" cy="9525"/>
            </a:xfrm>
            <a:custGeom>
              <a:avLst/>
              <a:gdLst/>
              <a:ahLst/>
              <a:cxnLst/>
              <a:rect l="l" t="t" r="r" b="b"/>
              <a:pathLst>
                <a:path w="8401050" h="9525">
                  <a:moveTo>
                    <a:pt x="0" y="0"/>
                  </a:moveTo>
                  <a:lnTo>
                    <a:pt x="8401050" y="0"/>
                  </a:lnTo>
                </a:path>
              </a:pathLst>
            </a:custGeom>
            <a:noFill/>
            <a:ln w="9525">
              <a:solidFill>
                <a:srgbClr val="DADDDC"/>
              </a:solidFill>
            </a:ln>
          </p:spPr>
        </p:sp>
        <p:sp>
          <p:nvSpPr>
            <p:cNvPr id="8" name="TextBox 8"/>
            <p:cNvSpPr txBox="1"/>
            <p:nvPr/>
          </p:nvSpPr>
          <p:spPr>
            <a:xfrm>
              <a:off x="366712" y="4962525"/>
              <a:ext cx="1893216"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芳纶柔性复合材料 / 纺织学生论坛</a:t>
              </a:r>
            </a:p>
          </p:txBody>
        </p:sp>
        <p:sp>
          <p:nvSpPr>
            <p:cNvPr id="10" name="TextBox 10"/>
            <p:cNvSpPr txBox="1"/>
            <p:nvPr/>
          </p:nvSpPr>
          <p:spPr>
            <a:xfrm>
              <a:off x="6519862" y="4962525"/>
              <a:ext cx="579882"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核心问题</a:t>
              </a:r>
            </a:p>
          </p:txBody>
        </p:sp>
        <p:sp>
          <p:nvSpPr>
            <p:cNvPr id="11" name="TextBox 11"/>
            <p:cNvSpPr txBox="1"/>
            <p:nvPr/>
          </p:nvSpPr>
          <p:spPr>
            <a:xfrm>
              <a:off x="8301781" y="4962525"/>
              <a:ext cx="465981" cy="176212"/>
            </a:xfrm>
            <a:prstGeom prst="rect">
              <a:avLst/>
            </a:prstGeom>
            <a:noFill/>
            <a:ln>
              <a:noFill/>
            </a:ln>
          </p:spPr>
          <p:txBody>
            <a:bodyPr wrap="none" lIns="0" tIns="0" rIns="0" bIns="0" anchor="t" anchorCtr="0">
              <a:spAutoFit/>
            </a:bodyPr>
            <a:lstStyle/>
            <a:p>
              <a:pPr algn="r"/>
              <a:r>
                <a:rPr lang="zh-CN" sz="900" dirty="0">
                  <a:solidFill>
                    <a:srgbClr val="69747A"/>
                  </a:solidFill>
                  <a:latin typeface="Microsoft YaHei"/>
                  <a:ea typeface="Microsoft YaHei"/>
                  <a:cs typeface="Microsoft YaHei"/>
                </a:rPr>
                <a:t>04 / 14</a:t>
              </a:r>
            </a:p>
          </p:txBody>
        </p:sp>
      </p:grpSp>
      <p:grpSp>
        <p:nvGrpSpPr>
          <p:cNvPr id="15" name="context"/>
          <p:cNvGrpSpPr/>
          <p:nvPr/>
        </p:nvGrpSpPr>
        <p:grpSpPr>
          <a:xfrm>
            <a:off x="364998" y="800100"/>
            <a:ext cx="4493108" cy="250317"/>
            <a:chOff x="364998" y="800100"/>
            <a:chExt cx="4493108" cy="250317"/>
          </a:xfrm>
        </p:grpSpPr>
        <p:sp>
          <p:nvSpPr>
            <p:cNvPr id="14" name="TextBox 14"/>
            <p:cNvSpPr txBox="1"/>
            <p:nvPr/>
          </p:nvSpPr>
          <p:spPr>
            <a:xfrm>
              <a:off x="364998" y="800100"/>
              <a:ext cx="4557903" cy="250317"/>
            </a:xfrm>
            <a:prstGeom prst="rect">
              <a:avLst/>
            </a:prstGeom>
            <a:noFill/>
            <a:ln>
              <a:noFill/>
            </a:ln>
          </p:spPr>
          <p:txBody>
            <a:bodyPr wrap="none" lIns="0" tIns="0" rIns="0" bIns="0" anchor="t" anchorCtr="0">
              <a:spAutoFit/>
            </a:bodyPr>
            <a:lstStyle/>
            <a:p>
              <a:pPr algn="l"/>
              <a:r>
                <a:rPr lang="zh-CN" sz="1280" dirty="0">
                  <a:solidFill>
                    <a:srgbClr val="69747A"/>
                  </a:solidFill>
                  <a:latin typeface="Microsoft YaHei"/>
                  <a:ea typeface="Microsoft YaHei"/>
                  <a:cs typeface="Microsoft YaHei"/>
                </a:rPr>
                <a:t>三个目标对应不同约束：关键是时间尺度与结构层级的分工</a:t>
              </a:r>
            </a:p>
          </p:txBody>
        </p:sp>
      </p:grpSp>
      <p:grpSp>
        <p:nvGrpSpPr>
          <p:cNvPr id="27" name="tradeoff"/>
          <p:cNvGrpSpPr/>
          <p:nvPr/>
        </p:nvGrpSpPr>
        <p:grpSpPr>
          <a:xfrm>
            <a:off x="495300" y="923925"/>
            <a:ext cx="3867150" cy="3276600"/>
            <a:chOff x="495300" y="923925"/>
            <a:chExt cx="3867150" cy="3276600"/>
          </a:xfrm>
        </p:grpSpPr>
        <p:sp>
          <p:nvSpPr>
            <p:cNvPr id="16" name="Line 16"/>
            <p:cNvSpPr/>
            <p:nvPr/>
          </p:nvSpPr>
          <p:spPr>
            <a:xfrm>
              <a:off x="1066800" y="1495425"/>
              <a:ext cx="1362075" cy="2133600"/>
            </a:xfrm>
            <a:custGeom>
              <a:avLst/>
              <a:gdLst/>
              <a:ahLst/>
              <a:cxnLst/>
              <a:rect l="l" t="t" r="r" b="b"/>
              <a:pathLst>
                <a:path w="1362075" h="2133600">
                  <a:moveTo>
                    <a:pt x="1362075" y="0"/>
                  </a:moveTo>
                  <a:lnTo>
                    <a:pt x="0" y="2133600"/>
                  </a:lnTo>
                </a:path>
              </a:pathLst>
            </a:custGeom>
            <a:noFill/>
            <a:ln w="28575">
              <a:solidFill>
                <a:srgbClr val="DADDDC"/>
              </a:solidFill>
            </a:ln>
          </p:spPr>
        </p:sp>
        <p:sp>
          <p:nvSpPr>
            <p:cNvPr id="17" name="Line 17"/>
            <p:cNvSpPr/>
            <p:nvPr/>
          </p:nvSpPr>
          <p:spPr>
            <a:xfrm>
              <a:off x="1066800" y="3629025"/>
              <a:ext cx="2724150" cy="9525"/>
            </a:xfrm>
            <a:custGeom>
              <a:avLst/>
              <a:gdLst/>
              <a:ahLst/>
              <a:cxnLst/>
              <a:rect l="l" t="t" r="r" b="b"/>
              <a:pathLst>
                <a:path w="2724150" h="9525">
                  <a:moveTo>
                    <a:pt x="0" y="0"/>
                  </a:moveTo>
                  <a:lnTo>
                    <a:pt x="2724150" y="0"/>
                  </a:lnTo>
                </a:path>
              </a:pathLst>
            </a:custGeom>
            <a:noFill/>
            <a:ln w="28575">
              <a:solidFill>
                <a:srgbClr val="DADDDC"/>
              </a:solidFill>
            </a:ln>
          </p:spPr>
        </p:sp>
        <p:sp>
          <p:nvSpPr>
            <p:cNvPr id="19" name="Line 19"/>
            <p:cNvSpPr/>
            <p:nvPr/>
          </p:nvSpPr>
          <p:spPr>
            <a:xfrm>
              <a:off x="2428875" y="1495425"/>
              <a:ext cx="1362075" cy="2133600"/>
            </a:xfrm>
            <a:custGeom>
              <a:avLst/>
              <a:gdLst/>
              <a:ahLst/>
              <a:cxnLst/>
              <a:rect l="l" t="t" r="r" b="b"/>
              <a:pathLst>
                <a:path w="1362075" h="2133600">
                  <a:moveTo>
                    <a:pt x="1362075" y="2133600"/>
                  </a:moveTo>
                  <a:lnTo>
                    <a:pt x="0" y="0"/>
                  </a:lnTo>
                </a:path>
              </a:pathLst>
            </a:custGeom>
            <a:noFill/>
            <a:ln w="28575">
              <a:solidFill>
                <a:srgbClr val="DADDDC"/>
              </a:solidFill>
            </a:ln>
          </p:spPr>
        </p:sp>
        <p:sp>
          <p:nvSpPr>
            <p:cNvPr id="20" name="Ellipse 20"/>
            <p:cNvSpPr/>
            <p:nvPr/>
          </p:nvSpPr>
          <p:spPr>
            <a:xfrm>
              <a:off x="1857375" y="923925"/>
              <a:ext cx="1143000" cy="1143000"/>
            </a:xfrm>
            <a:prstGeom prst="ellipse">
              <a:avLst/>
            </a:prstGeom>
            <a:solidFill>
              <a:srgbClr val="F6F2EE"/>
            </a:solidFill>
            <a:ln w="14288">
              <a:solidFill>
                <a:srgbClr val="9E423D"/>
              </a:solidFill>
            </a:ln>
          </p:spPr>
        </p:sp>
        <p:sp>
          <p:nvSpPr>
            <p:cNvPr id="21" name="TextBox 21"/>
            <p:cNvSpPr txBox="1"/>
            <p:nvPr/>
          </p:nvSpPr>
          <p:spPr>
            <a:xfrm>
              <a:off x="1957197" y="1371600"/>
              <a:ext cx="943356" cy="308991"/>
            </a:xfrm>
            <a:prstGeom prst="rect">
              <a:avLst/>
            </a:prstGeom>
            <a:noFill/>
            <a:ln>
              <a:noFill/>
            </a:ln>
          </p:spPr>
          <p:txBody>
            <a:bodyPr wrap="none" lIns="0" tIns="0" rIns="0" bIns="0" anchor="t" anchorCtr="0">
              <a:spAutoFit/>
            </a:bodyPr>
            <a:lstStyle/>
            <a:p>
              <a:pPr algn="ctr"/>
              <a:r>
                <a:rPr lang="zh-CN" sz="1580" b="1" dirty="0">
                  <a:solidFill>
                    <a:srgbClr val="9E423D"/>
                  </a:solidFill>
                  <a:latin typeface="Microsoft YaHei"/>
                  <a:ea typeface="Microsoft YaHei"/>
                  <a:cs typeface="Microsoft YaHei"/>
                </a:rPr>
                <a:t>高效耗能</a:t>
              </a:r>
            </a:p>
          </p:txBody>
        </p:sp>
        <p:sp>
          <p:nvSpPr>
            <p:cNvPr id="22" name="Ellipse 22"/>
            <p:cNvSpPr/>
            <p:nvPr/>
          </p:nvSpPr>
          <p:spPr>
            <a:xfrm>
              <a:off x="495300" y="3057525"/>
              <a:ext cx="1143000" cy="1143000"/>
            </a:xfrm>
            <a:prstGeom prst="ellipse">
              <a:avLst/>
            </a:prstGeom>
            <a:solidFill>
              <a:srgbClr val="F6F2EE"/>
            </a:solidFill>
            <a:ln w="14288">
              <a:solidFill>
                <a:srgbClr val="9E423D"/>
              </a:solidFill>
            </a:ln>
          </p:spPr>
        </p:sp>
        <p:sp>
          <p:nvSpPr>
            <p:cNvPr id="23" name="TextBox 23"/>
            <p:cNvSpPr txBox="1"/>
            <p:nvPr/>
          </p:nvSpPr>
          <p:spPr>
            <a:xfrm>
              <a:off x="595122" y="3505200"/>
              <a:ext cx="943356" cy="308991"/>
            </a:xfrm>
            <a:prstGeom prst="rect">
              <a:avLst/>
            </a:prstGeom>
            <a:noFill/>
            <a:ln>
              <a:noFill/>
            </a:ln>
          </p:spPr>
          <p:txBody>
            <a:bodyPr wrap="none" lIns="0" tIns="0" rIns="0" bIns="0" anchor="t" anchorCtr="0">
              <a:spAutoFit/>
            </a:bodyPr>
            <a:lstStyle/>
            <a:p>
              <a:pPr algn="ctr"/>
              <a:r>
                <a:rPr lang="zh-CN" sz="1580" b="1" dirty="0">
                  <a:solidFill>
                    <a:srgbClr val="9E423D"/>
                  </a:solidFill>
                  <a:latin typeface="Microsoft YaHei"/>
                  <a:ea typeface="Microsoft YaHei"/>
                  <a:cs typeface="Microsoft YaHei"/>
                </a:rPr>
                <a:t>柔性适应</a:t>
              </a:r>
            </a:p>
          </p:txBody>
        </p:sp>
        <p:sp>
          <p:nvSpPr>
            <p:cNvPr id="24" name="Ellipse 24"/>
            <p:cNvSpPr/>
            <p:nvPr/>
          </p:nvSpPr>
          <p:spPr>
            <a:xfrm>
              <a:off x="3219450" y="3057525"/>
              <a:ext cx="1143000" cy="1143000"/>
            </a:xfrm>
            <a:prstGeom prst="ellipse">
              <a:avLst/>
            </a:prstGeom>
            <a:solidFill>
              <a:srgbClr val="F6F2EE"/>
            </a:solidFill>
            <a:ln w="14288">
              <a:solidFill>
                <a:srgbClr val="9E423D"/>
              </a:solidFill>
            </a:ln>
          </p:spPr>
        </p:sp>
        <p:sp>
          <p:nvSpPr>
            <p:cNvPr id="25" name="TextBox 25"/>
            <p:cNvSpPr txBox="1"/>
            <p:nvPr/>
          </p:nvSpPr>
          <p:spPr>
            <a:xfrm>
              <a:off x="3319272" y="3505200"/>
              <a:ext cx="943356" cy="308991"/>
            </a:xfrm>
            <a:prstGeom prst="rect">
              <a:avLst/>
            </a:prstGeom>
            <a:noFill/>
            <a:ln>
              <a:noFill/>
            </a:ln>
          </p:spPr>
          <p:txBody>
            <a:bodyPr wrap="none" lIns="0" tIns="0" rIns="0" bIns="0" anchor="t" anchorCtr="0">
              <a:spAutoFit/>
            </a:bodyPr>
            <a:lstStyle/>
            <a:p>
              <a:pPr algn="ctr"/>
              <a:r>
                <a:rPr lang="zh-CN" sz="1580" b="1" dirty="0">
                  <a:solidFill>
                    <a:srgbClr val="9E423D"/>
                  </a:solidFill>
                  <a:latin typeface="Microsoft YaHei"/>
                  <a:ea typeface="Microsoft YaHei"/>
                  <a:cs typeface="Microsoft YaHei"/>
                </a:rPr>
                <a:t>形状稳定</a:t>
              </a:r>
            </a:p>
          </p:txBody>
        </p:sp>
        <p:sp>
          <p:nvSpPr>
            <p:cNvPr id="26" name="TextBox 26"/>
            <p:cNvSpPr txBox="1"/>
            <p:nvPr/>
          </p:nvSpPr>
          <p:spPr>
            <a:xfrm>
              <a:off x="1825943" y="2501900"/>
              <a:ext cx="1205865" cy="322707"/>
            </a:xfrm>
            <a:prstGeom prst="rect">
              <a:avLst/>
            </a:prstGeom>
            <a:noFill/>
            <a:ln>
              <a:noFill/>
            </a:ln>
          </p:spPr>
          <p:txBody>
            <a:bodyPr wrap="none" lIns="0" tIns="0" rIns="0" bIns="0" anchor="t" anchorCtr="0">
              <a:spAutoFit/>
            </a:bodyPr>
            <a:lstStyle/>
            <a:p>
              <a:pPr algn="ctr"/>
              <a:r>
                <a:rPr lang="zh-CN" sz="1650" b="1" dirty="0">
                  <a:solidFill>
                    <a:srgbClr val="246D73"/>
                  </a:solidFill>
                  <a:latin typeface="Microsoft YaHei"/>
                  <a:ea typeface="Microsoft YaHei"/>
                  <a:cs typeface="Microsoft YaHei"/>
                </a:rPr>
                <a:t>约束与耗散</a:t>
              </a:r>
            </a:p>
          </p:txBody>
        </p:sp>
      </p:grpSp>
      <p:grpSp>
        <p:nvGrpSpPr>
          <p:cNvPr id="36" name="questions"/>
          <p:cNvGrpSpPr/>
          <p:nvPr/>
        </p:nvGrpSpPr>
        <p:grpSpPr>
          <a:xfrm>
            <a:off x="4982718" y="1352550"/>
            <a:ext cx="3608832" cy="2891727"/>
            <a:chOff x="4982718" y="1352550"/>
            <a:chExt cx="3608832" cy="2891727"/>
          </a:xfrm>
        </p:grpSpPr>
        <p:sp>
          <p:nvSpPr>
            <p:cNvPr id="28" name="TextBox 28"/>
            <p:cNvSpPr txBox="1"/>
            <p:nvPr/>
          </p:nvSpPr>
          <p:spPr>
            <a:xfrm>
              <a:off x="4985004" y="1352550"/>
              <a:ext cx="741426" cy="234696"/>
            </a:xfrm>
            <a:prstGeom prst="rect">
              <a:avLst/>
            </a:prstGeom>
            <a:noFill/>
            <a:ln>
              <a:noFill/>
            </a:ln>
          </p:spPr>
          <p:txBody>
            <a:bodyPr wrap="none" lIns="0" tIns="0" rIns="0" bIns="0" anchor="t" anchorCtr="0">
              <a:spAutoFit/>
            </a:bodyPr>
            <a:lstStyle/>
            <a:p>
              <a:pPr algn="l"/>
              <a:r>
                <a:rPr lang="zh-CN" sz="1200" b="1" dirty="0">
                  <a:solidFill>
                    <a:srgbClr val="246D73"/>
                  </a:solidFill>
                  <a:latin typeface="Microsoft YaHei"/>
                  <a:ea typeface="Microsoft YaHei"/>
                  <a:cs typeface="Microsoft YaHei"/>
                </a:rPr>
                <a:t>设计问题</a:t>
              </a:r>
            </a:p>
          </p:txBody>
        </p:sp>
        <p:sp>
          <p:nvSpPr>
            <p:cNvPr id="29" name="TextBox 29"/>
            <p:cNvSpPr txBox="1"/>
            <p:nvPr/>
          </p:nvSpPr>
          <p:spPr>
            <a:xfrm>
              <a:off x="4982718" y="1654175"/>
              <a:ext cx="2982849" cy="322707"/>
            </a:xfrm>
            <a:prstGeom prst="rect">
              <a:avLst/>
            </a:prstGeom>
            <a:noFill/>
            <a:ln>
              <a:noFill/>
            </a:ln>
          </p:spPr>
          <p:txBody>
            <a:bodyPr wrap="none" lIns="0" tIns="0" rIns="0" bIns="0" anchor="t" anchorCtr="0">
              <a:spAutoFit/>
            </a:bodyPr>
            <a:lstStyle/>
            <a:p>
              <a:pPr algn="l"/>
              <a:r>
                <a:rPr lang="zh-CN" sz="1650" dirty="0">
                  <a:solidFill>
                    <a:srgbClr val="29343A"/>
                  </a:solidFill>
                  <a:latin typeface="Microsoft YaHei"/>
                  <a:ea typeface="Microsoft YaHei"/>
                  <a:cs typeface="Microsoft YaHei"/>
                </a:rPr>
                <a:t>耗能单元如何在加载时参与？</a:t>
              </a:r>
            </a:p>
          </p:txBody>
        </p:sp>
        <p:sp>
          <p:nvSpPr>
            <p:cNvPr id="30" name="TextBox 30"/>
            <p:cNvSpPr txBox="1"/>
            <p:nvPr/>
          </p:nvSpPr>
          <p:spPr>
            <a:xfrm>
              <a:off x="4982718" y="2149475"/>
              <a:ext cx="2982849" cy="322707"/>
            </a:xfrm>
            <a:prstGeom prst="rect">
              <a:avLst/>
            </a:prstGeom>
            <a:noFill/>
            <a:ln>
              <a:noFill/>
            </a:ln>
          </p:spPr>
          <p:txBody>
            <a:bodyPr wrap="none" lIns="0" tIns="0" rIns="0" bIns="0" anchor="t" anchorCtr="0">
              <a:spAutoFit/>
            </a:bodyPr>
            <a:lstStyle/>
            <a:p>
              <a:pPr algn="l"/>
              <a:r>
                <a:rPr lang="zh-CN" sz="1650" dirty="0">
                  <a:solidFill>
                    <a:srgbClr val="29343A"/>
                  </a:solidFill>
                  <a:latin typeface="Microsoft YaHei"/>
                  <a:ea typeface="Microsoft YaHei"/>
                  <a:cs typeface="Microsoft YaHei"/>
                </a:rPr>
                <a:t>稳定约束如何在卸载后保留？</a:t>
              </a:r>
            </a:p>
          </p:txBody>
        </p:sp>
        <p:sp>
          <p:nvSpPr>
            <p:cNvPr id="31" name="TextBox 31"/>
            <p:cNvSpPr txBox="1"/>
            <p:nvPr/>
          </p:nvSpPr>
          <p:spPr>
            <a:xfrm>
              <a:off x="4982718" y="2644775"/>
              <a:ext cx="2982849" cy="322707"/>
            </a:xfrm>
            <a:prstGeom prst="rect">
              <a:avLst/>
            </a:prstGeom>
            <a:noFill/>
            <a:ln>
              <a:noFill/>
            </a:ln>
          </p:spPr>
          <p:txBody>
            <a:bodyPr wrap="none" lIns="0" tIns="0" rIns="0" bIns="0" anchor="t" anchorCtr="0">
              <a:spAutoFit/>
            </a:bodyPr>
            <a:lstStyle/>
            <a:p>
              <a:pPr algn="l"/>
              <a:r>
                <a:rPr lang="zh-CN" sz="1650" dirty="0">
                  <a:solidFill>
                    <a:srgbClr val="29343A"/>
                  </a:solidFill>
                  <a:latin typeface="Microsoft YaHei"/>
                  <a:ea typeface="Microsoft YaHei"/>
                  <a:cs typeface="Microsoft YaHei"/>
                </a:rPr>
                <a:t>界面约束如何避免过度刚化？</a:t>
              </a:r>
            </a:p>
          </p:txBody>
        </p:sp>
        <p:sp>
          <p:nvSpPr>
            <p:cNvPr id="32" name="Line 32"/>
            <p:cNvSpPr/>
            <p:nvPr/>
          </p:nvSpPr>
          <p:spPr>
            <a:xfrm>
              <a:off x="4991100" y="3209925"/>
              <a:ext cx="3600450" cy="9525"/>
            </a:xfrm>
            <a:custGeom>
              <a:avLst/>
              <a:gdLst/>
              <a:ahLst/>
              <a:cxnLst/>
              <a:rect l="l" t="t" r="r" b="b"/>
              <a:pathLst>
                <a:path w="3600450" h="9525">
                  <a:moveTo>
                    <a:pt x="0" y="0"/>
                  </a:moveTo>
                  <a:lnTo>
                    <a:pt x="3600450" y="0"/>
                  </a:lnTo>
                </a:path>
              </a:pathLst>
            </a:custGeom>
            <a:noFill/>
            <a:ln w="9525">
              <a:solidFill>
                <a:srgbClr val="DADDDC"/>
              </a:solidFill>
            </a:ln>
          </p:spPr>
        </p:sp>
        <p:sp>
          <p:nvSpPr>
            <p:cNvPr id="33" name="TextBox 33"/>
            <p:cNvSpPr txBox="1"/>
            <p:nvPr/>
          </p:nvSpPr>
          <p:spPr>
            <a:xfrm>
              <a:off x="4984242" y="3387725"/>
              <a:ext cx="822198" cy="264033"/>
            </a:xfrm>
            <a:prstGeom prst="rect">
              <a:avLst/>
            </a:prstGeom>
            <a:noFill/>
            <a:ln>
              <a:noFill/>
            </a:ln>
          </p:spPr>
          <p:txBody>
            <a:bodyPr wrap="none" lIns="0" tIns="0" rIns="0" bIns="0" anchor="t" anchorCtr="0">
              <a:spAutoFit/>
            </a:bodyPr>
            <a:lstStyle/>
            <a:p>
              <a:pPr algn="l"/>
              <a:r>
                <a:rPr lang="zh-CN" sz="1350" b="1" dirty="0">
                  <a:solidFill>
                    <a:srgbClr val="246D73"/>
                  </a:solidFill>
                  <a:latin typeface="Microsoft YaHei"/>
                  <a:ea typeface="Microsoft YaHei"/>
                  <a:cs typeface="Microsoft YaHei"/>
                </a:rPr>
                <a:t>研究假设</a:t>
              </a:r>
            </a:p>
          </p:txBody>
        </p:sp>
        <p:sp>
          <p:nvSpPr>
            <p:cNvPr id="34" name="TextBox 34"/>
            <p:cNvSpPr txBox="1"/>
            <p:nvPr/>
          </p:nvSpPr>
          <p:spPr>
            <a:xfrm>
              <a:off x="4983861" y="3698875"/>
              <a:ext cx="2589086" cy="278702"/>
            </a:xfrm>
            <a:prstGeom prst="rect">
              <a:avLst/>
            </a:prstGeom>
            <a:noFill/>
            <a:ln>
              <a:noFill/>
            </a:ln>
          </p:spPr>
          <p:txBody>
            <a:bodyPr wrap="none" lIns="0" tIns="0" rIns="0" bIns="0" anchor="t" anchorCtr="0">
              <a:spAutoFit/>
            </a:bodyPr>
            <a:lstStyle/>
            <a:p>
              <a:pPr algn="l"/>
              <a:r>
                <a:rPr lang="zh-CN" sz="1420" dirty="0">
                  <a:solidFill>
                    <a:srgbClr val="29343A"/>
                  </a:solidFill>
                  <a:latin typeface="Microsoft YaHei"/>
                  <a:ea typeface="Microsoft YaHei"/>
                  <a:cs typeface="Microsoft YaHei"/>
                </a:rPr>
                <a:t>以动态网络与织物结构协同，</a:t>
              </a:r>
            </a:p>
          </p:txBody>
        </p:sp>
        <p:sp>
          <p:nvSpPr>
            <p:cNvPr id="35" name="TextBox 35"/>
            <p:cNvSpPr txBox="1"/>
            <p:nvPr/>
          </p:nvSpPr>
          <p:spPr>
            <a:xfrm>
              <a:off x="4983861" y="3965575"/>
              <a:ext cx="2589086" cy="278702"/>
            </a:xfrm>
            <a:prstGeom prst="rect">
              <a:avLst/>
            </a:prstGeom>
            <a:noFill/>
            <a:ln>
              <a:noFill/>
            </a:ln>
          </p:spPr>
          <p:txBody>
            <a:bodyPr wrap="none" lIns="0" tIns="0" rIns="0" bIns="0" anchor="t" anchorCtr="0">
              <a:spAutoFit/>
            </a:bodyPr>
            <a:lstStyle/>
            <a:p>
              <a:pPr algn="l"/>
              <a:r>
                <a:rPr lang="zh-CN" sz="1420" dirty="0">
                  <a:solidFill>
                    <a:srgbClr val="29343A"/>
                  </a:solidFill>
                  <a:latin typeface="Microsoft YaHei"/>
                  <a:ea typeface="Microsoft YaHei"/>
                  <a:cs typeface="Microsoft YaHei"/>
                </a:rPr>
                <a:t>寻找多目标之间的可用窗口。</a:t>
              </a:r>
            </a:p>
          </p:txBody>
        </p:sp>
      </p:grpSp>
      <p:grpSp>
        <p:nvGrpSpPr>
          <p:cNvPr id="40" name="takeaway"/>
          <p:cNvGrpSpPr/>
          <p:nvPr/>
        </p:nvGrpSpPr>
        <p:grpSpPr>
          <a:xfrm>
            <a:off x="361950" y="4419600"/>
            <a:ext cx="8420100" cy="361950"/>
            <a:chOff x="361950" y="4419600"/>
            <a:chExt cx="8420100" cy="361950"/>
          </a:xfrm>
        </p:grpSpPr>
        <p:sp>
          <p:nvSpPr>
            <p:cNvPr id="37" name="Rectangle 37"/>
            <p:cNvSpPr/>
            <p:nvPr/>
          </p:nvSpPr>
          <p:spPr>
            <a:xfrm>
              <a:off x="361950" y="4419600"/>
              <a:ext cx="8420100" cy="361950"/>
            </a:xfrm>
            <a:prstGeom prst="rect">
              <a:avLst/>
            </a:prstGeom>
            <a:solidFill>
              <a:srgbClr val="F6F2EE"/>
            </a:solidFill>
            <a:ln>
              <a:noFill/>
            </a:ln>
          </p:spPr>
        </p:sp>
        <p:sp>
          <p:nvSpPr>
            <p:cNvPr id="38" name="Rectangle 38"/>
            <p:cNvSpPr/>
            <p:nvPr/>
          </p:nvSpPr>
          <p:spPr>
            <a:xfrm>
              <a:off x="361950" y="4419600"/>
              <a:ext cx="38100" cy="361950"/>
            </a:xfrm>
            <a:prstGeom prst="rect">
              <a:avLst/>
            </a:prstGeom>
            <a:solidFill>
              <a:srgbClr val="9E423D"/>
            </a:solidFill>
            <a:ln>
              <a:noFill/>
            </a:ln>
          </p:spPr>
        </p:sp>
        <p:sp>
          <p:nvSpPr>
            <p:cNvPr id="39" name="TextBox 39"/>
            <p:cNvSpPr txBox="1"/>
            <p:nvPr/>
          </p:nvSpPr>
          <p:spPr>
            <a:xfrm>
              <a:off x="497967" y="4492625"/>
              <a:ext cx="5177339" cy="264033"/>
            </a:xfrm>
            <a:prstGeom prst="rect">
              <a:avLst/>
            </a:prstGeom>
            <a:noFill/>
            <a:ln>
              <a:noFill/>
            </a:ln>
          </p:spPr>
          <p:txBody>
            <a:bodyPr wrap="none" lIns="0" tIns="0" rIns="0" bIns="0" anchor="t" anchorCtr="0">
              <a:spAutoFit/>
            </a:bodyPr>
            <a:lstStyle/>
            <a:p>
              <a:pPr algn="l"/>
              <a:r>
                <a:rPr lang="zh-CN" sz="1350" b="1" dirty="0">
                  <a:solidFill>
                    <a:srgbClr val="9E423D"/>
                  </a:solidFill>
                  <a:latin typeface="Microsoft YaHei"/>
                  <a:ea typeface="Microsoft YaHei"/>
                  <a:cs typeface="Microsoft YaHei"/>
                </a:rPr>
                <a:t>不追求单一指标最大化，而是建立“耗散—恢复—柔性”的平衡。</a:t>
              </a:r>
            </a:p>
          </p:txBody>
        </p:sp>
      </p:grpSp>
    </p:spTree>
  </p:cSld>
  <p:clrMapOvr>
    <a:masterClrMapping/>
  </p:clrMapOvr>
  <p:transition advClick="1"/>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 name="矩形 8"/>
          <p:cNvSpPr/>
          <p:nvPr/>
        </p:nvSpPr>
        <p:spPr>
          <a:xfrm>
            <a:off x="-10066" y="597600"/>
            <a:ext cx="9154065" cy="72000"/>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0" y="-7934"/>
            <a:ext cx="9144000" cy="556614"/>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p:cNvPicPr>
            <a:picLocks noChangeAspect="1"/>
          </p:cNvPicPr>
          <p:nvPr>
            <p:custDataLst>
              <p:tags r:id="rId1"/>
            </p:custDataLst>
          </p:nvPr>
        </p:nvPicPr>
        <p:blipFill>
          <a:blip r:embed="rId4"/>
          <a:srcRect l="1701" t="2985" r="4812" b="1949"/>
          <a:stretch>
            <a:fillRect/>
          </a:stretch>
        </p:blipFill>
        <p:spPr>
          <a:xfrm>
            <a:off x="135376" y="17739"/>
            <a:ext cx="509847" cy="514223"/>
          </a:xfrm>
          <a:prstGeom prst="ellipse">
            <a:avLst/>
          </a:prstGeom>
        </p:spPr>
      </p:pic>
      <p:grpSp>
        <p:nvGrpSpPr>
          <p:cNvPr id="6" name="page-title"/>
          <p:cNvGrpSpPr/>
          <p:nvPr/>
        </p:nvGrpSpPr>
        <p:grpSpPr>
          <a:xfrm>
            <a:off x="789813" y="120650"/>
            <a:ext cx="4643425" cy="396050"/>
            <a:chOff x="789813" y="120650"/>
            <a:chExt cx="4643425" cy="396050"/>
          </a:xfrm>
        </p:grpSpPr>
        <p:sp>
          <p:nvSpPr>
            <p:cNvPr id="5" name="TextBox 5"/>
            <p:cNvSpPr txBox="1"/>
            <p:nvPr/>
          </p:nvSpPr>
          <p:spPr>
            <a:xfrm>
              <a:off x="789813" y="120650"/>
              <a:ext cx="4729544" cy="396050"/>
            </a:xfrm>
            <a:prstGeom prst="rect">
              <a:avLst/>
            </a:prstGeom>
            <a:noFill/>
            <a:ln>
              <a:noFill/>
            </a:ln>
          </p:spPr>
          <p:txBody>
            <a:bodyPr wrap="none" lIns="0" tIns="0" rIns="0" bIns="0" anchor="t" anchorCtr="0">
              <a:spAutoFit/>
            </a:bodyPr>
            <a:lstStyle/>
            <a:p>
              <a:pPr algn="l"/>
              <a:r>
                <a:rPr lang="zh-CN" sz="2020" b="1" dirty="0">
                  <a:solidFill>
                    <a:srgbClr val="FFFFFF"/>
                  </a:solidFill>
                  <a:latin typeface="Microsoft YaHei"/>
                  <a:ea typeface="Microsoft YaHei"/>
                  <a:cs typeface="Microsoft YaHei"/>
                </a:rPr>
                <a:t>研究思路：从分子网络到织物复合结构</a:t>
              </a:r>
            </a:p>
          </p:txBody>
        </p:sp>
      </p:grpSp>
      <p:grpSp>
        <p:nvGrpSpPr>
          <p:cNvPr id="12" name="page-footer"/>
          <p:cNvGrpSpPr/>
          <p:nvPr/>
        </p:nvGrpSpPr>
        <p:grpSpPr>
          <a:xfrm>
            <a:off x="366712" y="4905375"/>
            <a:ext cx="8405813" cy="233362"/>
            <a:chOff x="366712" y="4905375"/>
            <a:chExt cx="8405813" cy="233362"/>
          </a:xfrm>
        </p:grpSpPr>
        <p:sp>
          <p:nvSpPr>
            <p:cNvPr id="7" name="Line 7"/>
            <p:cNvSpPr/>
            <p:nvPr/>
          </p:nvSpPr>
          <p:spPr>
            <a:xfrm>
              <a:off x="371475" y="4905375"/>
              <a:ext cx="8401050" cy="9525"/>
            </a:xfrm>
            <a:custGeom>
              <a:avLst/>
              <a:gdLst/>
              <a:ahLst/>
              <a:cxnLst/>
              <a:rect l="l" t="t" r="r" b="b"/>
              <a:pathLst>
                <a:path w="8401050" h="9525">
                  <a:moveTo>
                    <a:pt x="0" y="0"/>
                  </a:moveTo>
                  <a:lnTo>
                    <a:pt x="8401050" y="0"/>
                  </a:lnTo>
                </a:path>
              </a:pathLst>
            </a:custGeom>
            <a:noFill/>
            <a:ln w="9525">
              <a:solidFill>
                <a:srgbClr val="DADDDC"/>
              </a:solidFill>
            </a:ln>
          </p:spPr>
        </p:sp>
        <p:sp>
          <p:nvSpPr>
            <p:cNvPr id="8" name="TextBox 8"/>
            <p:cNvSpPr txBox="1"/>
            <p:nvPr/>
          </p:nvSpPr>
          <p:spPr>
            <a:xfrm>
              <a:off x="366712" y="4962525"/>
              <a:ext cx="1893216"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芳纶柔性复合材料 / 纺织学生论坛</a:t>
              </a:r>
            </a:p>
          </p:txBody>
        </p:sp>
        <p:sp>
          <p:nvSpPr>
            <p:cNvPr id="10" name="TextBox 10"/>
            <p:cNvSpPr txBox="1"/>
            <p:nvPr/>
          </p:nvSpPr>
          <p:spPr>
            <a:xfrm>
              <a:off x="6519862" y="4962525"/>
              <a:ext cx="579882"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总体思路</a:t>
              </a:r>
            </a:p>
          </p:txBody>
        </p:sp>
        <p:sp>
          <p:nvSpPr>
            <p:cNvPr id="11" name="TextBox 11"/>
            <p:cNvSpPr txBox="1"/>
            <p:nvPr/>
          </p:nvSpPr>
          <p:spPr>
            <a:xfrm>
              <a:off x="8301781" y="4962525"/>
              <a:ext cx="465981" cy="176212"/>
            </a:xfrm>
            <a:prstGeom prst="rect">
              <a:avLst/>
            </a:prstGeom>
            <a:noFill/>
            <a:ln>
              <a:noFill/>
            </a:ln>
          </p:spPr>
          <p:txBody>
            <a:bodyPr wrap="none" lIns="0" tIns="0" rIns="0" bIns="0" anchor="t" anchorCtr="0">
              <a:spAutoFit/>
            </a:bodyPr>
            <a:lstStyle/>
            <a:p>
              <a:pPr algn="r"/>
              <a:r>
                <a:rPr lang="zh-CN" sz="900" dirty="0">
                  <a:solidFill>
                    <a:srgbClr val="69747A"/>
                  </a:solidFill>
                  <a:latin typeface="Microsoft YaHei"/>
                  <a:ea typeface="Microsoft YaHei"/>
                  <a:cs typeface="Microsoft YaHei"/>
                </a:rPr>
                <a:t>05 / 14</a:t>
              </a:r>
            </a:p>
          </p:txBody>
        </p:sp>
      </p:grpSp>
      <p:grpSp>
        <p:nvGrpSpPr>
          <p:cNvPr id="15" name="context"/>
          <p:cNvGrpSpPr/>
          <p:nvPr/>
        </p:nvGrpSpPr>
        <p:grpSpPr>
          <a:xfrm>
            <a:off x="364998" y="800100"/>
            <a:ext cx="4837735" cy="250317"/>
            <a:chOff x="364998" y="800100"/>
            <a:chExt cx="4837735" cy="250317"/>
          </a:xfrm>
        </p:grpSpPr>
        <p:sp>
          <p:nvSpPr>
            <p:cNvPr id="14" name="TextBox 14"/>
            <p:cNvSpPr txBox="1"/>
            <p:nvPr/>
          </p:nvSpPr>
          <p:spPr>
            <a:xfrm>
              <a:off x="364998" y="800100"/>
              <a:ext cx="4901184" cy="250317"/>
            </a:xfrm>
            <a:prstGeom prst="rect">
              <a:avLst/>
            </a:prstGeom>
            <a:noFill/>
            <a:ln>
              <a:noFill/>
            </a:ln>
          </p:spPr>
          <p:txBody>
            <a:bodyPr wrap="none" lIns="0" tIns="0" rIns="0" bIns="0" anchor="t" anchorCtr="0">
              <a:spAutoFit/>
            </a:bodyPr>
            <a:lstStyle/>
            <a:p>
              <a:pPr algn="l"/>
              <a:r>
                <a:rPr lang="zh-CN" sz="1280" dirty="0">
                  <a:solidFill>
                    <a:srgbClr val="69747A"/>
                  </a:solidFill>
                  <a:latin typeface="Microsoft YaHei"/>
                  <a:ea typeface="Microsoft YaHei"/>
                  <a:cs typeface="Microsoft YaHei"/>
                </a:rPr>
                <a:t>同一主线、两项研究：先解决网络分工，再调控界面与穿透路径</a:t>
              </a:r>
            </a:p>
          </p:txBody>
        </p:sp>
      </p:grpSp>
      <p:grpSp>
        <p:nvGrpSpPr>
          <p:cNvPr id="22" name="scale-0"/>
          <p:cNvGrpSpPr/>
          <p:nvPr/>
        </p:nvGrpSpPr>
        <p:grpSpPr>
          <a:xfrm>
            <a:off x="381000" y="1409700"/>
            <a:ext cx="2847975" cy="1362075"/>
            <a:chOff x="381000" y="1409700"/>
            <a:chExt cx="2847975" cy="1362075"/>
          </a:xfrm>
        </p:grpSpPr>
        <p:sp>
          <p:nvSpPr>
            <p:cNvPr id="16" name="Rectangle 16"/>
            <p:cNvSpPr/>
            <p:nvPr/>
          </p:nvSpPr>
          <p:spPr>
            <a:xfrm>
              <a:off x="381000" y="1409700"/>
              <a:ext cx="2524125" cy="1362075"/>
            </a:xfrm>
            <a:prstGeom prst="roundRect">
              <a:avLst>
                <a:gd name="adj" fmla="val 4895"/>
              </a:avLst>
            </a:prstGeom>
            <a:solidFill>
              <a:srgbClr val="F6F2EE"/>
            </a:solidFill>
            <a:ln>
              <a:noFill/>
            </a:ln>
          </p:spPr>
        </p:sp>
        <p:sp>
          <p:nvSpPr>
            <p:cNvPr id="17" name="TextBox 17"/>
            <p:cNvSpPr txBox="1"/>
            <p:nvPr/>
          </p:nvSpPr>
          <p:spPr>
            <a:xfrm>
              <a:off x="552450" y="1533525"/>
              <a:ext cx="1104900" cy="367665"/>
            </a:xfrm>
            <a:prstGeom prst="rect">
              <a:avLst/>
            </a:prstGeom>
            <a:noFill/>
            <a:ln>
              <a:noFill/>
            </a:ln>
          </p:spPr>
          <p:txBody>
            <a:bodyPr wrap="none" lIns="0" tIns="0" rIns="0" bIns="0" anchor="t" anchorCtr="0">
              <a:spAutoFit/>
            </a:bodyPr>
            <a:lstStyle/>
            <a:p>
              <a:pPr algn="l"/>
              <a:r>
                <a:rPr lang="zh-CN" sz="1880" b="1" dirty="0">
                  <a:solidFill>
                    <a:srgbClr val="9E423D"/>
                  </a:solidFill>
                  <a:latin typeface="Microsoft YaHei"/>
                  <a:ea typeface="Microsoft YaHei"/>
                  <a:cs typeface="Microsoft YaHei"/>
                </a:rPr>
                <a:t>分子网络</a:t>
              </a:r>
            </a:p>
          </p:txBody>
        </p:sp>
        <p:sp>
          <p:nvSpPr>
            <p:cNvPr id="19" name="TextBox 19"/>
            <p:cNvSpPr txBox="1"/>
            <p:nvPr/>
          </p:nvSpPr>
          <p:spPr>
            <a:xfrm>
              <a:off x="554355" y="1965325"/>
              <a:ext cx="130683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动态相互作用</a:t>
              </a:r>
            </a:p>
          </p:txBody>
        </p:sp>
        <p:sp>
          <p:nvSpPr>
            <p:cNvPr id="20" name="TextBox 20"/>
            <p:cNvSpPr txBox="1"/>
            <p:nvPr/>
          </p:nvSpPr>
          <p:spPr>
            <a:xfrm>
              <a:off x="554355" y="2260600"/>
              <a:ext cx="130683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时间尺度分工</a:t>
              </a:r>
            </a:p>
          </p:txBody>
        </p:sp>
        <p:sp>
          <p:nvSpPr>
            <p:cNvPr id="21" name="Line 21"/>
            <p:cNvSpPr/>
            <p:nvPr/>
          </p:nvSpPr>
          <p:spPr>
            <a:xfrm>
              <a:off x="2952750" y="2076450"/>
              <a:ext cx="276225" cy="1"/>
            </a:xfrm>
            <a:prstGeom prst="line">
              <a:avLst/>
            </a:prstGeom>
            <a:noFill/>
            <a:ln w="19050">
              <a:solidFill>
                <a:srgbClr val="246D73"/>
              </a:solidFill>
              <a:tailEnd type="triangle" w="lg" len="lg"/>
            </a:ln>
          </p:spPr>
        </p:sp>
      </p:grpSp>
      <p:grpSp>
        <p:nvGrpSpPr>
          <p:cNvPr id="28" name="scale-1"/>
          <p:cNvGrpSpPr/>
          <p:nvPr/>
        </p:nvGrpSpPr>
        <p:grpSpPr>
          <a:xfrm>
            <a:off x="3314700" y="1409700"/>
            <a:ext cx="2847975" cy="1362075"/>
            <a:chOff x="3314700" y="1409700"/>
            <a:chExt cx="2847975" cy="1362075"/>
          </a:xfrm>
        </p:grpSpPr>
        <p:sp>
          <p:nvSpPr>
            <p:cNvPr id="23" name="Rectangle 23"/>
            <p:cNvSpPr/>
            <p:nvPr/>
          </p:nvSpPr>
          <p:spPr>
            <a:xfrm>
              <a:off x="3314700" y="1409700"/>
              <a:ext cx="2524125" cy="1362075"/>
            </a:xfrm>
            <a:prstGeom prst="roundRect">
              <a:avLst>
                <a:gd name="adj" fmla="val 4895"/>
              </a:avLst>
            </a:prstGeom>
            <a:solidFill>
              <a:srgbClr val="F6F2EE"/>
            </a:solidFill>
            <a:ln>
              <a:noFill/>
            </a:ln>
          </p:spPr>
        </p:sp>
        <p:sp>
          <p:nvSpPr>
            <p:cNvPr id="24" name="TextBox 24"/>
            <p:cNvSpPr txBox="1"/>
            <p:nvPr/>
          </p:nvSpPr>
          <p:spPr>
            <a:xfrm>
              <a:off x="3486150" y="1533525"/>
              <a:ext cx="1104900" cy="367665"/>
            </a:xfrm>
            <a:prstGeom prst="rect">
              <a:avLst/>
            </a:prstGeom>
            <a:noFill/>
            <a:ln>
              <a:noFill/>
            </a:ln>
          </p:spPr>
          <p:txBody>
            <a:bodyPr wrap="none" lIns="0" tIns="0" rIns="0" bIns="0" anchor="t" anchorCtr="0">
              <a:spAutoFit/>
            </a:bodyPr>
            <a:lstStyle/>
            <a:p>
              <a:pPr algn="l"/>
              <a:r>
                <a:rPr lang="zh-CN" sz="1880" b="1" dirty="0">
                  <a:solidFill>
                    <a:srgbClr val="9E423D"/>
                  </a:solidFill>
                  <a:latin typeface="Microsoft YaHei"/>
                  <a:ea typeface="Microsoft YaHei"/>
                  <a:cs typeface="Microsoft YaHei"/>
                </a:rPr>
                <a:t>织物复合</a:t>
              </a:r>
            </a:p>
          </p:txBody>
        </p:sp>
        <p:sp>
          <p:nvSpPr>
            <p:cNvPr id="25" name="TextBox 25"/>
            <p:cNvSpPr txBox="1"/>
            <p:nvPr/>
          </p:nvSpPr>
          <p:spPr>
            <a:xfrm>
              <a:off x="3488055" y="1965325"/>
              <a:ext cx="130683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芳纶承载骨架</a:t>
              </a:r>
            </a:p>
          </p:txBody>
        </p:sp>
        <p:sp>
          <p:nvSpPr>
            <p:cNvPr id="26" name="TextBox 26"/>
            <p:cNvSpPr txBox="1"/>
            <p:nvPr/>
          </p:nvSpPr>
          <p:spPr>
            <a:xfrm>
              <a:off x="3488055" y="2260600"/>
              <a:ext cx="150876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界面传力与滑移</a:t>
              </a:r>
            </a:p>
          </p:txBody>
        </p:sp>
        <p:sp>
          <p:nvSpPr>
            <p:cNvPr id="27" name="Line 27"/>
            <p:cNvSpPr/>
            <p:nvPr/>
          </p:nvSpPr>
          <p:spPr>
            <a:xfrm>
              <a:off x="5886450" y="2076450"/>
              <a:ext cx="276225" cy="1"/>
            </a:xfrm>
            <a:prstGeom prst="line">
              <a:avLst/>
            </a:prstGeom>
            <a:noFill/>
            <a:ln w="19050">
              <a:solidFill>
                <a:srgbClr val="246D73"/>
              </a:solidFill>
              <a:tailEnd type="triangle" w="lg" len="lg"/>
            </a:ln>
          </p:spPr>
        </p:sp>
      </p:grpSp>
      <p:grpSp>
        <p:nvGrpSpPr>
          <p:cNvPr id="33" name="scale-2"/>
          <p:cNvGrpSpPr/>
          <p:nvPr/>
        </p:nvGrpSpPr>
        <p:grpSpPr>
          <a:xfrm>
            <a:off x="6248400" y="1409700"/>
            <a:ext cx="2524125" cy="1362075"/>
            <a:chOff x="6248400" y="1409700"/>
            <a:chExt cx="2524125" cy="1362075"/>
          </a:xfrm>
        </p:grpSpPr>
        <p:sp>
          <p:nvSpPr>
            <p:cNvPr id="29" name="Rectangle 29"/>
            <p:cNvSpPr/>
            <p:nvPr/>
          </p:nvSpPr>
          <p:spPr>
            <a:xfrm>
              <a:off x="6248400" y="1409700"/>
              <a:ext cx="2524125" cy="1362075"/>
            </a:xfrm>
            <a:prstGeom prst="roundRect">
              <a:avLst>
                <a:gd name="adj" fmla="val 4895"/>
              </a:avLst>
            </a:prstGeom>
            <a:solidFill>
              <a:srgbClr val="F6F2EE"/>
            </a:solidFill>
            <a:ln>
              <a:noFill/>
            </a:ln>
          </p:spPr>
        </p:sp>
        <p:sp>
          <p:nvSpPr>
            <p:cNvPr id="30" name="TextBox 30"/>
            <p:cNvSpPr txBox="1"/>
            <p:nvPr/>
          </p:nvSpPr>
          <p:spPr>
            <a:xfrm>
              <a:off x="6419850" y="1533525"/>
              <a:ext cx="1357312" cy="367665"/>
            </a:xfrm>
            <a:prstGeom prst="rect">
              <a:avLst/>
            </a:prstGeom>
            <a:noFill/>
            <a:ln>
              <a:noFill/>
            </a:ln>
          </p:spPr>
          <p:txBody>
            <a:bodyPr wrap="none" lIns="0" tIns="0" rIns="0" bIns="0" anchor="t" anchorCtr="0">
              <a:spAutoFit/>
            </a:bodyPr>
            <a:lstStyle/>
            <a:p>
              <a:pPr algn="l"/>
              <a:r>
                <a:rPr lang="zh-CN" sz="1880" b="1" dirty="0">
                  <a:solidFill>
                    <a:srgbClr val="9E423D"/>
                  </a:solidFill>
                  <a:latin typeface="Microsoft YaHei"/>
                  <a:ea typeface="Microsoft YaHei"/>
                  <a:cs typeface="Microsoft YaHei"/>
                </a:rPr>
                <a:t>组分与铺层</a:t>
              </a:r>
            </a:p>
          </p:txBody>
        </p:sp>
        <p:sp>
          <p:nvSpPr>
            <p:cNvPr id="31" name="TextBox 31"/>
            <p:cNvSpPr txBox="1"/>
            <p:nvPr/>
          </p:nvSpPr>
          <p:spPr>
            <a:xfrm>
              <a:off x="6421755" y="1965325"/>
              <a:ext cx="1608778"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SiO₂ / DPU协同</a:t>
              </a:r>
            </a:p>
          </p:txBody>
        </p:sp>
        <p:sp>
          <p:nvSpPr>
            <p:cNvPr id="32" name="TextBox 32"/>
            <p:cNvSpPr txBox="1"/>
            <p:nvPr/>
          </p:nvSpPr>
          <p:spPr>
            <a:xfrm>
              <a:off x="6421755" y="2260600"/>
              <a:ext cx="150876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角度与损伤路径</a:t>
              </a:r>
            </a:p>
          </p:txBody>
        </p:sp>
      </p:grpSp>
      <p:grpSp>
        <p:nvGrpSpPr>
          <p:cNvPr id="39" name="research-map"/>
          <p:cNvGrpSpPr/>
          <p:nvPr/>
        </p:nvGrpSpPr>
        <p:grpSpPr>
          <a:xfrm>
            <a:off x="371856" y="3133725"/>
            <a:ext cx="8400669" cy="964819"/>
            <a:chOff x="371856" y="3133725"/>
            <a:chExt cx="8400669" cy="964819"/>
          </a:xfrm>
        </p:grpSpPr>
        <p:sp>
          <p:nvSpPr>
            <p:cNvPr id="34" name="Line 34"/>
            <p:cNvSpPr/>
            <p:nvPr/>
          </p:nvSpPr>
          <p:spPr>
            <a:xfrm>
              <a:off x="381000" y="3133725"/>
              <a:ext cx="5457825" cy="9525"/>
            </a:xfrm>
            <a:custGeom>
              <a:avLst/>
              <a:gdLst/>
              <a:ahLst/>
              <a:cxnLst/>
              <a:rect l="l" t="t" r="r" b="b"/>
              <a:pathLst>
                <a:path w="5457825" h="9525">
                  <a:moveTo>
                    <a:pt x="0" y="0"/>
                  </a:moveTo>
                  <a:lnTo>
                    <a:pt x="5457825" y="0"/>
                  </a:lnTo>
                </a:path>
              </a:pathLst>
            </a:custGeom>
            <a:noFill/>
            <a:ln w="28575">
              <a:solidFill>
                <a:srgbClr val="246D73"/>
              </a:solidFill>
            </a:ln>
          </p:spPr>
        </p:sp>
        <p:sp>
          <p:nvSpPr>
            <p:cNvPr id="35" name="TextBox 35"/>
            <p:cNvSpPr txBox="1"/>
            <p:nvPr/>
          </p:nvSpPr>
          <p:spPr>
            <a:xfrm>
              <a:off x="391668" y="3235325"/>
              <a:ext cx="2760726" cy="322707"/>
            </a:xfrm>
            <a:prstGeom prst="rect">
              <a:avLst/>
            </a:prstGeom>
            <a:noFill/>
            <a:ln>
              <a:noFill/>
            </a:ln>
          </p:spPr>
          <p:txBody>
            <a:bodyPr wrap="none" lIns="0" tIns="0" rIns="0" bIns="0" anchor="t" anchorCtr="0">
              <a:spAutoFit/>
            </a:bodyPr>
            <a:lstStyle/>
            <a:p>
              <a:pPr algn="l"/>
              <a:r>
                <a:rPr lang="zh-CN" sz="1650" b="1" dirty="0">
                  <a:solidFill>
                    <a:srgbClr val="246D73"/>
                  </a:solidFill>
                  <a:latin typeface="Microsoft YaHei"/>
                  <a:ea typeface="Microsoft YaHei"/>
                  <a:cs typeface="Microsoft YaHei"/>
                </a:rPr>
                <a:t>研究一｜抗冲击与形状保持</a:t>
              </a:r>
            </a:p>
          </p:txBody>
        </p:sp>
        <p:sp>
          <p:nvSpPr>
            <p:cNvPr id="36" name="Line 36"/>
            <p:cNvSpPr/>
            <p:nvPr/>
          </p:nvSpPr>
          <p:spPr>
            <a:xfrm>
              <a:off x="6248400" y="3133725"/>
              <a:ext cx="2524125" cy="9525"/>
            </a:xfrm>
            <a:custGeom>
              <a:avLst/>
              <a:gdLst/>
              <a:ahLst/>
              <a:cxnLst/>
              <a:rect l="l" t="t" r="r" b="b"/>
              <a:pathLst>
                <a:path w="2524125" h="9525">
                  <a:moveTo>
                    <a:pt x="0" y="0"/>
                  </a:moveTo>
                  <a:lnTo>
                    <a:pt x="2524125" y="0"/>
                  </a:lnTo>
                </a:path>
              </a:pathLst>
            </a:custGeom>
            <a:noFill/>
            <a:ln w="28575">
              <a:solidFill>
                <a:srgbClr val="BD9447"/>
              </a:solidFill>
            </a:ln>
          </p:spPr>
        </p:sp>
        <p:sp>
          <p:nvSpPr>
            <p:cNvPr id="37" name="TextBox 37"/>
            <p:cNvSpPr txBox="1"/>
            <p:nvPr/>
          </p:nvSpPr>
          <p:spPr>
            <a:xfrm>
              <a:off x="6240018" y="3235325"/>
              <a:ext cx="2094357" cy="322707"/>
            </a:xfrm>
            <a:prstGeom prst="rect">
              <a:avLst/>
            </a:prstGeom>
            <a:noFill/>
            <a:ln>
              <a:noFill/>
            </a:ln>
          </p:spPr>
          <p:txBody>
            <a:bodyPr wrap="none" lIns="0" tIns="0" rIns="0" bIns="0" anchor="t" anchorCtr="0">
              <a:spAutoFit/>
            </a:bodyPr>
            <a:lstStyle/>
            <a:p>
              <a:pPr algn="l"/>
              <a:r>
                <a:rPr lang="zh-CN" sz="1650" b="1" dirty="0">
                  <a:solidFill>
                    <a:srgbClr val="BD9447"/>
                  </a:solidFill>
                  <a:latin typeface="Microsoft YaHei"/>
                  <a:ea typeface="Microsoft YaHei"/>
                  <a:cs typeface="Microsoft YaHei"/>
                </a:rPr>
                <a:t>研究二｜锥刺与刀刺</a:t>
              </a:r>
            </a:p>
          </p:txBody>
        </p:sp>
        <p:sp>
          <p:nvSpPr>
            <p:cNvPr id="38" name="TextBox 38"/>
            <p:cNvSpPr txBox="1"/>
            <p:nvPr/>
          </p:nvSpPr>
          <p:spPr>
            <a:xfrm>
              <a:off x="371856" y="3746500"/>
              <a:ext cx="4722853" cy="352044"/>
            </a:xfrm>
            <a:prstGeom prst="rect">
              <a:avLst/>
            </a:prstGeom>
            <a:noFill/>
            <a:ln>
              <a:noFill/>
            </a:ln>
          </p:spPr>
          <p:txBody>
            <a:bodyPr wrap="none" lIns="0" tIns="0" rIns="0" bIns="0" anchor="t" anchorCtr="0">
              <a:spAutoFit/>
            </a:bodyPr>
            <a:lstStyle/>
            <a:p>
              <a:pPr algn="l"/>
              <a:r>
                <a:rPr lang="zh-CN" sz="1800" b="1" dirty="0">
                  <a:solidFill>
                    <a:srgbClr val="29343A"/>
                  </a:solidFill>
                  <a:latin typeface="Microsoft YaHei"/>
                  <a:ea typeface="Microsoft YaHei"/>
                  <a:cs typeface="Microsoft YaHei"/>
                </a:rPr>
                <a:t>共同评价：防护表现 + 形状保持 + 柔性代价</a:t>
              </a:r>
            </a:p>
          </p:txBody>
        </p:sp>
      </p:grpSp>
      <p:grpSp>
        <p:nvGrpSpPr>
          <p:cNvPr id="43" name="takeaway"/>
          <p:cNvGrpSpPr/>
          <p:nvPr/>
        </p:nvGrpSpPr>
        <p:grpSpPr>
          <a:xfrm>
            <a:off x="361950" y="4419600"/>
            <a:ext cx="8420100" cy="361950"/>
            <a:chOff x="361950" y="4419600"/>
            <a:chExt cx="8420100" cy="361950"/>
          </a:xfrm>
        </p:grpSpPr>
        <p:sp>
          <p:nvSpPr>
            <p:cNvPr id="40" name="Rectangle 40"/>
            <p:cNvSpPr/>
            <p:nvPr/>
          </p:nvSpPr>
          <p:spPr>
            <a:xfrm>
              <a:off x="361950" y="4419600"/>
              <a:ext cx="8420100" cy="361950"/>
            </a:xfrm>
            <a:prstGeom prst="rect">
              <a:avLst/>
            </a:prstGeom>
            <a:solidFill>
              <a:srgbClr val="F6F2EE"/>
            </a:solidFill>
            <a:ln>
              <a:noFill/>
            </a:ln>
          </p:spPr>
        </p:sp>
        <p:sp>
          <p:nvSpPr>
            <p:cNvPr id="41" name="Rectangle 41"/>
            <p:cNvSpPr/>
            <p:nvPr/>
          </p:nvSpPr>
          <p:spPr>
            <a:xfrm>
              <a:off x="361950" y="4419600"/>
              <a:ext cx="38100" cy="361950"/>
            </a:xfrm>
            <a:prstGeom prst="rect">
              <a:avLst/>
            </a:prstGeom>
            <a:solidFill>
              <a:srgbClr val="9E423D"/>
            </a:solidFill>
            <a:ln>
              <a:noFill/>
            </a:ln>
          </p:spPr>
        </p:sp>
        <p:sp>
          <p:nvSpPr>
            <p:cNvPr id="42" name="TextBox 42"/>
            <p:cNvSpPr txBox="1"/>
            <p:nvPr/>
          </p:nvSpPr>
          <p:spPr>
            <a:xfrm>
              <a:off x="497967" y="4492625"/>
              <a:ext cx="5365623" cy="264033"/>
            </a:xfrm>
            <a:prstGeom prst="rect">
              <a:avLst/>
            </a:prstGeom>
            <a:noFill/>
            <a:ln>
              <a:noFill/>
            </a:ln>
          </p:spPr>
          <p:txBody>
            <a:bodyPr wrap="none" lIns="0" tIns="0" rIns="0" bIns="0" anchor="t" anchorCtr="0">
              <a:spAutoFit/>
            </a:bodyPr>
            <a:lstStyle/>
            <a:p>
              <a:pPr algn="l"/>
              <a:r>
                <a:rPr lang="zh-CN" sz="1350" b="1" dirty="0">
                  <a:solidFill>
                    <a:srgbClr val="9E423D"/>
                  </a:solidFill>
                  <a:latin typeface="Microsoft YaHei"/>
                  <a:ea typeface="Microsoft YaHei"/>
                  <a:cs typeface="Microsoft YaHei"/>
                </a:rPr>
                <a:t>宏观防护表现需要由分子、界面和结构三个层次的证据共同解释。</a:t>
              </a:r>
            </a:p>
          </p:txBody>
        </p:sp>
      </p:grpSp>
    </p:spTree>
  </p:cSld>
  <p:clrMapOvr>
    <a:masterClrMapping/>
  </p:clrMapOvr>
  <p:transition advClick="1"/>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 name="矩形 8"/>
          <p:cNvSpPr/>
          <p:nvPr/>
        </p:nvSpPr>
        <p:spPr>
          <a:xfrm>
            <a:off x="-10066" y="597600"/>
            <a:ext cx="9154065" cy="72000"/>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0" y="-7934"/>
            <a:ext cx="9144000" cy="556614"/>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p:cNvPicPr>
            <a:picLocks noChangeAspect="1"/>
          </p:cNvPicPr>
          <p:nvPr>
            <p:custDataLst>
              <p:tags r:id="rId1"/>
            </p:custDataLst>
          </p:nvPr>
        </p:nvPicPr>
        <p:blipFill>
          <a:blip r:embed="rId4"/>
          <a:srcRect l="1701" t="2985" r="4812" b="1949"/>
          <a:stretch>
            <a:fillRect/>
          </a:stretch>
        </p:blipFill>
        <p:spPr>
          <a:xfrm>
            <a:off x="135376" y="17739"/>
            <a:ext cx="509847" cy="514223"/>
          </a:xfrm>
          <a:prstGeom prst="ellipse">
            <a:avLst/>
          </a:prstGeom>
        </p:spPr>
      </p:pic>
      <p:grpSp>
        <p:nvGrpSpPr>
          <p:cNvPr id="6" name="page-title"/>
          <p:cNvGrpSpPr/>
          <p:nvPr/>
        </p:nvGrpSpPr>
        <p:grpSpPr>
          <a:xfrm>
            <a:off x="789813" y="120650"/>
            <a:ext cx="3827628" cy="396050"/>
            <a:chOff x="789813" y="120650"/>
            <a:chExt cx="3827628" cy="396050"/>
          </a:xfrm>
        </p:grpSpPr>
        <p:sp>
          <p:nvSpPr>
            <p:cNvPr id="5" name="TextBox 5"/>
            <p:cNvSpPr txBox="1"/>
            <p:nvPr/>
          </p:nvSpPr>
          <p:spPr>
            <a:xfrm>
              <a:off x="789813" y="120650"/>
              <a:ext cx="3911727" cy="396050"/>
            </a:xfrm>
            <a:prstGeom prst="rect">
              <a:avLst/>
            </a:prstGeom>
            <a:noFill/>
            <a:ln>
              <a:noFill/>
            </a:ln>
          </p:spPr>
          <p:txBody>
            <a:bodyPr wrap="none" lIns="0" tIns="0" rIns="0" bIns="0" anchor="t" anchorCtr="0">
              <a:spAutoFit/>
            </a:bodyPr>
            <a:lstStyle/>
            <a:p>
              <a:pPr algn="l"/>
              <a:r>
                <a:rPr lang="zh-CN" sz="2020" b="1" dirty="0">
                  <a:solidFill>
                    <a:srgbClr val="FFFFFF"/>
                  </a:solidFill>
                  <a:latin typeface="Microsoft YaHei"/>
                  <a:ea typeface="Microsoft YaHei"/>
                  <a:cs typeface="Microsoft YaHei"/>
                </a:rPr>
                <a:t>多时间尺度动态聚氨酯网络构筑</a:t>
              </a:r>
            </a:p>
          </p:txBody>
        </p:sp>
      </p:grpSp>
      <p:grpSp>
        <p:nvGrpSpPr>
          <p:cNvPr id="12" name="page-footer"/>
          <p:cNvGrpSpPr/>
          <p:nvPr/>
        </p:nvGrpSpPr>
        <p:grpSpPr>
          <a:xfrm>
            <a:off x="366712" y="4905375"/>
            <a:ext cx="8405813" cy="233362"/>
            <a:chOff x="366712" y="4905375"/>
            <a:chExt cx="8405813" cy="233362"/>
          </a:xfrm>
        </p:grpSpPr>
        <p:sp>
          <p:nvSpPr>
            <p:cNvPr id="7" name="Line 7"/>
            <p:cNvSpPr/>
            <p:nvPr/>
          </p:nvSpPr>
          <p:spPr>
            <a:xfrm>
              <a:off x="371475" y="4905375"/>
              <a:ext cx="8401050" cy="9525"/>
            </a:xfrm>
            <a:custGeom>
              <a:avLst/>
              <a:gdLst/>
              <a:ahLst/>
              <a:cxnLst/>
              <a:rect l="l" t="t" r="r" b="b"/>
              <a:pathLst>
                <a:path w="8401050" h="9525">
                  <a:moveTo>
                    <a:pt x="0" y="0"/>
                  </a:moveTo>
                  <a:lnTo>
                    <a:pt x="8401050" y="0"/>
                  </a:lnTo>
                </a:path>
              </a:pathLst>
            </a:custGeom>
            <a:noFill/>
            <a:ln w="9525">
              <a:solidFill>
                <a:srgbClr val="DADDDC"/>
              </a:solidFill>
            </a:ln>
          </p:spPr>
        </p:sp>
        <p:sp>
          <p:nvSpPr>
            <p:cNvPr id="8" name="TextBox 8"/>
            <p:cNvSpPr txBox="1"/>
            <p:nvPr/>
          </p:nvSpPr>
          <p:spPr>
            <a:xfrm>
              <a:off x="366712" y="4962525"/>
              <a:ext cx="1893216"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芳纶柔性复合材料 / 纺织学生论坛</a:t>
              </a:r>
            </a:p>
          </p:txBody>
        </p:sp>
        <p:sp>
          <p:nvSpPr>
            <p:cNvPr id="10" name="TextBox 10"/>
            <p:cNvSpPr txBox="1"/>
            <p:nvPr/>
          </p:nvSpPr>
          <p:spPr>
            <a:xfrm>
              <a:off x="6519862" y="4962525"/>
              <a:ext cx="1065579"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研究一 · 网络设计</a:t>
              </a:r>
            </a:p>
          </p:txBody>
        </p:sp>
        <p:sp>
          <p:nvSpPr>
            <p:cNvPr id="11" name="TextBox 11"/>
            <p:cNvSpPr txBox="1"/>
            <p:nvPr/>
          </p:nvSpPr>
          <p:spPr>
            <a:xfrm>
              <a:off x="8301781" y="4962525"/>
              <a:ext cx="465981" cy="176212"/>
            </a:xfrm>
            <a:prstGeom prst="rect">
              <a:avLst/>
            </a:prstGeom>
            <a:noFill/>
            <a:ln>
              <a:noFill/>
            </a:ln>
          </p:spPr>
          <p:txBody>
            <a:bodyPr wrap="none" lIns="0" tIns="0" rIns="0" bIns="0" anchor="t" anchorCtr="0">
              <a:spAutoFit/>
            </a:bodyPr>
            <a:lstStyle/>
            <a:p>
              <a:pPr algn="r"/>
              <a:r>
                <a:rPr lang="zh-CN" sz="900" dirty="0">
                  <a:solidFill>
                    <a:srgbClr val="69747A"/>
                  </a:solidFill>
                  <a:latin typeface="Microsoft YaHei"/>
                  <a:ea typeface="Microsoft YaHei"/>
                  <a:cs typeface="Microsoft YaHei"/>
                </a:rPr>
                <a:t>06 / 14</a:t>
              </a:r>
            </a:p>
          </p:txBody>
        </p:sp>
      </p:grpSp>
      <p:grpSp>
        <p:nvGrpSpPr>
          <p:cNvPr id="17" name="context"/>
          <p:cNvGrpSpPr/>
          <p:nvPr/>
        </p:nvGrpSpPr>
        <p:grpSpPr>
          <a:xfrm>
            <a:off x="364998" y="771525"/>
            <a:ext cx="8417052" cy="278892"/>
            <a:chOff x="364998" y="771525"/>
            <a:chExt cx="8417052" cy="278892"/>
          </a:xfrm>
        </p:grpSpPr>
        <p:sp>
          <p:nvSpPr>
            <p:cNvPr id="14" name="TextBox 14"/>
            <p:cNvSpPr txBox="1"/>
            <p:nvPr/>
          </p:nvSpPr>
          <p:spPr>
            <a:xfrm>
              <a:off x="364998" y="800100"/>
              <a:ext cx="4386262" cy="250317"/>
            </a:xfrm>
            <a:prstGeom prst="rect">
              <a:avLst/>
            </a:prstGeom>
            <a:noFill/>
            <a:ln>
              <a:noFill/>
            </a:ln>
          </p:spPr>
          <p:txBody>
            <a:bodyPr wrap="none" lIns="0" tIns="0" rIns="0" bIns="0" anchor="t" anchorCtr="0">
              <a:spAutoFit/>
            </a:bodyPr>
            <a:lstStyle/>
            <a:p>
              <a:pPr algn="l"/>
              <a:r>
                <a:rPr lang="zh-CN" sz="1280" dirty="0">
                  <a:solidFill>
                    <a:srgbClr val="69747A"/>
                  </a:solidFill>
                  <a:latin typeface="Microsoft YaHei"/>
                  <a:ea typeface="Microsoft YaHei"/>
                  <a:cs typeface="Microsoft YaHei"/>
                </a:rPr>
                <a:t>设计假设：让可逆耗散单元与结构保持约束承担不同角色</a:t>
              </a:r>
            </a:p>
          </p:txBody>
        </p:sp>
        <p:sp>
          <p:nvSpPr>
            <p:cNvPr id="15" name="Rectangle 15"/>
            <p:cNvSpPr/>
            <p:nvPr/>
          </p:nvSpPr>
          <p:spPr>
            <a:xfrm>
              <a:off x="7715250" y="771525"/>
              <a:ext cx="1066800" cy="247650"/>
            </a:xfrm>
            <a:prstGeom prst="roundRect">
              <a:avLst>
                <a:gd name="adj" fmla="val 15385"/>
              </a:avLst>
            </a:prstGeom>
            <a:solidFill>
              <a:srgbClr val="F6F2EE"/>
            </a:solidFill>
            <a:ln>
              <a:noFill/>
            </a:ln>
          </p:spPr>
        </p:sp>
        <p:sp>
          <p:nvSpPr>
            <p:cNvPr id="16" name="TextBox 16"/>
            <p:cNvSpPr txBox="1"/>
            <p:nvPr/>
          </p:nvSpPr>
          <p:spPr>
            <a:xfrm>
              <a:off x="8061960" y="828675"/>
              <a:ext cx="620268" cy="191643"/>
            </a:xfrm>
            <a:prstGeom prst="rect">
              <a:avLst/>
            </a:prstGeom>
            <a:noFill/>
            <a:ln>
              <a:noFill/>
            </a:ln>
          </p:spPr>
          <p:txBody>
            <a:bodyPr wrap="none" lIns="0" tIns="0" rIns="0" bIns="0" anchor="t" anchorCtr="0">
              <a:spAutoFit/>
            </a:bodyPr>
            <a:lstStyle/>
            <a:p>
              <a:pPr algn="r"/>
              <a:r>
                <a:rPr lang="zh-CN" sz="980" b="1" dirty="0">
                  <a:solidFill>
                    <a:srgbClr val="9E423D"/>
                  </a:solidFill>
                  <a:latin typeface="Microsoft YaHei"/>
                  <a:ea typeface="Microsoft YaHei"/>
                  <a:cs typeface="Microsoft YaHei"/>
                </a:rPr>
                <a:t>研究设计</a:t>
              </a:r>
            </a:p>
          </p:txBody>
        </p:sp>
      </p:grpSp>
      <p:grpSp>
        <p:nvGrpSpPr>
          <p:cNvPr id="49" name="network-model"/>
          <p:cNvGrpSpPr/>
          <p:nvPr/>
        </p:nvGrpSpPr>
        <p:grpSpPr>
          <a:xfrm>
            <a:off x="609600" y="1371600"/>
            <a:ext cx="3638550" cy="2766378"/>
            <a:chOff x="609600" y="1371600"/>
            <a:chExt cx="3638550" cy="2766378"/>
          </a:xfrm>
        </p:grpSpPr>
        <p:sp>
          <p:nvSpPr>
            <p:cNvPr id="19" name="Line 19"/>
            <p:cNvSpPr/>
            <p:nvPr/>
          </p:nvSpPr>
          <p:spPr>
            <a:xfrm>
              <a:off x="857250" y="1447800"/>
              <a:ext cx="1095375" cy="200025"/>
            </a:xfrm>
            <a:custGeom>
              <a:avLst/>
              <a:gdLst/>
              <a:ahLst/>
              <a:cxnLst/>
              <a:rect l="l" t="t" r="r" b="b"/>
              <a:pathLst>
                <a:path w="1095375" h="200025">
                  <a:moveTo>
                    <a:pt x="0" y="200025"/>
                  </a:moveTo>
                  <a:lnTo>
                    <a:pt x="1095375" y="0"/>
                  </a:lnTo>
                </a:path>
              </a:pathLst>
            </a:custGeom>
            <a:noFill/>
            <a:ln w="28575">
              <a:solidFill>
                <a:srgbClr val="246D73"/>
              </a:solidFill>
            </a:ln>
          </p:spPr>
        </p:sp>
        <p:sp>
          <p:nvSpPr>
            <p:cNvPr id="20" name="Line 20"/>
            <p:cNvSpPr/>
            <p:nvPr/>
          </p:nvSpPr>
          <p:spPr>
            <a:xfrm>
              <a:off x="1952625" y="1447800"/>
              <a:ext cx="1152525" cy="276225"/>
            </a:xfrm>
            <a:custGeom>
              <a:avLst/>
              <a:gdLst/>
              <a:ahLst/>
              <a:cxnLst/>
              <a:rect l="l" t="t" r="r" b="b"/>
              <a:pathLst>
                <a:path w="1152525" h="276225">
                  <a:moveTo>
                    <a:pt x="0" y="0"/>
                  </a:moveTo>
                  <a:lnTo>
                    <a:pt x="1152525" y="276225"/>
                  </a:lnTo>
                </a:path>
              </a:pathLst>
            </a:custGeom>
            <a:noFill/>
            <a:ln w="28575">
              <a:solidFill>
                <a:srgbClr val="246D73"/>
              </a:solidFill>
              <a:custDash>
                <a:ds d="166667" sp="133333"/>
              </a:custDash>
            </a:ln>
          </p:spPr>
        </p:sp>
        <p:sp>
          <p:nvSpPr>
            <p:cNvPr id="21" name="Line 21"/>
            <p:cNvSpPr/>
            <p:nvPr/>
          </p:nvSpPr>
          <p:spPr>
            <a:xfrm>
              <a:off x="3105150" y="1457325"/>
              <a:ext cx="971550" cy="266700"/>
            </a:xfrm>
            <a:custGeom>
              <a:avLst/>
              <a:gdLst/>
              <a:ahLst/>
              <a:cxnLst/>
              <a:rect l="l" t="t" r="r" b="b"/>
              <a:pathLst>
                <a:path w="971550" h="266700">
                  <a:moveTo>
                    <a:pt x="0" y="266700"/>
                  </a:moveTo>
                  <a:lnTo>
                    <a:pt x="971550" y="0"/>
                  </a:lnTo>
                </a:path>
              </a:pathLst>
            </a:custGeom>
            <a:noFill/>
            <a:ln w="28575">
              <a:solidFill>
                <a:srgbClr val="246D73"/>
              </a:solidFill>
            </a:ln>
          </p:spPr>
        </p:sp>
        <p:sp>
          <p:nvSpPr>
            <p:cNvPr id="22" name="Line 22"/>
            <p:cNvSpPr/>
            <p:nvPr/>
          </p:nvSpPr>
          <p:spPr>
            <a:xfrm>
              <a:off x="685800" y="2447925"/>
              <a:ext cx="1171575" cy="133350"/>
            </a:xfrm>
            <a:custGeom>
              <a:avLst/>
              <a:gdLst/>
              <a:ahLst/>
              <a:cxnLst/>
              <a:rect l="l" t="t" r="r" b="b"/>
              <a:pathLst>
                <a:path w="1171575" h="133350">
                  <a:moveTo>
                    <a:pt x="0" y="133350"/>
                  </a:moveTo>
                  <a:lnTo>
                    <a:pt x="1171575" y="0"/>
                  </a:lnTo>
                </a:path>
              </a:pathLst>
            </a:custGeom>
            <a:noFill/>
            <a:ln w="28575">
              <a:solidFill>
                <a:srgbClr val="246D73"/>
              </a:solidFill>
              <a:custDash>
                <a:ds d="166667" sp="133333"/>
              </a:custDash>
            </a:ln>
          </p:spPr>
        </p:sp>
        <p:sp>
          <p:nvSpPr>
            <p:cNvPr id="23" name="Line 23"/>
            <p:cNvSpPr/>
            <p:nvPr/>
          </p:nvSpPr>
          <p:spPr>
            <a:xfrm>
              <a:off x="1857375" y="2447925"/>
              <a:ext cx="1247775" cy="200025"/>
            </a:xfrm>
            <a:custGeom>
              <a:avLst/>
              <a:gdLst/>
              <a:ahLst/>
              <a:cxnLst/>
              <a:rect l="l" t="t" r="r" b="b"/>
              <a:pathLst>
                <a:path w="1247775" h="200025">
                  <a:moveTo>
                    <a:pt x="0" y="0"/>
                  </a:moveTo>
                  <a:lnTo>
                    <a:pt x="1247775" y="200025"/>
                  </a:lnTo>
                </a:path>
              </a:pathLst>
            </a:custGeom>
            <a:noFill/>
            <a:ln w="28575">
              <a:solidFill>
                <a:srgbClr val="246D73"/>
              </a:solidFill>
            </a:ln>
          </p:spPr>
        </p:sp>
        <p:sp>
          <p:nvSpPr>
            <p:cNvPr id="24" name="Line 24"/>
            <p:cNvSpPr/>
            <p:nvPr/>
          </p:nvSpPr>
          <p:spPr>
            <a:xfrm>
              <a:off x="3105150" y="2476500"/>
              <a:ext cx="1066800" cy="171450"/>
            </a:xfrm>
            <a:custGeom>
              <a:avLst/>
              <a:gdLst/>
              <a:ahLst/>
              <a:cxnLst/>
              <a:rect l="l" t="t" r="r" b="b"/>
              <a:pathLst>
                <a:path w="1066800" h="171450">
                  <a:moveTo>
                    <a:pt x="0" y="171450"/>
                  </a:moveTo>
                  <a:lnTo>
                    <a:pt x="1066800" y="0"/>
                  </a:lnTo>
                </a:path>
              </a:pathLst>
            </a:custGeom>
            <a:noFill/>
            <a:ln w="28575">
              <a:solidFill>
                <a:srgbClr val="246D73"/>
              </a:solidFill>
            </a:ln>
          </p:spPr>
        </p:sp>
        <p:sp>
          <p:nvSpPr>
            <p:cNvPr id="25" name="Line 25"/>
            <p:cNvSpPr/>
            <p:nvPr/>
          </p:nvSpPr>
          <p:spPr>
            <a:xfrm>
              <a:off x="866775" y="3409950"/>
              <a:ext cx="1143000" cy="114300"/>
            </a:xfrm>
            <a:custGeom>
              <a:avLst/>
              <a:gdLst/>
              <a:ahLst/>
              <a:cxnLst/>
              <a:rect l="l" t="t" r="r" b="b"/>
              <a:pathLst>
                <a:path w="1143000" h="114300">
                  <a:moveTo>
                    <a:pt x="0" y="114300"/>
                  </a:moveTo>
                  <a:lnTo>
                    <a:pt x="1143000" y="0"/>
                  </a:lnTo>
                </a:path>
              </a:pathLst>
            </a:custGeom>
            <a:noFill/>
            <a:ln w="28575">
              <a:solidFill>
                <a:srgbClr val="246D73"/>
              </a:solidFill>
            </a:ln>
          </p:spPr>
        </p:sp>
        <p:sp>
          <p:nvSpPr>
            <p:cNvPr id="26" name="Line 26"/>
            <p:cNvSpPr/>
            <p:nvPr/>
          </p:nvSpPr>
          <p:spPr>
            <a:xfrm>
              <a:off x="2009775" y="3409950"/>
              <a:ext cx="1200150" cy="200025"/>
            </a:xfrm>
            <a:custGeom>
              <a:avLst/>
              <a:gdLst/>
              <a:ahLst/>
              <a:cxnLst/>
              <a:rect l="l" t="t" r="r" b="b"/>
              <a:pathLst>
                <a:path w="1200150" h="200025">
                  <a:moveTo>
                    <a:pt x="0" y="0"/>
                  </a:moveTo>
                  <a:lnTo>
                    <a:pt x="1200150" y="200025"/>
                  </a:lnTo>
                </a:path>
              </a:pathLst>
            </a:custGeom>
            <a:noFill/>
            <a:ln w="28575">
              <a:solidFill>
                <a:srgbClr val="246D73"/>
              </a:solidFill>
            </a:ln>
          </p:spPr>
        </p:sp>
        <p:sp>
          <p:nvSpPr>
            <p:cNvPr id="27" name="Line 27"/>
            <p:cNvSpPr/>
            <p:nvPr/>
          </p:nvSpPr>
          <p:spPr>
            <a:xfrm>
              <a:off x="3209925" y="3457575"/>
              <a:ext cx="933450" cy="152400"/>
            </a:xfrm>
            <a:custGeom>
              <a:avLst/>
              <a:gdLst/>
              <a:ahLst/>
              <a:cxnLst/>
              <a:rect l="l" t="t" r="r" b="b"/>
              <a:pathLst>
                <a:path w="933450" h="152400">
                  <a:moveTo>
                    <a:pt x="0" y="152400"/>
                  </a:moveTo>
                  <a:lnTo>
                    <a:pt x="933450" y="0"/>
                  </a:lnTo>
                </a:path>
              </a:pathLst>
            </a:custGeom>
            <a:noFill/>
            <a:ln w="28575">
              <a:solidFill>
                <a:srgbClr val="246D73"/>
              </a:solidFill>
              <a:custDash>
                <a:ds d="166667" sp="133333"/>
              </a:custDash>
            </a:ln>
          </p:spPr>
        </p:sp>
        <p:sp>
          <p:nvSpPr>
            <p:cNvPr id="28" name="Line 28"/>
            <p:cNvSpPr/>
            <p:nvPr/>
          </p:nvSpPr>
          <p:spPr>
            <a:xfrm>
              <a:off x="685800" y="1647825"/>
              <a:ext cx="171450" cy="933450"/>
            </a:xfrm>
            <a:custGeom>
              <a:avLst/>
              <a:gdLst/>
              <a:ahLst/>
              <a:cxnLst/>
              <a:rect l="l" t="t" r="r" b="b"/>
              <a:pathLst>
                <a:path w="171450" h="933450">
                  <a:moveTo>
                    <a:pt x="171450" y="0"/>
                  </a:moveTo>
                  <a:lnTo>
                    <a:pt x="0" y="933450"/>
                  </a:lnTo>
                </a:path>
              </a:pathLst>
            </a:custGeom>
            <a:noFill/>
            <a:ln w="28575">
              <a:solidFill>
                <a:srgbClr val="246D73"/>
              </a:solidFill>
            </a:ln>
          </p:spPr>
        </p:sp>
        <p:sp>
          <p:nvSpPr>
            <p:cNvPr id="29" name="Line 29"/>
            <p:cNvSpPr/>
            <p:nvPr/>
          </p:nvSpPr>
          <p:spPr>
            <a:xfrm>
              <a:off x="1857375" y="1447800"/>
              <a:ext cx="95250" cy="1000125"/>
            </a:xfrm>
            <a:custGeom>
              <a:avLst/>
              <a:gdLst/>
              <a:ahLst/>
              <a:cxnLst/>
              <a:rect l="l" t="t" r="r" b="b"/>
              <a:pathLst>
                <a:path w="95250" h="1000125">
                  <a:moveTo>
                    <a:pt x="95250" y="0"/>
                  </a:moveTo>
                  <a:lnTo>
                    <a:pt x="0" y="1000125"/>
                  </a:lnTo>
                </a:path>
              </a:pathLst>
            </a:custGeom>
            <a:noFill/>
            <a:ln w="28575">
              <a:solidFill>
                <a:srgbClr val="246D73"/>
              </a:solidFill>
              <a:custDash>
                <a:ds d="166667" sp="133333"/>
              </a:custDash>
            </a:ln>
          </p:spPr>
        </p:sp>
        <p:sp>
          <p:nvSpPr>
            <p:cNvPr id="30" name="Line 30"/>
            <p:cNvSpPr/>
            <p:nvPr/>
          </p:nvSpPr>
          <p:spPr>
            <a:xfrm>
              <a:off x="3105150" y="1724025"/>
              <a:ext cx="9525" cy="923925"/>
            </a:xfrm>
            <a:custGeom>
              <a:avLst/>
              <a:gdLst/>
              <a:ahLst/>
              <a:cxnLst/>
              <a:rect l="l" t="t" r="r" b="b"/>
              <a:pathLst>
                <a:path w="9525" h="923925">
                  <a:moveTo>
                    <a:pt x="0" y="0"/>
                  </a:moveTo>
                  <a:lnTo>
                    <a:pt x="0" y="923925"/>
                  </a:lnTo>
                </a:path>
              </a:pathLst>
            </a:custGeom>
            <a:noFill/>
            <a:ln w="28575">
              <a:solidFill>
                <a:srgbClr val="246D73"/>
              </a:solidFill>
            </a:ln>
          </p:spPr>
        </p:sp>
        <p:sp>
          <p:nvSpPr>
            <p:cNvPr id="31" name="Line 31"/>
            <p:cNvSpPr/>
            <p:nvPr/>
          </p:nvSpPr>
          <p:spPr>
            <a:xfrm>
              <a:off x="4076700" y="1457325"/>
              <a:ext cx="95250" cy="1019175"/>
            </a:xfrm>
            <a:custGeom>
              <a:avLst/>
              <a:gdLst/>
              <a:ahLst/>
              <a:cxnLst/>
              <a:rect l="l" t="t" r="r" b="b"/>
              <a:pathLst>
                <a:path w="95250" h="1019175">
                  <a:moveTo>
                    <a:pt x="0" y="0"/>
                  </a:moveTo>
                  <a:lnTo>
                    <a:pt x="95250" y="1019175"/>
                  </a:lnTo>
                </a:path>
              </a:pathLst>
            </a:custGeom>
            <a:noFill/>
            <a:ln w="28575">
              <a:solidFill>
                <a:srgbClr val="246D73"/>
              </a:solidFill>
            </a:ln>
          </p:spPr>
        </p:sp>
        <p:sp>
          <p:nvSpPr>
            <p:cNvPr id="32" name="Line 32"/>
            <p:cNvSpPr/>
            <p:nvPr/>
          </p:nvSpPr>
          <p:spPr>
            <a:xfrm>
              <a:off x="685800" y="2581275"/>
              <a:ext cx="180975" cy="942975"/>
            </a:xfrm>
            <a:custGeom>
              <a:avLst/>
              <a:gdLst/>
              <a:ahLst/>
              <a:cxnLst/>
              <a:rect l="l" t="t" r="r" b="b"/>
              <a:pathLst>
                <a:path w="180975" h="942975">
                  <a:moveTo>
                    <a:pt x="0" y="0"/>
                  </a:moveTo>
                  <a:lnTo>
                    <a:pt x="180975" y="942975"/>
                  </a:lnTo>
                </a:path>
              </a:pathLst>
            </a:custGeom>
            <a:noFill/>
            <a:ln w="28575">
              <a:solidFill>
                <a:srgbClr val="246D73"/>
              </a:solidFill>
              <a:custDash>
                <a:ds d="166667" sp="133333"/>
              </a:custDash>
            </a:ln>
          </p:spPr>
        </p:sp>
        <p:sp>
          <p:nvSpPr>
            <p:cNvPr id="33" name="Line 33"/>
            <p:cNvSpPr/>
            <p:nvPr/>
          </p:nvSpPr>
          <p:spPr>
            <a:xfrm>
              <a:off x="1857375" y="2447925"/>
              <a:ext cx="152400" cy="962025"/>
            </a:xfrm>
            <a:custGeom>
              <a:avLst/>
              <a:gdLst/>
              <a:ahLst/>
              <a:cxnLst/>
              <a:rect l="l" t="t" r="r" b="b"/>
              <a:pathLst>
                <a:path w="152400" h="962025">
                  <a:moveTo>
                    <a:pt x="0" y="0"/>
                  </a:moveTo>
                  <a:lnTo>
                    <a:pt x="152400" y="962025"/>
                  </a:lnTo>
                </a:path>
              </a:pathLst>
            </a:custGeom>
            <a:noFill/>
            <a:ln w="28575">
              <a:solidFill>
                <a:srgbClr val="246D73"/>
              </a:solidFill>
            </a:ln>
          </p:spPr>
        </p:sp>
        <p:sp>
          <p:nvSpPr>
            <p:cNvPr id="34" name="Line 34"/>
            <p:cNvSpPr/>
            <p:nvPr/>
          </p:nvSpPr>
          <p:spPr>
            <a:xfrm>
              <a:off x="3105150" y="2647950"/>
              <a:ext cx="104775" cy="962025"/>
            </a:xfrm>
            <a:custGeom>
              <a:avLst/>
              <a:gdLst/>
              <a:ahLst/>
              <a:cxnLst/>
              <a:rect l="l" t="t" r="r" b="b"/>
              <a:pathLst>
                <a:path w="104775" h="962025">
                  <a:moveTo>
                    <a:pt x="0" y="0"/>
                  </a:moveTo>
                  <a:lnTo>
                    <a:pt x="104775" y="962025"/>
                  </a:lnTo>
                </a:path>
              </a:pathLst>
            </a:custGeom>
            <a:noFill/>
            <a:ln w="28575">
              <a:solidFill>
                <a:srgbClr val="246D73"/>
              </a:solidFill>
            </a:ln>
          </p:spPr>
        </p:sp>
        <p:sp>
          <p:nvSpPr>
            <p:cNvPr id="35" name="Line 35"/>
            <p:cNvSpPr/>
            <p:nvPr/>
          </p:nvSpPr>
          <p:spPr>
            <a:xfrm>
              <a:off x="4143375" y="2476500"/>
              <a:ext cx="28575" cy="981075"/>
            </a:xfrm>
            <a:custGeom>
              <a:avLst/>
              <a:gdLst/>
              <a:ahLst/>
              <a:cxnLst/>
              <a:rect l="l" t="t" r="r" b="b"/>
              <a:pathLst>
                <a:path w="28575" h="981075">
                  <a:moveTo>
                    <a:pt x="28575" y="0"/>
                  </a:moveTo>
                  <a:lnTo>
                    <a:pt x="0" y="981075"/>
                  </a:lnTo>
                </a:path>
              </a:pathLst>
            </a:custGeom>
            <a:noFill/>
            <a:ln w="28575">
              <a:solidFill>
                <a:srgbClr val="246D73"/>
              </a:solidFill>
              <a:custDash>
                <a:ds d="166667" sp="133333"/>
              </a:custDash>
            </a:ln>
          </p:spPr>
        </p:sp>
        <p:sp>
          <p:nvSpPr>
            <p:cNvPr id="36" name="Ellipse 36"/>
            <p:cNvSpPr/>
            <p:nvPr/>
          </p:nvSpPr>
          <p:spPr>
            <a:xfrm>
              <a:off x="781050" y="1571625"/>
              <a:ext cx="152400" cy="152400"/>
            </a:xfrm>
            <a:prstGeom prst="ellipse">
              <a:avLst/>
            </a:prstGeom>
            <a:solidFill>
              <a:srgbClr val="9E423D"/>
            </a:solidFill>
            <a:ln>
              <a:noFill/>
            </a:ln>
          </p:spPr>
        </p:sp>
        <p:sp>
          <p:nvSpPr>
            <p:cNvPr id="37" name="Ellipse 37"/>
            <p:cNvSpPr/>
            <p:nvPr/>
          </p:nvSpPr>
          <p:spPr>
            <a:xfrm>
              <a:off x="1876425" y="1371600"/>
              <a:ext cx="152400" cy="152400"/>
            </a:xfrm>
            <a:prstGeom prst="ellipse">
              <a:avLst/>
            </a:prstGeom>
            <a:solidFill>
              <a:srgbClr val="246D73"/>
            </a:solidFill>
            <a:ln>
              <a:noFill/>
            </a:ln>
          </p:spPr>
        </p:sp>
        <p:sp>
          <p:nvSpPr>
            <p:cNvPr id="38" name="Ellipse 38"/>
            <p:cNvSpPr/>
            <p:nvPr/>
          </p:nvSpPr>
          <p:spPr>
            <a:xfrm>
              <a:off x="3028950" y="1647825"/>
              <a:ext cx="152400" cy="152400"/>
            </a:xfrm>
            <a:prstGeom prst="ellipse">
              <a:avLst/>
            </a:prstGeom>
            <a:solidFill>
              <a:srgbClr val="246D73"/>
            </a:solidFill>
            <a:ln>
              <a:noFill/>
            </a:ln>
          </p:spPr>
        </p:sp>
        <p:sp>
          <p:nvSpPr>
            <p:cNvPr id="39" name="Ellipse 39"/>
            <p:cNvSpPr/>
            <p:nvPr/>
          </p:nvSpPr>
          <p:spPr>
            <a:xfrm>
              <a:off x="4000500" y="1381125"/>
              <a:ext cx="152400" cy="152400"/>
            </a:xfrm>
            <a:prstGeom prst="ellipse">
              <a:avLst/>
            </a:prstGeom>
            <a:solidFill>
              <a:srgbClr val="9E423D"/>
            </a:solidFill>
            <a:ln>
              <a:noFill/>
            </a:ln>
          </p:spPr>
        </p:sp>
        <p:sp>
          <p:nvSpPr>
            <p:cNvPr id="40" name="Ellipse 40"/>
            <p:cNvSpPr/>
            <p:nvPr/>
          </p:nvSpPr>
          <p:spPr>
            <a:xfrm>
              <a:off x="609600" y="2505075"/>
              <a:ext cx="152400" cy="152400"/>
            </a:xfrm>
            <a:prstGeom prst="ellipse">
              <a:avLst/>
            </a:prstGeom>
            <a:solidFill>
              <a:srgbClr val="246D73"/>
            </a:solidFill>
            <a:ln>
              <a:noFill/>
            </a:ln>
          </p:spPr>
        </p:sp>
        <p:sp>
          <p:nvSpPr>
            <p:cNvPr id="41" name="Ellipse 41"/>
            <p:cNvSpPr/>
            <p:nvPr/>
          </p:nvSpPr>
          <p:spPr>
            <a:xfrm>
              <a:off x="1781175" y="2371725"/>
              <a:ext cx="152400" cy="152400"/>
            </a:xfrm>
            <a:prstGeom prst="ellipse">
              <a:avLst/>
            </a:prstGeom>
            <a:solidFill>
              <a:srgbClr val="246D73"/>
            </a:solidFill>
            <a:ln>
              <a:noFill/>
            </a:ln>
          </p:spPr>
        </p:sp>
        <p:sp>
          <p:nvSpPr>
            <p:cNvPr id="42" name="Ellipse 42"/>
            <p:cNvSpPr/>
            <p:nvPr/>
          </p:nvSpPr>
          <p:spPr>
            <a:xfrm>
              <a:off x="3028950" y="2571750"/>
              <a:ext cx="152400" cy="152400"/>
            </a:xfrm>
            <a:prstGeom prst="ellipse">
              <a:avLst/>
            </a:prstGeom>
            <a:solidFill>
              <a:srgbClr val="9E423D"/>
            </a:solidFill>
            <a:ln>
              <a:noFill/>
            </a:ln>
          </p:spPr>
        </p:sp>
        <p:sp>
          <p:nvSpPr>
            <p:cNvPr id="43" name="Ellipse 43"/>
            <p:cNvSpPr/>
            <p:nvPr/>
          </p:nvSpPr>
          <p:spPr>
            <a:xfrm>
              <a:off x="4095750" y="2400300"/>
              <a:ext cx="152400" cy="152400"/>
            </a:xfrm>
            <a:prstGeom prst="ellipse">
              <a:avLst/>
            </a:prstGeom>
            <a:solidFill>
              <a:srgbClr val="246D73"/>
            </a:solidFill>
            <a:ln>
              <a:noFill/>
            </a:ln>
          </p:spPr>
        </p:sp>
        <p:sp>
          <p:nvSpPr>
            <p:cNvPr id="44" name="Ellipse 44"/>
            <p:cNvSpPr/>
            <p:nvPr/>
          </p:nvSpPr>
          <p:spPr>
            <a:xfrm>
              <a:off x="790575" y="3448050"/>
              <a:ext cx="152400" cy="152400"/>
            </a:xfrm>
            <a:prstGeom prst="ellipse">
              <a:avLst/>
            </a:prstGeom>
            <a:solidFill>
              <a:srgbClr val="246D73"/>
            </a:solidFill>
            <a:ln>
              <a:noFill/>
            </a:ln>
          </p:spPr>
        </p:sp>
        <p:sp>
          <p:nvSpPr>
            <p:cNvPr id="45" name="Ellipse 45"/>
            <p:cNvSpPr/>
            <p:nvPr/>
          </p:nvSpPr>
          <p:spPr>
            <a:xfrm>
              <a:off x="1933575" y="3333750"/>
              <a:ext cx="152400" cy="152400"/>
            </a:xfrm>
            <a:prstGeom prst="ellipse">
              <a:avLst/>
            </a:prstGeom>
            <a:solidFill>
              <a:srgbClr val="9E423D"/>
            </a:solidFill>
            <a:ln>
              <a:noFill/>
            </a:ln>
          </p:spPr>
        </p:sp>
        <p:sp>
          <p:nvSpPr>
            <p:cNvPr id="46" name="Ellipse 46"/>
            <p:cNvSpPr/>
            <p:nvPr/>
          </p:nvSpPr>
          <p:spPr>
            <a:xfrm>
              <a:off x="3133725" y="3533775"/>
              <a:ext cx="152400" cy="152400"/>
            </a:xfrm>
            <a:prstGeom prst="ellipse">
              <a:avLst/>
            </a:prstGeom>
            <a:solidFill>
              <a:srgbClr val="246D73"/>
            </a:solidFill>
            <a:ln>
              <a:noFill/>
            </a:ln>
          </p:spPr>
        </p:sp>
        <p:sp>
          <p:nvSpPr>
            <p:cNvPr id="47" name="Ellipse 47"/>
            <p:cNvSpPr/>
            <p:nvPr/>
          </p:nvSpPr>
          <p:spPr>
            <a:xfrm>
              <a:off x="4067175" y="3381375"/>
              <a:ext cx="152400" cy="152400"/>
            </a:xfrm>
            <a:prstGeom prst="ellipse">
              <a:avLst/>
            </a:prstGeom>
            <a:solidFill>
              <a:srgbClr val="246D73"/>
            </a:solidFill>
            <a:ln>
              <a:noFill/>
            </a:ln>
          </p:spPr>
        </p:sp>
        <p:sp>
          <p:nvSpPr>
            <p:cNvPr id="48" name="TextBox 48"/>
            <p:cNvSpPr txBox="1"/>
            <p:nvPr/>
          </p:nvSpPr>
          <p:spPr>
            <a:xfrm>
              <a:off x="1386841" y="3917950"/>
              <a:ext cx="1912620" cy="220028"/>
            </a:xfrm>
            <a:prstGeom prst="rect">
              <a:avLst/>
            </a:prstGeom>
            <a:noFill/>
            <a:ln>
              <a:noFill/>
            </a:ln>
          </p:spPr>
          <p:txBody>
            <a:bodyPr wrap="none" lIns="0" tIns="0" rIns="0" bIns="0" anchor="t" anchorCtr="0">
              <a:spAutoFit/>
            </a:bodyPr>
            <a:lstStyle/>
            <a:p>
              <a:pPr algn="ctr"/>
              <a:r>
                <a:rPr lang="zh-CN" sz="1120" dirty="0">
                  <a:solidFill>
                    <a:srgbClr val="69747A"/>
                  </a:solidFill>
                  <a:latin typeface="Microsoft YaHei"/>
                  <a:ea typeface="Microsoft YaHei"/>
                  <a:cs typeface="Microsoft YaHei"/>
                </a:rPr>
                <a:t>网络示意，非具体化学结构</a:t>
              </a:r>
            </a:p>
          </p:txBody>
        </p:sp>
      </p:grpSp>
      <p:grpSp>
        <p:nvGrpSpPr>
          <p:cNvPr id="59" name="network-proof"/>
          <p:cNvGrpSpPr/>
          <p:nvPr/>
        </p:nvGrpSpPr>
        <p:grpSpPr>
          <a:xfrm>
            <a:off x="4888230" y="1323975"/>
            <a:ext cx="3789045" cy="2781300"/>
            <a:chOff x="4888230" y="1323975"/>
            <a:chExt cx="3789045" cy="2781300"/>
          </a:xfrm>
        </p:grpSpPr>
        <p:sp>
          <p:nvSpPr>
            <p:cNvPr id="50" name="TextBox 50"/>
            <p:cNvSpPr txBox="1"/>
            <p:nvPr/>
          </p:nvSpPr>
          <p:spPr>
            <a:xfrm>
              <a:off x="4889754" y="1323975"/>
              <a:ext cx="741426" cy="234696"/>
            </a:xfrm>
            <a:prstGeom prst="rect">
              <a:avLst/>
            </a:prstGeom>
            <a:noFill/>
            <a:ln>
              <a:noFill/>
            </a:ln>
          </p:spPr>
          <p:txBody>
            <a:bodyPr wrap="none" lIns="0" tIns="0" rIns="0" bIns="0" anchor="t" anchorCtr="0">
              <a:spAutoFit/>
            </a:bodyPr>
            <a:lstStyle/>
            <a:p>
              <a:pPr algn="l"/>
              <a:r>
                <a:rPr lang="zh-CN" sz="1200" b="1" dirty="0">
                  <a:solidFill>
                    <a:srgbClr val="246D73"/>
                  </a:solidFill>
                  <a:latin typeface="Microsoft YaHei"/>
                  <a:ea typeface="Microsoft YaHei"/>
                  <a:cs typeface="Microsoft YaHei"/>
                </a:rPr>
                <a:t>耗散单元</a:t>
              </a:r>
            </a:p>
          </p:txBody>
        </p:sp>
        <p:sp>
          <p:nvSpPr>
            <p:cNvPr id="51" name="TextBox 51"/>
            <p:cNvSpPr txBox="1"/>
            <p:nvPr/>
          </p:nvSpPr>
          <p:spPr>
            <a:xfrm>
              <a:off x="4888230" y="1612900"/>
              <a:ext cx="231648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加载时可逆相互作用参与</a:t>
              </a:r>
            </a:p>
          </p:txBody>
        </p:sp>
        <p:sp>
          <p:nvSpPr>
            <p:cNvPr id="52" name="TextBox 52"/>
            <p:cNvSpPr txBox="1"/>
            <p:nvPr/>
          </p:nvSpPr>
          <p:spPr>
            <a:xfrm>
              <a:off x="4888230" y="1889125"/>
              <a:ext cx="251841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需要由配方与结构表征确认</a:t>
              </a:r>
            </a:p>
          </p:txBody>
        </p:sp>
        <p:sp>
          <p:nvSpPr>
            <p:cNvPr id="53" name="TextBox 53"/>
            <p:cNvSpPr txBox="1"/>
            <p:nvPr/>
          </p:nvSpPr>
          <p:spPr>
            <a:xfrm>
              <a:off x="4889754" y="2419350"/>
              <a:ext cx="741426" cy="234696"/>
            </a:xfrm>
            <a:prstGeom prst="rect">
              <a:avLst/>
            </a:prstGeom>
            <a:noFill/>
            <a:ln>
              <a:noFill/>
            </a:ln>
          </p:spPr>
          <p:txBody>
            <a:bodyPr wrap="none" lIns="0" tIns="0" rIns="0" bIns="0" anchor="t" anchorCtr="0">
              <a:spAutoFit/>
            </a:bodyPr>
            <a:lstStyle/>
            <a:p>
              <a:pPr algn="l"/>
              <a:r>
                <a:rPr lang="zh-CN" sz="1200" b="1" dirty="0">
                  <a:solidFill>
                    <a:srgbClr val="246D73"/>
                  </a:solidFill>
                  <a:latin typeface="Microsoft YaHei"/>
                  <a:ea typeface="Microsoft YaHei"/>
                  <a:cs typeface="Microsoft YaHei"/>
                </a:rPr>
                <a:t>稳定约束</a:t>
              </a:r>
            </a:p>
          </p:txBody>
        </p:sp>
        <p:sp>
          <p:nvSpPr>
            <p:cNvPr id="54" name="TextBox 54"/>
            <p:cNvSpPr txBox="1"/>
            <p:nvPr/>
          </p:nvSpPr>
          <p:spPr>
            <a:xfrm>
              <a:off x="4888230" y="2708275"/>
              <a:ext cx="231648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维持承载网络与结构完整</a:t>
              </a:r>
            </a:p>
          </p:txBody>
        </p:sp>
        <p:sp>
          <p:nvSpPr>
            <p:cNvPr id="55" name="TextBox 55"/>
            <p:cNvSpPr txBox="1"/>
            <p:nvPr/>
          </p:nvSpPr>
          <p:spPr>
            <a:xfrm>
              <a:off x="4888230" y="2984500"/>
              <a:ext cx="251841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需要松弛、蠕变与循环证据</a:t>
              </a:r>
            </a:p>
          </p:txBody>
        </p:sp>
        <p:sp>
          <p:nvSpPr>
            <p:cNvPr id="56" name="Rectangle 56"/>
            <p:cNvSpPr/>
            <p:nvPr/>
          </p:nvSpPr>
          <p:spPr>
            <a:xfrm>
              <a:off x="4895850" y="3495675"/>
              <a:ext cx="3781425" cy="609600"/>
            </a:xfrm>
            <a:prstGeom prst="rect">
              <a:avLst/>
            </a:prstGeom>
            <a:solidFill>
              <a:srgbClr val="F6F2EE"/>
            </a:solidFill>
            <a:ln>
              <a:noFill/>
            </a:ln>
          </p:spPr>
        </p:sp>
        <p:sp>
          <p:nvSpPr>
            <p:cNvPr id="57" name="TextBox 57"/>
            <p:cNvSpPr txBox="1"/>
            <p:nvPr/>
          </p:nvSpPr>
          <p:spPr>
            <a:xfrm>
              <a:off x="5041773" y="3590925"/>
              <a:ext cx="781812" cy="250317"/>
            </a:xfrm>
            <a:prstGeom prst="rect">
              <a:avLst/>
            </a:prstGeom>
            <a:noFill/>
            <a:ln>
              <a:noFill/>
            </a:ln>
          </p:spPr>
          <p:txBody>
            <a:bodyPr wrap="none" lIns="0" tIns="0" rIns="0" bIns="0" anchor="t" anchorCtr="0">
              <a:spAutoFit/>
            </a:bodyPr>
            <a:lstStyle/>
            <a:p>
              <a:pPr algn="l"/>
              <a:r>
                <a:rPr lang="zh-CN" sz="1280" b="1" dirty="0">
                  <a:solidFill>
                    <a:srgbClr val="9E423D"/>
                  </a:solidFill>
                  <a:latin typeface="Microsoft YaHei"/>
                  <a:ea typeface="Microsoft YaHei"/>
                  <a:cs typeface="Microsoft YaHei"/>
                </a:rPr>
                <a:t>验证链条</a:t>
              </a:r>
            </a:p>
          </p:txBody>
        </p:sp>
        <p:sp>
          <p:nvSpPr>
            <p:cNvPr id="58" name="TextBox 58"/>
            <p:cNvSpPr txBox="1"/>
            <p:nvPr/>
          </p:nvSpPr>
          <p:spPr>
            <a:xfrm>
              <a:off x="5041392" y="3816350"/>
              <a:ext cx="2802374" cy="264033"/>
            </a:xfrm>
            <a:prstGeom prst="rect">
              <a:avLst/>
            </a:prstGeom>
            <a:noFill/>
            <a:ln>
              <a:noFill/>
            </a:ln>
          </p:spPr>
          <p:txBody>
            <a:bodyPr wrap="none" lIns="0" tIns="0" rIns="0" bIns="0" anchor="t" anchorCtr="0">
              <a:spAutoFit/>
            </a:bodyPr>
            <a:lstStyle/>
            <a:p>
              <a:pPr algn="l"/>
              <a:r>
                <a:rPr lang="zh-CN" sz="1350" dirty="0">
                  <a:solidFill>
                    <a:srgbClr val="29343A"/>
                  </a:solidFill>
                  <a:latin typeface="Microsoft YaHei"/>
                  <a:ea typeface="Microsoft YaHei"/>
                  <a:cs typeface="Microsoft YaHei"/>
                </a:rPr>
                <a:t>结构表征 → 时间响应 → 循环力学</a:t>
              </a:r>
            </a:p>
          </p:txBody>
        </p:sp>
      </p:grpSp>
      <p:grpSp>
        <p:nvGrpSpPr>
          <p:cNvPr id="63" name="takeaway"/>
          <p:cNvGrpSpPr/>
          <p:nvPr/>
        </p:nvGrpSpPr>
        <p:grpSpPr>
          <a:xfrm>
            <a:off x="361950" y="4419600"/>
            <a:ext cx="8420100" cy="361950"/>
            <a:chOff x="361950" y="4419600"/>
            <a:chExt cx="8420100" cy="361950"/>
          </a:xfrm>
        </p:grpSpPr>
        <p:sp>
          <p:nvSpPr>
            <p:cNvPr id="60" name="Rectangle 60"/>
            <p:cNvSpPr/>
            <p:nvPr/>
          </p:nvSpPr>
          <p:spPr>
            <a:xfrm>
              <a:off x="361950" y="4419600"/>
              <a:ext cx="8420100" cy="361950"/>
            </a:xfrm>
            <a:prstGeom prst="rect">
              <a:avLst/>
            </a:prstGeom>
            <a:solidFill>
              <a:srgbClr val="F6F2EE"/>
            </a:solidFill>
            <a:ln>
              <a:noFill/>
            </a:ln>
          </p:spPr>
        </p:sp>
        <p:sp>
          <p:nvSpPr>
            <p:cNvPr id="61" name="Rectangle 61"/>
            <p:cNvSpPr/>
            <p:nvPr/>
          </p:nvSpPr>
          <p:spPr>
            <a:xfrm>
              <a:off x="361950" y="4419600"/>
              <a:ext cx="38100" cy="361950"/>
            </a:xfrm>
            <a:prstGeom prst="rect">
              <a:avLst/>
            </a:prstGeom>
            <a:solidFill>
              <a:srgbClr val="9E423D"/>
            </a:solidFill>
            <a:ln>
              <a:noFill/>
            </a:ln>
          </p:spPr>
        </p:sp>
        <p:sp>
          <p:nvSpPr>
            <p:cNvPr id="62" name="TextBox 62"/>
            <p:cNvSpPr txBox="1"/>
            <p:nvPr/>
          </p:nvSpPr>
          <p:spPr>
            <a:xfrm>
              <a:off x="497967" y="4492625"/>
              <a:ext cx="5029047" cy="264033"/>
            </a:xfrm>
            <a:prstGeom prst="rect">
              <a:avLst/>
            </a:prstGeom>
            <a:noFill/>
            <a:ln>
              <a:noFill/>
            </a:ln>
          </p:spPr>
          <p:txBody>
            <a:bodyPr wrap="none" lIns="0" tIns="0" rIns="0" bIns="0" anchor="t" anchorCtr="0">
              <a:spAutoFit/>
            </a:bodyPr>
            <a:lstStyle/>
            <a:p>
              <a:pPr algn="l"/>
              <a:r>
                <a:rPr lang="zh-CN" sz="1350" b="1" dirty="0">
                  <a:solidFill>
                    <a:srgbClr val="9E423D"/>
                  </a:solidFill>
                  <a:latin typeface="Microsoft YaHei"/>
                  <a:ea typeface="Microsoft YaHei"/>
                  <a:cs typeface="Microsoft YaHei"/>
                </a:rPr>
                <a:t>“多时间尺度”必须由测试支撑，不能仅凭动态键概念作结论。</a:t>
              </a:r>
            </a:p>
          </p:txBody>
        </p:sp>
      </p:grpSp>
    </p:spTree>
  </p:cSld>
  <p:clrMapOvr>
    <a:masterClrMapping/>
  </p:clrMapOvr>
  <p:transition advClick="1"/>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 name="矩形 8"/>
          <p:cNvSpPr/>
          <p:nvPr/>
        </p:nvSpPr>
        <p:spPr>
          <a:xfrm>
            <a:off x="-10066" y="597600"/>
            <a:ext cx="9154065" cy="72000"/>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0" y="-7934"/>
            <a:ext cx="9144000" cy="556614"/>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p:cNvPicPr>
            <a:picLocks noChangeAspect="1"/>
          </p:cNvPicPr>
          <p:nvPr>
            <p:custDataLst>
              <p:tags r:id="rId1"/>
            </p:custDataLst>
          </p:nvPr>
        </p:nvPicPr>
        <p:blipFill>
          <a:blip r:embed="rId4"/>
          <a:srcRect l="1701" t="2985" r="4812" b="1949"/>
          <a:stretch>
            <a:fillRect/>
          </a:stretch>
        </p:blipFill>
        <p:spPr>
          <a:xfrm>
            <a:off x="135376" y="17739"/>
            <a:ext cx="509847" cy="514223"/>
          </a:xfrm>
          <a:prstGeom prst="ellipse">
            <a:avLst/>
          </a:prstGeom>
        </p:spPr>
      </p:pic>
      <p:grpSp>
        <p:nvGrpSpPr>
          <p:cNvPr id="6" name="page-title"/>
          <p:cNvGrpSpPr/>
          <p:nvPr/>
        </p:nvGrpSpPr>
        <p:grpSpPr>
          <a:xfrm>
            <a:off x="789813" y="120650"/>
            <a:ext cx="4099560" cy="396050"/>
            <a:chOff x="789813" y="120650"/>
            <a:chExt cx="4099560" cy="396050"/>
          </a:xfrm>
        </p:grpSpPr>
        <p:sp>
          <p:nvSpPr>
            <p:cNvPr id="5" name="TextBox 5"/>
            <p:cNvSpPr txBox="1"/>
            <p:nvPr/>
          </p:nvSpPr>
          <p:spPr>
            <a:xfrm>
              <a:off x="789813" y="120650"/>
              <a:ext cx="4184332" cy="396050"/>
            </a:xfrm>
            <a:prstGeom prst="rect">
              <a:avLst/>
            </a:prstGeom>
            <a:noFill/>
            <a:ln>
              <a:noFill/>
            </a:ln>
          </p:spPr>
          <p:txBody>
            <a:bodyPr wrap="none" lIns="0" tIns="0" rIns="0" bIns="0" anchor="t" anchorCtr="0">
              <a:spAutoFit/>
            </a:bodyPr>
            <a:lstStyle/>
            <a:p>
              <a:pPr algn="l"/>
              <a:r>
                <a:rPr lang="zh-CN" sz="2020" b="1" dirty="0">
                  <a:solidFill>
                    <a:srgbClr val="FFFFFF"/>
                  </a:solidFill>
                  <a:latin typeface="Microsoft YaHei"/>
                  <a:ea typeface="Microsoft YaHei"/>
                  <a:cs typeface="Microsoft YaHei"/>
                </a:rPr>
                <a:t>动态网络对材料形状稳定性的改善</a:t>
              </a:r>
            </a:p>
          </p:txBody>
        </p:sp>
      </p:grpSp>
      <p:grpSp>
        <p:nvGrpSpPr>
          <p:cNvPr id="12" name="page-footer"/>
          <p:cNvGrpSpPr/>
          <p:nvPr/>
        </p:nvGrpSpPr>
        <p:grpSpPr>
          <a:xfrm>
            <a:off x="366712" y="4905375"/>
            <a:ext cx="8405813" cy="233362"/>
            <a:chOff x="366712" y="4905375"/>
            <a:chExt cx="8405813" cy="233362"/>
          </a:xfrm>
        </p:grpSpPr>
        <p:sp>
          <p:nvSpPr>
            <p:cNvPr id="7" name="Line 7"/>
            <p:cNvSpPr/>
            <p:nvPr/>
          </p:nvSpPr>
          <p:spPr>
            <a:xfrm>
              <a:off x="371475" y="4905375"/>
              <a:ext cx="8401050" cy="9525"/>
            </a:xfrm>
            <a:custGeom>
              <a:avLst/>
              <a:gdLst/>
              <a:ahLst/>
              <a:cxnLst/>
              <a:rect l="l" t="t" r="r" b="b"/>
              <a:pathLst>
                <a:path w="8401050" h="9525">
                  <a:moveTo>
                    <a:pt x="0" y="0"/>
                  </a:moveTo>
                  <a:lnTo>
                    <a:pt x="8401050" y="0"/>
                  </a:lnTo>
                </a:path>
              </a:pathLst>
            </a:custGeom>
            <a:noFill/>
            <a:ln w="9525">
              <a:solidFill>
                <a:srgbClr val="DADDDC"/>
              </a:solidFill>
            </a:ln>
          </p:spPr>
        </p:sp>
        <p:sp>
          <p:nvSpPr>
            <p:cNvPr id="8" name="TextBox 8"/>
            <p:cNvSpPr txBox="1"/>
            <p:nvPr/>
          </p:nvSpPr>
          <p:spPr>
            <a:xfrm>
              <a:off x="366712" y="4962525"/>
              <a:ext cx="1893216"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芳纶柔性复合材料 / 纺织学生论坛</a:t>
              </a:r>
            </a:p>
          </p:txBody>
        </p:sp>
        <p:sp>
          <p:nvSpPr>
            <p:cNvPr id="10" name="TextBox 10"/>
            <p:cNvSpPr txBox="1"/>
            <p:nvPr/>
          </p:nvSpPr>
          <p:spPr>
            <a:xfrm>
              <a:off x="6519862" y="4962525"/>
              <a:ext cx="1065579"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研究一 · 形状稳定</a:t>
              </a:r>
            </a:p>
          </p:txBody>
        </p:sp>
        <p:sp>
          <p:nvSpPr>
            <p:cNvPr id="11" name="TextBox 11"/>
            <p:cNvSpPr txBox="1"/>
            <p:nvPr/>
          </p:nvSpPr>
          <p:spPr>
            <a:xfrm>
              <a:off x="8301781" y="4962525"/>
              <a:ext cx="465981" cy="176212"/>
            </a:xfrm>
            <a:prstGeom prst="rect">
              <a:avLst/>
            </a:prstGeom>
            <a:noFill/>
            <a:ln>
              <a:noFill/>
            </a:ln>
          </p:spPr>
          <p:txBody>
            <a:bodyPr wrap="none" lIns="0" tIns="0" rIns="0" bIns="0" anchor="t" anchorCtr="0">
              <a:spAutoFit/>
            </a:bodyPr>
            <a:lstStyle/>
            <a:p>
              <a:pPr algn="r"/>
              <a:r>
                <a:rPr lang="zh-CN" sz="900" dirty="0">
                  <a:solidFill>
                    <a:srgbClr val="69747A"/>
                  </a:solidFill>
                  <a:latin typeface="Microsoft YaHei"/>
                  <a:ea typeface="Microsoft YaHei"/>
                  <a:cs typeface="Microsoft YaHei"/>
                </a:rPr>
                <a:t>07 / 14</a:t>
              </a:r>
            </a:p>
          </p:txBody>
        </p:sp>
      </p:grpSp>
      <p:grpSp>
        <p:nvGrpSpPr>
          <p:cNvPr id="17" name="context"/>
          <p:cNvGrpSpPr/>
          <p:nvPr/>
        </p:nvGrpSpPr>
        <p:grpSpPr>
          <a:xfrm>
            <a:off x="364998" y="771525"/>
            <a:ext cx="8417052" cy="278892"/>
            <a:chOff x="364998" y="771525"/>
            <a:chExt cx="8417052" cy="278892"/>
          </a:xfrm>
        </p:grpSpPr>
        <p:sp>
          <p:nvSpPr>
            <p:cNvPr id="14" name="TextBox 14"/>
            <p:cNvSpPr txBox="1"/>
            <p:nvPr/>
          </p:nvSpPr>
          <p:spPr>
            <a:xfrm>
              <a:off x="364998" y="800100"/>
              <a:ext cx="3004225" cy="250317"/>
            </a:xfrm>
            <a:prstGeom prst="rect">
              <a:avLst/>
            </a:prstGeom>
            <a:noFill/>
            <a:ln>
              <a:noFill/>
            </a:ln>
          </p:spPr>
          <p:txBody>
            <a:bodyPr wrap="none" lIns="0" tIns="0" rIns="0" bIns="0" anchor="t" anchorCtr="0">
              <a:spAutoFit/>
            </a:bodyPr>
            <a:lstStyle/>
            <a:p>
              <a:pPr algn="l"/>
              <a:r>
                <a:rPr lang="zh-CN" sz="1280" dirty="0">
                  <a:solidFill>
                    <a:srgbClr val="69747A"/>
                  </a:solidFill>
                  <a:latin typeface="Microsoft YaHei"/>
                  <a:ea typeface="Microsoft YaHei"/>
                  <a:cs typeface="Microsoft YaHei"/>
                </a:rPr>
                <a:t>将“形状稳定”转化为可比较的过程指标</a:t>
              </a:r>
            </a:p>
          </p:txBody>
        </p:sp>
        <p:sp>
          <p:nvSpPr>
            <p:cNvPr id="15" name="Rectangle 15"/>
            <p:cNvSpPr/>
            <p:nvPr/>
          </p:nvSpPr>
          <p:spPr>
            <a:xfrm>
              <a:off x="7715250" y="771525"/>
              <a:ext cx="1066800" cy="247650"/>
            </a:xfrm>
            <a:prstGeom prst="roundRect">
              <a:avLst>
                <a:gd name="adj" fmla="val 15385"/>
              </a:avLst>
            </a:prstGeom>
            <a:solidFill>
              <a:srgbClr val="F6F2EE"/>
            </a:solidFill>
            <a:ln>
              <a:noFill/>
            </a:ln>
          </p:spPr>
        </p:sp>
        <p:sp>
          <p:nvSpPr>
            <p:cNvPr id="16" name="TextBox 16"/>
            <p:cNvSpPr txBox="1"/>
            <p:nvPr/>
          </p:nvSpPr>
          <p:spPr>
            <a:xfrm>
              <a:off x="8061960" y="828675"/>
              <a:ext cx="620268" cy="191643"/>
            </a:xfrm>
            <a:prstGeom prst="rect">
              <a:avLst/>
            </a:prstGeom>
            <a:noFill/>
            <a:ln>
              <a:noFill/>
            </a:ln>
          </p:spPr>
          <p:txBody>
            <a:bodyPr wrap="none" lIns="0" tIns="0" rIns="0" bIns="0" anchor="t" anchorCtr="0">
              <a:spAutoFit/>
            </a:bodyPr>
            <a:lstStyle/>
            <a:p>
              <a:pPr algn="r"/>
              <a:r>
                <a:rPr lang="zh-CN" sz="980" b="1" dirty="0">
                  <a:solidFill>
                    <a:srgbClr val="9E423D"/>
                  </a:solidFill>
                  <a:latin typeface="Microsoft YaHei"/>
                  <a:ea typeface="Microsoft YaHei"/>
                  <a:cs typeface="Microsoft YaHei"/>
                </a:rPr>
                <a:t>评价方案</a:t>
              </a:r>
            </a:p>
          </p:txBody>
        </p:sp>
      </p:grpSp>
      <p:grpSp>
        <p:nvGrpSpPr>
          <p:cNvPr id="33" name="shape-process"/>
          <p:cNvGrpSpPr/>
          <p:nvPr/>
        </p:nvGrpSpPr>
        <p:grpSpPr>
          <a:xfrm>
            <a:off x="611505" y="1336675"/>
            <a:ext cx="7506462" cy="1444625"/>
            <a:chOff x="611505" y="1336675"/>
            <a:chExt cx="7506462" cy="1444625"/>
          </a:xfrm>
        </p:grpSpPr>
        <p:sp>
          <p:nvSpPr>
            <p:cNvPr id="19" name="TextBox 19"/>
            <p:cNvSpPr txBox="1"/>
            <p:nvPr/>
          </p:nvSpPr>
          <p:spPr>
            <a:xfrm>
              <a:off x="611505" y="1336675"/>
              <a:ext cx="902970" cy="293370"/>
            </a:xfrm>
            <a:prstGeom prst="rect">
              <a:avLst/>
            </a:prstGeom>
            <a:noFill/>
            <a:ln>
              <a:noFill/>
            </a:ln>
          </p:spPr>
          <p:txBody>
            <a:bodyPr wrap="none" lIns="0" tIns="0" rIns="0" bIns="0" anchor="t" anchorCtr="0">
              <a:spAutoFit/>
            </a:bodyPr>
            <a:lstStyle/>
            <a:p>
              <a:pPr algn="l"/>
              <a:r>
                <a:rPr lang="zh-CN" sz="1500" b="1" dirty="0">
                  <a:solidFill>
                    <a:srgbClr val="9E423D"/>
                  </a:solidFill>
                  <a:latin typeface="Microsoft YaHei"/>
                  <a:ea typeface="Microsoft YaHei"/>
                  <a:cs typeface="Microsoft YaHei"/>
                </a:rPr>
                <a:t>初始状态</a:t>
              </a:r>
            </a:p>
          </p:txBody>
        </p:sp>
        <p:sp>
          <p:nvSpPr>
            <p:cNvPr id="20" name="Rectangle 20"/>
            <p:cNvSpPr/>
            <p:nvPr/>
          </p:nvSpPr>
          <p:spPr>
            <a:xfrm>
              <a:off x="619125" y="1809750"/>
              <a:ext cx="885825" cy="742950"/>
            </a:xfrm>
            <a:prstGeom prst="rect">
              <a:avLst/>
            </a:prstGeom>
            <a:solidFill>
              <a:srgbClr val="F6F2EE"/>
            </a:solidFill>
            <a:ln w="9525">
              <a:solidFill>
                <a:srgbClr val="246D73"/>
              </a:solidFill>
            </a:ln>
          </p:spPr>
        </p:sp>
        <p:sp>
          <p:nvSpPr>
            <p:cNvPr id="21" name="Line 21"/>
            <p:cNvSpPr/>
            <p:nvPr/>
          </p:nvSpPr>
          <p:spPr>
            <a:xfrm>
              <a:off x="619125" y="2771775"/>
              <a:ext cx="885825" cy="9525"/>
            </a:xfrm>
            <a:custGeom>
              <a:avLst/>
              <a:gdLst/>
              <a:ahLst/>
              <a:cxnLst/>
              <a:rect l="l" t="t" r="r" b="b"/>
              <a:pathLst>
                <a:path w="885825" h="9525">
                  <a:moveTo>
                    <a:pt x="0" y="0"/>
                  </a:moveTo>
                  <a:lnTo>
                    <a:pt x="885825" y="0"/>
                  </a:lnTo>
                </a:path>
              </a:pathLst>
            </a:custGeom>
            <a:noFill/>
            <a:ln w="9525">
              <a:solidFill>
                <a:srgbClr val="69747A"/>
              </a:solidFill>
              <a:prstDash val="dash"/>
            </a:ln>
          </p:spPr>
        </p:sp>
        <p:sp>
          <p:nvSpPr>
            <p:cNvPr id="22" name="Line 22"/>
            <p:cNvSpPr/>
            <p:nvPr/>
          </p:nvSpPr>
          <p:spPr>
            <a:xfrm>
              <a:off x="1619250" y="2143125"/>
              <a:ext cx="428625" cy="1"/>
            </a:xfrm>
            <a:prstGeom prst="line">
              <a:avLst/>
            </a:prstGeom>
            <a:noFill/>
            <a:ln w="19050">
              <a:solidFill>
                <a:srgbClr val="246D73"/>
              </a:solidFill>
              <a:tailEnd type="triangle" w="lg" len="lg"/>
            </a:ln>
          </p:spPr>
        </p:sp>
        <p:sp>
          <p:nvSpPr>
            <p:cNvPr id="23" name="TextBox 23"/>
            <p:cNvSpPr txBox="1"/>
            <p:nvPr/>
          </p:nvSpPr>
          <p:spPr>
            <a:xfrm>
              <a:off x="2516505" y="1336675"/>
              <a:ext cx="902970" cy="293370"/>
            </a:xfrm>
            <a:prstGeom prst="rect">
              <a:avLst/>
            </a:prstGeom>
            <a:noFill/>
            <a:ln>
              <a:noFill/>
            </a:ln>
          </p:spPr>
          <p:txBody>
            <a:bodyPr wrap="none" lIns="0" tIns="0" rIns="0" bIns="0" anchor="t" anchorCtr="0">
              <a:spAutoFit/>
            </a:bodyPr>
            <a:lstStyle/>
            <a:p>
              <a:pPr algn="l"/>
              <a:r>
                <a:rPr lang="zh-CN" sz="1500" b="1" dirty="0">
                  <a:solidFill>
                    <a:srgbClr val="9E423D"/>
                  </a:solidFill>
                  <a:latin typeface="Microsoft YaHei"/>
                  <a:ea typeface="Microsoft YaHei"/>
                  <a:cs typeface="Microsoft YaHei"/>
                </a:rPr>
                <a:t>加载变形</a:t>
              </a:r>
            </a:p>
          </p:txBody>
        </p:sp>
        <p:sp>
          <p:nvSpPr>
            <p:cNvPr id="24" name="Rectangle 24"/>
            <p:cNvSpPr/>
            <p:nvPr/>
          </p:nvSpPr>
          <p:spPr>
            <a:xfrm>
              <a:off x="2524125" y="1809750"/>
              <a:ext cx="1485900" cy="428625"/>
            </a:xfrm>
            <a:prstGeom prst="rect">
              <a:avLst/>
            </a:prstGeom>
            <a:solidFill>
              <a:srgbClr val="F6F2EE"/>
            </a:solidFill>
            <a:ln w="9525">
              <a:solidFill>
                <a:srgbClr val="246D73"/>
              </a:solidFill>
            </a:ln>
          </p:spPr>
        </p:sp>
        <p:sp>
          <p:nvSpPr>
            <p:cNvPr id="25" name="Line 25"/>
            <p:cNvSpPr/>
            <p:nvPr/>
          </p:nvSpPr>
          <p:spPr>
            <a:xfrm>
              <a:off x="2524125" y="2771775"/>
              <a:ext cx="1485900" cy="9525"/>
            </a:xfrm>
            <a:custGeom>
              <a:avLst/>
              <a:gdLst/>
              <a:ahLst/>
              <a:cxnLst/>
              <a:rect l="l" t="t" r="r" b="b"/>
              <a:pathLst>
                <a:path w="1485900" h="9525">
                  <a:moveTo>
                    <a:pt x="0" y="0"/>
                  </a:moveTo>
                  <a:lnTo>
                    <a:pt x="1485900" y="0"/>
                  </a:lnTo>
                </a:path>
              </a:pathLst>
            </a:custGeom>
            <a:noFill/>
            <a:ln w="9525">
              <a:solidFill>
                <a:srgbClr val="69747A"/>
              </a:solidFill>
              <a:prstDash val="dash"/>
            </a:ln>
          </p:spPr>
        </p:sp>
        <p:sp>
          <p:nvSpPr>
            <p:cNvPr id="26" name="Line 26"/>
            <p:cNvSpPr/>
            <p:nvPr/>
          </p:nvSpPr>
          <p:spPr>
            <a:xfrm>
              <a:off x="4124325" y="2143125"/>
              <a:ext cx="428625" cy="1"/>
            </a:xfrm>
            <a:prstGeom prst="line">
              <a:avLst/>
            </a:prstGeom>
            <a:noFill/>
            <a:ln w="19050">
              <a:solidFill>
                <a:srgbClr val="246D73"/>
              </a:solidFill>
              <a:tailEnd type="triangle" w="lg" len="lg"/>
            </a:ln>
          </p:spPr>
        </p:sp>
        <p:sp>
          <p:nvSpPr>
            <p:cNvPr id="27" name="TextBox 27"/>
            <p:cNvSpPr txBox="1"/>
            <p:nvPr/>
          </p:nvSpPr>
          <p:spPr>
            <a:xfrm>
              <a:off x="4935855" y="1336675"/>
              <a:ext cx="902970" cy="293370"/>
            </a:xfrm>
            <a:prstGeom prst="rect">
              <a:avLst/>
            </a:prstGeom>
            <a:noFill/>
            <a:ln>
              <a:noFill/>
            </a:ln>
          </p:spPr>
          <p:txBody>
            <a:bodyPr wrap="none" lIns="0" tIns="0" rIns="0" bIns="0" anchor="t" anchorCtr="0">
              <a:spAutoFit/>
            </a:bodyPr>
            <a:lstStyle/>
            <a:p>
              <a:pPr algn="l"/>
              <a:r>
                <a:rPr lang="zh-CN" sz="1500" b="1" dirty="0">
                  <a:solidFill>
                    <a:srgbClr val="9E423D"/>
                  </a:solidFill>
                  <a:latin typeface="Microsoft YaHei"/>
                  <a:ea typeface="Microsoft YaHei"/>
                  <a:cs typeface="Microsoft YaHei"/>
                </a:rPr>
                <a:t>卸载恢复</a:t>
              </a:r>
            </a:p>
          </p:txBody>
        </p:sp>
        <p:sp>
          <p:nvSpPr>
            <p:cNvPr id="28" name="Rectangle 28"/>
            <p:cNvSpPr/>
            <p:nvPr/>
          </p:nvSpPr>
          <p:spPr>
            <a:xfrm>
              <a:off x="4943475" y="1809750"/>
              <a:ext cx="971550" cy="695325"/>
            </a:xfrm>
            <a:prstGeom prst="rect">
              <a:avLst/>
            </a:prstGeom>
            <a:solidFill>
              <a:srgbClr val="F6F2EE"/>
            </a:solidFill>
            <a:ln w="9525">
              <a:solidFill>
                <a:srgbClr val="246D73"/>
              </a:solidFill>
            </a:ln>
          </p:spPr>
        </p:sp>
        <p:sp>
          <p:nvSpPr>
            <p:cNvPr id="29" name="Line 29"/>
            <p:cNvSpPr/>
            <p:nvPr/>
          </p:nvSpPr>
          <p:spPr>
            <a:xfrm>
              <a:off x="4943475" y="2771775"/>
              <a:ext cx="971550" cy="9525"/>
            </a:xfrm>
            <a:custGeom>
              <a:avLst/>
              <a:gdLst/>
              <a:ahLst/>
              <a:cxnLst/>
              <a:rect l="l" t="t" r="r" b="b"/>
              <a:pathLst>
                <a:path w="971550" h="9525">
                  <a:moveTo>
                    <a:pt x="0" y="0"/>
                  </a:moveTo>
                  <a:lnTo>
                    <a:pt x="971550" y="0"/>
                  </a:lnTo>
                </a:path>
              </a:pathLst>
            </a:custGeom>
            <a:noFill/>
            <a:ln w="9525">
              <a:solidFill>
                <a:srgbClr val="69747A"/>
              </a:solidFill>
              <a:prstDash val="dash"/>
            </a:ln>
          </p:spPr>
        </p:sp>
        <p:sp>
          <p:nvSpPr>
            <p:cNvPr id="30" name="TextBox 30"/>
            <p:cNvSpPr txBox="1"/>
            <p:nvPr/>
          </p:nvSpPr>
          <p:spPr>
            <a:xfrm>
              <a:off x="6831711" y="1574800"/>
              <a:ext cx="1246251" cy="278702"/>
            </a:xfrm>
            <a:prstGeom prst="rect">
              <a:avLst/>
            </a:prstGeom>
            <a:noFill/>
            <a:ln>
              <a:noFill/>
            </a:ln>
          </p:spPr>
          <p:txBody>
            <a:bodyPr wrap="none" lIns="0" tIns="0" rIns="0" bIns="0" anchor="t" anchorCtr="0">
              <a:spAutoFit/>
            </a:bodyPr>
            <a:lstStyle/>
            <a:p>
              <a:pPr algn="l"/>
              <a:r>
                <a:rPr lang="zh-CN" sz="1420" b="1" dirty="0">
                  <a:solidFill>
                    <a:srgbClr val="246D73"/>
                  </a:solidFill>
                  <a:latin typeface="Microsoft YaHei"/>
                  <a:ea typeface="Microsoft YaHei"/>
                  <a:cs typeface="Microsoft YaHei"/>
                </a:rPr>
                <a:t>统一等待时间</a:t>
              </a:r>
            </a:p>
          </p:txBody>
        </p:sp>
        <p:sp>
          <p:nvSpPr>
            <p:cNvPr id="31" name="TextBox 31"/>
            <p:cNvSpPr txBox="1"/>
            <p:nvPr/>
          </p:nvSpPr>
          <p:spPr>
            <a:xfrm>
              <a:off x="6832092" y="1911350"/>
              <a:ext cx="1185672" cy="264033"/>
            </a:xfrm>
            <a:prstGeom prst="rect">
              <a:avLst/>
            </a:prstGeom>
            <a:noFill/>
            <a:ln>
              <a:noFill/>
            </a:ln>
          </p:spPr>
          <p:txBody>
            <a:bodyPr wrap="none" lIns="0" tIns="0" rIns="0" bIns="0" anchor="t" anchorCtr="0">
              <a:spAutoFit/>
            </a:bodyPr>
            <a:lstStyle/>
            <a:p>
              <a:pPr algn="l"/>
              <a:r>
                <a:rPr lang="zh-CN" sz="1350" dirty="0">
                  <a:solidFill>
                    <a:srgbClr val="29343A"/>
                  </a:solidFill>
                  <a:latin typeface="Microsoft YaHei"/>
                  <a:ea typeface="Microsoft YaHei"/>
                  <a:cs typeface="Microsoft YaHei"/>
                </a:rPr>
                <a:t>区分恢复速度</a:t>
              </a:r>
            </a:p>
          </p:txBody>
        </p:sp>
        <p:sp>
          <p:nvSpPr>
            <p:cNvPr id="32" name="TextBox 32"/>
            <p:cNvSpPr txBox="1"/>
            <p:nvPr/>
          </p:nvSpPr>
          <p:spPr>
            <a:xfrm>
              <a:off x="6832092" y="2206625"/>
              <a:ext cx="1367409" cy="264033"/>
            </a:xfrm>
            <a:prstGeom prst="rect">
              <a:avLst/>
            </a:prstGeom>
            <a:noFill/>
            <a:ln>
              <a:noFill/>
            </a:ln>
          </p:spPr>
          <p:txBody>
            <a:bodyPr wrap="none" lIns="0" tIns="0" rIns="0" bIns="0" anchor="t" anchorCtr="0">
              <a:spAutoFit/>
            </a:bodyPr>
            <a:lstStyle/>
            <a:p>
              <a:pPr algn="l"/>
              <a:r>
                <a:rPr lang="zh-CN" sz="1350" dirty="0">
                  <a:solidFill>
                    <a:srgbClr val="29343A"/>
                  </a:solidFill>
                  <a:latin typeface="Microsoft YaHei"/>
                  <a:ea typeface="Microsoft YaHei"/>
                  <a:cs typeface="Microsoft YaHei"/>
                </a:rPr>
                <a:t>与最终恢复程度</a:t>
              </a:r>
            </a:p>
          </p:txBody>
        </p:sp>
      </p:grpSp>
      <p:grpSp>
        <p:nvGrpSpPr>
          <p:cNvPr id="41" name="shape-metrics"/>
          <p:cNvGrpSpPr/>
          <p:nvPr/>
        </p:nvGrpSpPr>
        <p:grpSpPr>
          <a:xfrm>
            <a:off x="381000" y="3209925"/>
            <a:ext cx="8391525" cy="952500"/>
            <a:chOff x="381000" y="3209925"/>
            <a:chExt cx="8391525" cy="952500"/>
          </a:xfrm>
        </p:grpSpPr>
        <p:sp>
          <p:nvSpPr>
            <p:cNvPr id="34" name="Rectangle 34"/>
            <p:cNvSpPr/>
            <p:nvPr/>
          </p:nvSpPr>
          <p:spPr>
            <a:xfrm>
              <a:off x="381000" y="3209925"/>
              <a:ext cx="8391525" cy="952500"/>
            </a:xfrm>
            <a:prstGeom prst="rect">
              <a:avLst/>
            </a:prstGeom>
            <a:solidFill>
              <a:srgbClr val="F6F2EE"/>
            </a:solidFill>
            <a:ln>
              <a:noFill/>
            </a:ln>
          </p:spPr>
        </p:sp>
        <p:sp>
          <p:nvSpPr>
            <p:cNvPr id="35" name="TextBox 35"/>
            <p:cNvSpPr txBox="1"/>
            <p:nvPr/>
          </p:nvSpPr>
          <p:spPr>
            <a:xfrm>
              <a:off x="563499" y="3362325"/>
              <a:ext cx="943356" cy="308991"/>
            </a:xfrm>
            <a:prstGeom prst="rect">
              <a:avLst/>
            </a:prstGeom>
            <a:noFill/>
            <a:ln>
              <a:noFill/>
            </a:ln>
          </p:spPr>
          <p:txBody>
            <a:bodyPr wrap="none" lIns="0" tIns="0" rIns="0" bIns="0" anchor="t" anchorCtr="0">
              <a:spAutoFit/>
            </a:bodyPr>
            <a:lstStyle/>
            <a:p>
              <a:pPr algn="l"/>
              <a:r>
                <a:rPr lang="zh-CN" sz="1580" b="1" dirty="0">
                  <a:solidFill>
                    <a:srgbClr val="9E423D"/>
                  </a:solidFill>
                  <a:latin typeface="Microsoft YaHei"/>
                  <a:ea typeface="Microsoft YaHei"/>
                  <a:cs typeface="Microsoft YaHei"/>
                </a:rPr>
                <a:t>循环加载</a:t>
              </a:r>
            </a:p>
          </p:txBody>
        </p:sp>
        <p:sp>
          <p:nvSpPr>
            <p:cNvPr id="36" name="TextBox 36"/>
            <p:cNvSpPr txBox="1"/>
            <p:nvPr/>
          </p:nvSpPr>
          <p:spPr>
            <a:xfrm>
              <a:off x="564261" y="3727450"/>
              <a:ext cx="1438085" cy="278702"/>
            </a:xfrm>
            <a:prstGeom prst="rect">
              <a:avLst/>
            </a:prstGeom>
            <a:noFill/>
            <a:ln>
              <a:noFill/>
            </a:ln>
          </p:spPr>
          <p:txBody>
            <a:bodyPr wrap="none" lIns="0" tIns="0" rIns="0" bIns="0" anchor="t" anchorCtr="0">
              <a:spAutoFit/>
            </a:bodyPr>
            <a:lstStyle/>
            <a:p>
              <a:pPr algn="l"/>
              <a:r>
                <a:rPr lang="zh-CN" sz="1420" dirty="0">
                  <a:solidFill>
                    <a:srgbClr val="29343A"/>
                  </a:solidFill>
                  <a:latin typeface="Microsoft YaHei"/>
                  <a:ea typeface="Microsoft YaHei"/>
                  <a:cs typeface="Microsoft YaHei"/>
                </a:rPr>
                <a:t>残余应变与滞回</a:t>
              </a:r>
            </a:p>
          </p:txBody>
        </p:sp>
        <p:sp>
          <p:nvSpPr>
            <p:cNvPr id="37" name="TextBox 37"/>
            <p:cNvSpPr txBox="1"/>
            <p:nvPr/>
          </p:nvSpPr>
          <p:spPr>
            <a:xfrm>
              <a:off x="3335274" y="3362325"/>
              <a:ext cx="943356" cy="308991"/>
            </a:xfrm>
            <a:prstGeom prst="rect">
              <a:avLst/>
            </a:prstGeom>
            <a:noFill/>
            <a:ln>
              <a:noFill/>
            </a:ln>
          </p:spPr>
          <p:txBody>
            <a:bodyPr wrap="none" lIns="0" tIns="0" rIns="0" bIns="0" anchor="t" anchorCtr="0">
              <a:spAutoFit/>
            </a:bodyPr>
            <a:lstStyle/>
            <a:p>
              <a:pPr algn="l"/>
              <a:r>
                <a:rPr lang="zh-CN" sz="1580" b="1" dirty="0">
                  <a:solidFill>
                    <a:srgbClr val="9E423D"/>
                  </a:solidFill>
                  <a:latin typeface="Microsoft YaHei"/>
                  <a:ea typeface="Microsoft YaHei"/>
                  <a:cs typeface="Microsoft YaHei"/>
                </a:rPr>
                <a:t>持续加载</a:t>
              </a:r>
            </a:p>
          </p:txBody>
        </p:sp>
        <p:sp>
          <p:nvSpPr>
            <p:cNvPr id="38" name="TextBox 38"/>
            <p:cNvSpPr txBox="1"/>
            <p:nvPr/>
          </p:nvSpPr>
          <p:spPr>
            <a:xfrm>
              <a:off x="3336036" y="3727450"/>
              <a:ext cx="1438085" cy="278702"/>
            </a:xfrm>
            <a:prstGeom prst="rect">
              <a:avLst/>
            </a:prstGeom>
            <a:noFill/>
            <a:ln>
              <a:noFill/>
            </a:ln>
          </p:spPr>
          <p:txBody>
            <a:bodyPr wrap="none" lIns="0" tIns="0" rIns="0" bIns="0" anchor="t" anchorCtr="0">
              <a:spAutoFit/>
            </a:bodyPr>
            <a:lstStyle/>
            <a:p>
              <a:pPr algn="l"/>
              <a:r>
                <a:rPr lang="zh-CN" sz="1420" dirty="0">
                  <a:solidFill>
                    <a:srgbClr val="29343A"/>
                  </a:solidFill>
                  <a:latin typeface="Microsoft YaHei"/>
                  <a:ea typeface="Microsoft YaHei"/>
                  <a:cs typeface="Microsoft YaHei"/>
                </a:rPr>
                <a:t>蠕变与应力松弛</a:t>
              </a:r>
            </a:p>
          </p:txBody>
        </p:sp>
        <p:sp>
          <p:nvSpPr>
            <p:cNvPr id="39" name="TextBox 39"/>
            <p:cNvSpPr txBox="1"/>
            <p:nvPr/>
          </p:nvSpPr>
          <p:spPr>
            <a:xfrm>
              <a:off x="6087999" y="3362325"/>
              <a:ext cx="943356" cy="308991"/>
            </a:xfrm>
            <a:prstGeom prst="rect">
              <a:avLst/>
            </a:prstGeom>
            <a:noFill/>
            <a:ln>
              <a:noFill/>
            </a:ln>
          </p:spPr>
          <p:txBody>
            <a:bodyPr wrap="none" lIns="0" tIns="0" rIns="0" bIns="0" anchor="t" anchorCtr="0">
              <a:spAutoFit/>
            </a:bodyPr>
            <a:lstStyle/>
            <a:p>
              <a:pPr algn="l"/>
              <a:r>
                <a:rPr lang="zh-CN" sz="1580" b="1" dirty="0">
                  <a:solidFill>
                    <a:srgbClr val="9E423D"/>
                  </a:solidFill>
                  <a:latin typeface="Microsoft YaHei"/>
                  <a:ea typeface="Microsoft YaHei"/>
                  <a:cs typeface="Microsoft YaHei"/>
                </a:rPr>
                <a:t>环境控制</a:t>
              </a:r>
            </a:p>
          </p:txBody>
        </p:sp>
        <p:sp>
          <p:nvSpPr>
            <p:cNvPr id="40" name="TextBox 40"/>
            <p:cNvSpPr txBox="1"/>
            <p:nvPr/>
          </p:nvSpPr>
          <p:spPr>
            <a:xfrm>
              <a:off x="6088761" y="3727450"/>
              <a:ext cx="1629918" cy="278702"/>
            </a:xfrm>
            <a:prstGeom prst="rect">
              <a:avLst/>
            </a:prstGeom>
            <a:noFill/>
            <a:ln>
              <a:noFill/>
            </a:ln>
          </p:spPr>
          <p:txBody>
            <a:bodyPr wrap="none" lIns="0" tIns="0" rIns="0" bIns="0" anchor="t" anchorCtr="0">
              <a:spAutoFit/>
            </a:bodyPr>
            <a:lstStyle/>
            <a:p>
              <a:pPr algn="l"/>
              <a:r>
                <a:rPr lang="zh-CN" sz="1420" dirty="0">
                  <a:solidFill>
                    <a:srgbClr val="29343A"/>
                  </a:solidFill>
                  <a:latin typeface="Microsoft YaHei"/>
                  <a:ea typeface="Microsoft YaHei"/>
                  <a:cs typeface="Microsoft YaHei"/>
                </a:rPr>
                <a:t>温度、时间与恢复</a:t>
              </a:r>
            </a:p>
          </p:txBody>
        </p:sp>
      </p:grpSp>
      <p:grpSp>
        <p:nvGrpSpPr>
          <p:cNvPr id="45" name="takeaway"/>
          <p:cNvGrpSpPr/>
          <p:nvPr/>
        </p:nvGrpSpPr>
        <p:grpSpPr>
          <a:xfrm>
            <a:off x="361950" y="4419600"/>
            <a:ext cx="8420100" cy="361950"/>
            <a:chOff x="361950" y="4419600"/>
            <a:chExt cx="8420100" cy="361950"/>
          </a:xfrm>
        </p:grpSpPr>
        <p:sp>
          <p:nvSpPr>
            <p:cNvPr id="42" name="Rectangle 42"/>
            <p:cNvSpPr/>
            <p:nvPr/>
          </p:nvSpPr>
          <p:spPr>
            <a:xfrm>
              <a:off x="361950" y="4419600"/>
              <a:ext cx="8420100" cy="361950"/>
            </a:xfrm>
            <a:prstGeom prst="rect">
              <a:avLst/>
            </a:prstGeom>
            <a:solidFill>
              <a:srgbClr val="F6F2EE"/>
            </a:solidFill>
            <a:ln>
              <a:noFill/>
            </a:ln>
          </p:spPr>
        </p:sp>
        <p:sp>
          <p:nvSpPr>
            <p:cNvPr id="43" name="Rectangle 43"/>
            <p:cNvSpPr/>
            <p:nvPr/>
          </p:nvSpPr>
          <p:spPr>
            <a:xfrm>
              <a:off x="361950" y="4419600"/>
              <a:ext cx="38100" cy="361950"/>
            </a:xfrm>
            <a:prstGeom prst="rect">
              <a:avLst/>
            </a:prstGeom>
            <a:solidFill>
              <a:srgbClr val="9E423D"/>
            </a:solidFill>
            <a:ln>
              <a:noFill/>
            </a:ln>
          </p:spPr>
        </p:sp>
        <p:sp>
          <p:nvSpPr>
            <p:cNvPr id="44" name="TextBox 44"/>
            <p:cNvSpPr txBox="1"/>
            <p:nvPr/>
          </p:nvSpPr>
          <p:spPr>
            <a:xfrm>
              <a:off x="497967" y="4492625"/>
              <a:ext cx="5365623" cy="264033"/>
            </a:xfrm>
            <a:prstGeom prst="rect">
              <a:avLst/>
            </a:prstGeom>
            <a:noFill/>
            <a:ln>
              <a:noFill/>
            </a:ln>
          </p:spPr>
          <p:txBody>
            <a:bodyPr wrap="none" lIns="0" tIns="0" rIns="0" bIns="0" anchor="t" anchorCtr="0">
              <a:spAutoFit/>
            </a:bodyPr>
            <a:lstStyle/>
            <a:p>
              <a:pPr algn="l"/>
              <a:r>
                <a:rPr lang="zh-CN" sz="1350" b="1" dirty="0">
                  <a:solidFill>
                    <a:srgbClr val="9E423D"/>
                  </a:solidFill>
                  <a:latin typeface="Microsoft YaHei"/>
                  <a:ea typeface="Microsoft YaHei"/>
                  <a:cs typeface="Microsoft YaHei"/>
                </a:rPr>
                <a:t>需要回答：在相同载荷、时间和温度下，残余变形是否真正降低？</a:t>
              </a:r>
            </a:p>
          </p:txBody>
        </p:sp>
      </p:grpSp>
    </p:spTree>
  </p:cSld>
  <p:clrMapOvr>
    <a:masterClrMapping/>
  </p:clrMapOvr>
  <p:transition advClick="1"/>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 name="矩形 8"/>
          <p:cNvSpPr/>
          <p:nvPr/>
        </p:nvSpPr>
        <p:spPr>
          <a:xfrm>
            <a:off x="-10066" y="597600"/>
            <a:ext cx="9154065" cy="72000"/>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0" y="-7934"/>
            <a:ext cx="9144000" cy="556614"/>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p:cNvPicPr>
            <a:picLocks noChangeAspect="1"/>
          </p:cNvPicPr>
          <p:nvPr>
            <p:custDataLst>
              <p:tags r:id="rId1"/>
            </p:custDataLst>
          </p:nvPr>
        </p:nvPicPr>
        <p:blipFill>
          <a:blip r:embed="rId4"/>
          <a:srcRect l="1701" t="2985" r="4812" b="1949"/>
          <a:stretch>
            <a:fillRect/>
          </a:stretch>
        </p:blipFill>
        <p:spPr>
          <a:xfrm>
            <a:off x="135376" y="17739"/>
            <a:ext cx="509847" cy="514223"/>
          </a:xfrm>
          <a:prstGeom prst="ellipse">
            <a:avLst/>
          </a:prstGeom>
        </p:spPr>
      </p:pic>
      <p:grpSp>
        <p:nvGrpSpPr>
          <p:cNvPr id="6" name="page-title"/>
          <p:cNvGrpSpPr/>
          <p:nvPr/>
        </p:nvGrpSpPr>
        <p:grpSpPr>
          <a:xfrm>
            <a:off x="789813" y="120650"/>
            <a:ext cx="4099560" cy="396050"/>
            <a:chOff x="789813" y="120650"/>
            <a:chExt cx="4099560" cy="396050"/>
          </a:xfrm>
        </p:grpSpPr>
        <p:sp>
          <p:nvSpPr>
            <p:cNvPr id="5" name="TextBox 5"/>
            <p:cNvSpPr txBox="1"/>
            <p:nvPr/>
          </p:nvSpPr>
          <p:spPr>
            <a:xfrm>
              <a:off x="789813" y="120650"/>
              <a:ext cx="4184332" cy="396050"/>
            </a:xfrm>
            <a:prstGeom prst="rect">
              <a:avLst/>
            </a:prstGeom>
            <a:noFill/>
            <a:ln>
              <a:noFill/>
            </a:ln>
          </p:spPr>
          <p:txBody>
            <a:bodyPr wrap="none" lIns="0" tIns="0" rIns="0" bIns="0" anchor="t" anchorCtr="0">
              <a:spAutoFit/>
            </a:bodyPr>
            <a:lstStyle/>
            <a:p>
              <a:pPr algn="l"/>
              <a:r>
                <a:rPr lang="zh-CN" sz="2020" b="1" dirty="0">
                  <a:solidFill>
                    <a:srgbClr val="FFFFFF"/>
                  </a:solidFill>
                  <a:latin typeface="Microsoft YaHei"/>
                  <a:ea typeface="Microsoft YaHei"/>
                  <a:cs typeface="Microsoft YaHei"/>
                </a:rPr>
                <a:t>芳纶柔性复合材料的冲击能量吸收</a:t>
              </a:r>
            </a:p>
          </p:txBody>
        </p:sp>
      </p:grpSp>
      <p:grpSp>
        <p:nvGrpSpPr>
          <p:cNvPr id="12" name="page-footer"/>
          <p:cNvGrpSpPr/>
          <p:nvPr/>
        </p:nvGrpSpPr>
        <p:grpSpPr>
          <a:xfrm>
            <a:off x="366712" y="4905375"/>
            <a:ext cx="8405813" cy="233362"/>
            <a:chOff x="366712" y="4905375"/>
            <a:chExt cx="8405813" cy="233362"/>
          </a:xfrm>
        </p:grpSpPr>
        <p:sp>
          <p:nvSpPr>
            <p:cNvPr id="7" name="Line 7"/>
            <p:cNvSpPr/>
            <p:nvPr/>
          </p:nvSpPr>
          <p:spPr>
            <a:xfrm>
              <a:off x="371475" y="4905375"/>
              <a:ext cx="8401050" cy="9525"/>
            </a:xfrm>
            <a:custGeom>
              <a:avLst/>
              <a:gdLst/>
              <a:ahLst/>
              <a:cxnLst/>
              <a:rect l="l" t="t" r="r" b="b"/>
              <a:pathLst>
                <a:path w="8401050" h="9525">
                  <a:moveTo>
                    <a:pt x="0" y="0"/>
                  </a:moveTo>
                  <a:lnTo>
                    <a:pt x="8401050" y="0"/>
                  </a:lnTo>
                </a:path>
              </a:pathLst>
            </a:custGeom>
            <a:noFill/>
            <a:ln w="9525">
              <a:solidFill>
                <a:srgbClr val="DADDDC"/>
              </a:solidFill>
            </a:ln>
          </p:spPr>
        </p:sp>
        <p:sp>
          <p:nvSpPr>
            <p:cNvPr id="8" name="TextBox 8"/>
            <p:cNvSpPr txBox="1"/>
            <p:nvPr/>
          </p:nvSpPr>
          <p:spPr>
            <a:xfrm>
              <a:off x="366712" y="4962525"/>
              <a:ext cx="1893216"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芳纶柔性复合材料 / 纺织学生论坛</a:t>
              </a:r>
            </a:p>
          </p:txBody>
        </p:sp>
        <p:sp>
          <p:nvSpPr>
            <p:cNvPr id="10" name="TextBox 10"/>
            <p:cNvSpPr txBox="1"/>
            <p:nvPr/>
          </p:nvSpPr>
          <p:spPr>
            <a:xfrm>
              <a:off x="6519862" y="4962525"/>
              <a:ext cx="1065579"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研究一 · 冲击耗能</a:t>
              </a:r>
            </a:p>
          </p:txBody>
        </p:sp>
        <p:sp>
          <p:nvSpPr>
            <p:cNvPr id="11" name="TextBox 11"/>
            <p:cNvSpPr txBox="1"/>
            <p:nvPr/>
          </p:nvSpPr>
          <p:spPr>
            <a:xfrm>
              <a:off x="8301781" y="4962525"/>
              <a:ext cx="465981" cy="176212"/>
            </a:xfrm>
            <a:prstGeom prst="rect">
              <a:avLst/>
            </a:prstGeom>
            <a:noFill/>
            <a:ln>
              <a:noFill/>
            </a:ln>
          </p:spPr>
          <p:txBody>
            <a:bodyPr wrap="none" lIns="0" tIns="0" rIns="0" bIns="0" anchor="t" anchorCtr="0">
              <a:spAutoFit/>
            </a:bodyPr>
            <a:lstStyle/>
            <a:p>
              <a:pPr algn="r"/>
              <a:r>
                <a:rPr lang="zh-CN" sz="900" dirty="0">
                  <a:solidFill>
                    <a:srgbClr val="69747A"/>
                  </a:solidFill>
                  <a:latin typeface="Microsoft YaHei"/>
                  <a:ea typeface="Microsoft YaHei"/>
                  <a:cs typeface="Microsoft YaHei"/>
                </a:rPr>
                <a:t>08 / 14</a:t>
              </a:r>
            </a:p>
          </p:txBody>
        </p:sp>
      </p:grpSp>
      <p:grpSp>
        <p:nvGrpSpPr>
          <p:cNvPr id="17" name="context"/>
          <p:cNvGrpSpPr/>
          <p:nvPr/>
        </p:nvGrpSpPr>
        <p:grpSpPr>
          <a:xfrm>
            <a:off x="364998" y="771525"/>
            <a:ext cx="8417052" cy="278892"/>
            <a:chOff x="364998" y="771525"/>
            <a:chExt cx="8417052" cy="278892"/>
          </a:xfrm>
        </p:grpSpPr>
        <p:sp>
          <p:nvSpPr>
            <p:cNvPr id="14" name="TextBox 14"/>
            <p:cNvSpPr txBox="1"/>
            <p:nvPr/>
          </p:nvSpPr>
          <p:spPr>
            <a:xfrm>
              <a:off x="364998" y="800100"/>
              <a:ext cx="2841498" cy="250317"/>
            </a:xfrm>
            <a:prstGeom prst="rect">
              <a:avLst/>
            </a:prstGeom>
            <a:noFill/>
            <a:ln>
              <a:noFill/>
            </a:ln>
          </p:spPr>
          <p:txBody>
            <a:bodyPr wrap="none" lIns="0" tIns="0" rIns="0" bIns="0" anchor="t" anchorCtr="0">
              <a:spAutoFit/>
            </a:bodyPr>
            <a:lstStyle/>
            <a:p>
              <a:pPr algn="l"/>
              <a:r>
                <a:rPr lang="zh-CN" sz="1280" dirty="0">
                  <a:solidFill>
                    <a:srgbClr val="69747A"/>
                  </a:solidFill>
                  <a:latin typeface="Microsoft YaHei"/>
                  <a:ea typeface="Microsoft YaHei"/>
                  <a:cs typeface="Microsoft YaHei"/>
                </a:rPr>
                <a:t>以能量收支连接宏观响应与细观机制</a:t>
              </a:r>
            </a:p>
          </p:txBody>
        </p:sp>
        <p:sp>
          <p:nvSpPr>
            <p:cNvPr id="15" name="Rectangle 15"/>
            <p:cNvSpPr/>
            <p:nvPr/>
          </p:nvSpPr>
          <p:spPr>
            <a:xfrm>
              <a:off x="7715250" y="771525"/>
              <a:ext cx="1066800" cy="247650"/>
            </a:xfrm>
            <a:prstGeom prst="roundRect">
              <a:avLst>
                <a:gd name="adj" fmla="val 15385"/>
              </a:avLst>
            </a:prstGeom>
            <a:solidFill>
              <a:srgbClr val="F6F2EE"/>
            </a:solidFill>
            <a:ln>
              <a:noFill/>
            </a:ln>
          </p:spPr>
        </p:sp>
        <p:sp>
          <p:nvSpPr>
            <p:cNvPr id="16" name="TextBox 16"/>
            <p:cNvSpPr txBox="1"/>
            <p:nvPr/>
          </p:nvSpPr>
          <p:spPr>
            <a:xfrm>
              <a:off x="8061960" y="828675"/>
              <a:ext cx="620268" cy="191643"/>
            </a:xfrm>
            <a:prstGeom prst="rect">
              <a:avLst/>
            </a:prstGeom>
            <a:noFill/>
            <a:ln>
              <a:noFill/>
            </a:ln>
          </p:spPr>
          <p:txBody>
            <a:bodyPr wrap="none" lIns="0" tIns="0" rIns="0" bIns="0" anchor="t" anchorCtr="0">
              <a:spAutoFit/>
            </a:bodyPr>
            <a:lstStyle/>
            <a:p>
              <a:pPr algn="r"/>
              <a:r>
                <a:rPr lang="zh-CN" sz="980" b="1" dirty="0">
                  <a:solidFill>
                    <a:srgbClr val="9E423D"/>
                  </a:solidFill>
                  <a:latin typeface="Microsoft YaHei"/>
                  <a:ea typeface="Microsoft YaHei"/>
                  <a:cs typeface="Microsoft YaHei"/>
                </a:rPr>
                <a:t>评价方案</a:t>
              </a:r>
            </a:p>
          </p:txBody>
        </p:sp>
      </p:grpSp>
      <p:grpSp>
        <p:nvGrpSpPr>
          <p:cNvPr id="22" name="energy-balance"/>
          <p:cNvGrpSpPr/>
          <p:nvPr/>
        </p:nvGrpSpPr>
        <p:grpSpPr>
          <a:xfrm>
            <a:off x="381000" y="1257300"/>
            <a:ext cx="8391525" cy="733425"/>
            <a:chOff x="381000" y="1257300"/>
            <a:chExt cx="8391525" cy="733425"/>
          </a:xfrm>
        </p:grpSpPr>
        <p:sp>
          <p:nvSpPr>
            <p:cNvPr id="19" name="Rectangle 19"/>
            <p:cNvSpPr/>
            <p:nvPr/>
          </p:nvSpPr>
          <p:spPr>
            <a:xfrm>
              <a:off x="381000" y="1257300"/>
              <a:ext cx="8391525" cy="733425"/>
            </a:xfrm>
            <a:prstGeom prst="rect">
              <a:avLst/>
            </a:prstGeom>
            <a:solidFill>
              <a:srgbClr val="F6F2EE"/>
            </a:solidFill>
            <a:ln>
              <a:noFill/>
            </a:ln>
          </p:spPr>
        </p:sp>
        <p:sp>
          <p:nvSpPr>
            <p:cNvPr id="20" name="TextBox 20"/>
            <p:cNvSpPr txBox="1"/>
            <p:nvPr/>
          </p:nvSpPr>
          <p:spPr>
            <a:xfrm>
              <a:off x="571119" y="1320800"/>
              <a:ext cx="5170895" cy="381381"/>
            </a:xfrm>
            <a:prstGeom prst="rect">
              <a:avLst/>
            </a:prstGeom>
            <a:noFill/>
            <a:ln>
              <a:noFill/>
            </a:ln>
          </p:spPr>
          <p:txBody>
            <a:bodyPr wrap="none" lIns="0" tIns="0" rIns="0" bIns="0" anchor="t" anchorCtr="0">
              <a:spAutoFit/>
            </a:bodyPr>
            <a:lstStyle/>
            <a:p>
              <a:pPr algn="l"/>
              <a:r>
                <a:rPr lang="zh-CN" sz="1950" b="1" dirty="0">
                  <a:solidFill>
                    <a:srgbClr val="9E423D"/>
                  </a:solidFill>
                  <a:latin typeface="Microsoft YaHei"/>
                  <a:ea typeface="Microsoft YaHei"/>
                  <a:cs typeface="Microsoft YaHei"/>
                </a:rPr>
                <a:t>输入能量 = 回弹能量 + 试样耗散 + 其他损失</a:t>
              </a:r>
            </a:p>
          </p:txBody>
        </p:sp>
        <p:sp>
          <p:nvSpPr>
            <p:cNvPr id="21" name="TextBox 21"/>
            <p:cNvSpPr txBox="1"/>
            <p:nvPr/>
          </p:nvSpPr>
          <p:spPr>
            <a:xfrm>
              <a:off x="574548" y="1676400"/>
              <a:ext cx="4955926" cy="250317"/>
            </a:xfrm>
            <a:prstGeom prst="rect">
              <a:avLst/>
            </a:prstGeom>
            <a:noFill/>
            <a:ln>
              <a:noFill/>
            </a:ln>
          </p:spPr>
          <p:txBody>
            <a:bodyPr wrap="none" lIns="0" tIns="0" rIns="0" bIns="0" anchor="t" anchorCtr="0">
              <a:spAutoFit/>
            </a:bodyPr>
            <a:lstStyle/>
            <a:p>
              <a:pPr algn="l"/>
              <a:r>
                <a:rPr lang="zh-CN" sz="1280" dirty="0">
                  <a:solidFill>
                    <a:srgbClr val="69747A"/>
                  </a:solidFill>
                  <a:latin typeface="Microsoft YaHei"/>
                  <a:ea typeface="Microsoft YaHei"/>
                  <a:cs typeface="Microsoft YaHei"/>
                </a:rPr>
                <a:t>加载功 W = ∫ F dδ；加载功不能未经校正直接等同于材料耗能。</a:t>
              </a:r>
            </a:p>
          </p:txBody>
        </p:sp>
      </p:grpSp>
      <p:grpSp>
        <p:nvGrpSpPr>
          <p:cNvPr id="36" name="impact-mechanisms"/>
          <p:cNvGrpSpPr/>
          <p:nvPr/>
        </p:nvGrpSpPr>
        <p:grpSpPr>
          <a:xfrm>
            <a:off x="411480" y="2184400"/>
            <a:ext cx="7372782" cy="1107377"/>
            <a:chOff x="411480" y="2184400"/>
            <a:chExt cx="7372782" cy="1107377"/>
          </a:xfrm>
        </p:grpSpPr>
        <p:sp>
          <p:nvSpPr>
            <p:cNvPr id="23" name="TextBox 23"/>
            <p:cNvSpPr txBox="1"/>
            <p:nvPr/>
          </p:nvSpPr>
          <p:spPr>
            <a:xfrm>
              <a:off x="411480" y="2184400"/>
              <a:ext cx="1508760" cy="293370"/>
            </a:xfrm>
            <a:prstGeom prst="rect">
              <a:avLst/>
            </a:prstGeom>
            <a:noFill/>
            <a:ln>
              <a:noFill/>
            </a:ln>
          </p:spPr>
          <p:txBody>
            <a:bodyPr wrap="none" lIns="0" tIns="0" rIns="0" bIns="0" anchor="t" anchorCtr="0">
              <a:spAutoFit/>
            </a:bodyPr>
            <a:lstStyle/>
            <a:p>
              <a:pPr algn="l"/>
              <a:r>
                <a:rPr lang="zh-CN" sz="1500" b="1" dirty="0">
                  <a:solidFill>
                    <a:srgbClr val="246D73"/>
                  </a:solidFill>
                  <a:latin typeface="Microsoft YaHei"/>
                  <a:ea typeface="Microsoft YaHei"/>
                  <a:cs typeface="Microsoft YaHei"/>
                </a:rPr>
                <a:t>可能的耗散通道</a:t>
              </a:r>
            </a:p>
          </p:txBody>
        </p:sp>
        <p:sp>
          <p:nvSpPr>
            <p:cNvPr id="24" name="Ellipse 24"/>
            <p:cNvSpPr/>
            <p:nvPr/>
          </p:nvSpPr>
          <p:spPr>
            <a:xfrm>
              <a:off x="447675" y="2647950"/>
              <a:ext cx="247650" cy="247650"/>
            </a:xfrm>
            <a:prstGeom prst="ellipse">
              <a:avLst/>
            </a:prstGeom>
            <a:solidFill>
              <a:srgbClr val="9E423D"/>
            </a:solidFill>
            <a:ln>
              <a:noFill/>
            </a:ln>
          </p:spPr>
        </p:sp>
        <p:sp>
          <p:nvSpPr>
            <p:cNvPr id="25" name="TextBox 25"/>
            <p:cNvSpPr txBox="1"/>
            <p:nvPr/>
          </p:nvSpPr>
          <p:spPr>
            <a:xfrm>
              <a:off x="476213" y="2676525"/>
              <a:ext cx="190575"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icrosoft YaHei"/>
                  <a:ea typeface="Microsoft YaHei"/>
                  <a:cs typeface="Microsoft YaHei"/>
                </a:rPr>
                <a:t>1</a:t>
              </a:r>
            </a:p>
          </p:txBody>
        </p:sp>
        <p:sp>
          <p:nvSpPr>
            <p:cNvPr id="26" name="TextBox 26"/>
            <p:cNvSpPr txBox="1"/>
            <p:nvPr/>
          </p:nvSpPr>
          <p:spPr>
            <a:xfrm>
              <a:off x="801243" y="2635250"/>
              <a:ext cx="983742" cy="322707"/>
            </a:xfrm>
            <a:prstGeom prst="rect">
              <a:avLst/>
            </a:prstGeom>
            <a:noFill/>
            <a:ln>
              <a:noFill/>
            </a:ln>
          </p:spPr>
          <p:txBody>
            <a:bodyPr wrap="none" lIns="0" tIns="0" rIns="0" bIns="0" anchor="t" anchorCtr="0">
              <a:spAutoFit/>
            </a:bodyPr>
            <a:lstStyle/>
            <a:p>
              <a:pPr algn="l"/>
              <a:r>
                <a:rPr lang="zh-CN" sz="1650" b="1" dirty="0">
                  <a:solidFill>
                    <a:srgbClr val="29343A"/>
                  </a:solidFill>
                  <a:latin typeface="Microsoft YaHei"/>
                  <a:ea typeface="Microsoft YaHei"/>
                  <a:cs typeface="Microsoft YaHei"/>
                </a:rPr>
                <a:t>基体变形</a:t>
              </a:r>
            </a:p>
          </p:txBody>
        </p:sp>
        <p:sp>
          <p:nvSpPr>
            <p:cNvPr id="27" name="TextBox 27"/>
            <p:cNvSpPr txBox="1"/>
            <p:nvPr/>
          </p:nvSpPr>
          <p:spPr>
            <a:xfrm>
              <a:off x="792861" y="3013075"/>
              <a:ext cx="1438085" cy="278702"/>
            </a:xfrm>
            <a:prstGeom prst="rect">
              <a:avLst/>
            </a:prstGeom>
            <a:noFill/>
            <a:ln>
              <a:noFill/>
            </a:ln>
          </p:spPr>
          <p:txBody>
            <a:bodyPr wrap="none" lIns="0" tIns="0" rIns="0" bIns="0" anchor="t" anchorCtr="0">
              <a:spAutoFit/>
            </a:bodyPr>
            <a:lstStyle/>
            <a:p>
              <a:pPr algn="l"/>
              <a:r>
                <a:rPr lang="zh-CN" sz="1420" dirty="0">
                  <a:solidFill>
                    <a:srgbClr val="29343A"/>
                  </a:solidFill>
                  <a:latin typeface="Microsoft YaHei"/>
                  <a:ea typeface="Microsoft YaHei"/>
                  <a:cs typeface="Microsoft YaHei"/>
                </a:rPr>
                <a:t>黏弹与可逆作用</a:t>
              </a:r>
            </a:p>
          </p:txBody>
        </p:sp>
        <p:sp>
          <p:nvSpPr>
            <p:cNvPr id="28" name="Ellipse 28"/>
            <p:cNvSpPr/>
            <p:nvPr/>
          </p:nvSpPr>
          <p:spPr>
            <a:xfrm>
              <a:off x="3267075" y="2647950"/>
              <a:ext cx="247650" cy="247650"/>
            </a:xfrm>
            <a:prstGeom prst="ellipse">
              <a:avLst/>
            </a:prstGeom>
            <a:solidFill>
              <a:srgbClr val="9E423D"/>
            </a:solidFill>
            <a:ln>
              <a:noFill/>
            </a:ln>
          </p:spPr>
        </p:sp>
        <p:sp>
          <p:nvSpPr>
            <p:cNvPr id="29" name="TextBox 29"/>
            <p:cNvSpPr txBox="1"/>
            <p:nvPr/>
          </p:nvSpPr>
          <p:spPr>
            <a:xfrm>
              <a:off x="3295613" y="2676525"/>
              <a:ext cx="190575"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icrosoft YaHei"/>
                  <a:ea typeface="Microsoft YaHei"/>
                  <a:cs typeface="Microsoft YaHei"/>
                </a:rPr>
                <a:t>2</a:t>
              </a:r>
            </a:p>
          </p:txBody>
        </p:sp>
        <p:sp>
          <p:nvSpPr>
            <p:cNvPr id="30" name="TextBox 30"/>
            <p:cNvSpPr txBox="1"/>
            <p:nvPr/>
          </p:nvSpPr>
          <p:spPr>
            <a:xfrm>
              <a:off x="3620643" y="2635250"/>
              <a:ext cx="983742" cy="322707"/>
            </a:xfrm>
            <a:prstGeom prst="rect">
              <a:avLst/>
            </a:prstGeom>
            <a:noFill/>
            <a:ln>
              <a:noFill/>
            </a:ln>
          </p:spPr>
          <p:txBody>
            <a:bodyPr wrap="none" lIns="0" tIns="0" rIns="0" bIns="0" anchor="t" anchorCtr="0">
              <a:spAutoFit/>
            </a:bodyPr>
            <a:lstStyle/>
            <a:p>
              <a:pPr algn="l"/>
              <a:r>
                <a:rPr lang="zh-CN" sz="1650" b="1" dirty="0">
                  <a:solidFill>
                    <a:srgbClr val="29343A"/>
                  </a:solidFill>
                  <a:latin typeface="Microsoft YaHei"/>
                  <a:ea typeface="Microsoft YaHei"/>
                  <a:cs typeface="Microsoft YaHei"/>
                </a:rPr>
                <a:t>纱线承载</a:t>
              </a:r>
            </a:p>
          </p:txBody>
        </p:sp>
        <p:sp>
          <p:nvSpPr>
            <p:cNvPr id="31" name="TextBox 31"/>
            <p:cNvSpPr txBox="1"/>
            <p:nvPr/>
          </p:nvSpPr>
          <p:spPr>
            <a:xfrm>
              <a:off x="3612261" y="3013075"/>
              <a:ext cx="1438085" cy="278702"/>
            </a:xfrm>
            <a:prstGeom prst="rect">
              <a:avLst/>
            </a:prstGeom>
            <a:noFill/>
            <a:ln>
              <a:noFill/>
            </a:ln>
          </p:spPr>
          <p:txBody>
            <a:bodyPr wrap="none" lIns="0" tIns="0" rIns="0" bIns="0" anchor="t" anchorCtr="0">
              <a:spAutoFit/>
            </a:bodyPr>
            <a:lstStyle/>
            <a:p>
              <a:pPr algn="l"/>
              <a:r>
                <a:rPr lang="zh-CN" sz="1420" dirty="0">
                  <a:solidFill>
                    <a:srgbClr val="29343A"/>
                  </a:solidFill>
                  <a:latin typeface="Microsoft YaHei"/>
                  <a:ea typeface="Microsoft YaHei"/>
                  <a:cs typeface="Microsoft YaHei"/>
                </a:rPr>
                <a:t>拉伸与载荷扩散</a:t>
              </a:r>
            </a:p>
          </p:txBody>
        </p:sp>
        <p:sp>
          <p:nvSpPr>
            <p:cNvPr id="32" name="Ellipse 32"/>
            <p:cNvSpPr/>
            <p:nvPr/>
          </p:nvSpPr>
          <p:spPr>
            <a:xfrm>
              <a:off x="6086475" y="2647950"/>
              <a:ext cx="247650" cy="247650"/>
            </a:xfrm>
            <a:prstGeom prst="ellipse">
              <a:avLst/>
            </a:prstGeom>
            <a:solidFill>
              <a:srgbClr val="9E423D"/>
            </a:solidFill>
            <a:ln>
              <a:noFill/>
            </a:ln>
          </p:spPr>
        </p:sp>
        <p:sp>
          <p:nvSpPr>
            <p:cNvPr id="33" name="TextBox 33"/>
            <p:cNvSpPr txBox="1"/>
            <p:nvPr/>
          </p:nvSpPr>
          <p:spPr>
            <a:xfrm>
              <a:off x="6115013" y="2676525"/>
              <a:ext cx="190575"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icrosoft YaHei"/>
                  <a:ea typeface="Microsoft YaHei"/>
                  <a:cs typeface="Microsoft YaHei"/>
                </a:rPr>
                <a:t>3</a:t>
              </a:r>
            </a:p>
          </p:txBody>
        </p:sp>
        <p:sp>
          <p:nvSpPr>
            <p:cNvPr id="34" name="TextBox 34"/>
            <p:cNvSpPr txBox="1"/>
            <p:nvPr/>
          </p:nvSpPr>
          <p:spPr>
            <a:xfrm>
              <a:off x="6440043" y="2635250"/>
              <a:ext cx="983742" cy="322707"/>
            </a:xfrm>
            <a:prstGeom prst="rect">
              <a:avLst/>
            </a:prstGeom>
            <a:noFill/>
            <a:ln>
              <a:noFill/>
            </a:ln>
          </p:spPr>
          <p:txBody>
            <a:bodyPr wrap="none" lIns="0" tIns="0" rIns="0" bIns="0" anchor="t" anchorCtr="0">
              <a:spAutoFit/>
            </a:bodyPr>
            <a:lstStyle/>
            <a:p>
              <a:pPr algn="l"/>
              <a:r>
                <a:rPr lang="zh-CN" sz="1650" b="1" dirty="0">
                  <a:solidFill>
                    <a:srgbClr val="29343A"/>
                  </a:solidFill>
                  <a:latin typeface="Microsoft YaHei"/>
                  <a:ea typeface="Microsoft YaHei"/>
                  <a:cs typeface="Microsoft YaHei"/>
                </a:rPr>
                <a:t>界面运动</a:t>
              </a:r>
            </a:p>
          </p:txBody>
        </p:sp>
        <p:sp>
          <p:nvSpPr>
            <p:cNvPr id="35" name="TextBox 35"/>
            <p:cNvSpPr txBox="1"/>
            <p:nvPr/>
          </p:nvSpPr>
          <p:spPr>
            <a:xfrm>
              <a:off x="6431661" y="3013075"/>
              <a:ext cx="1438085" cy="278702"/>
            </a:xfrm>
            <a:prstGeom prst="rect">
              <a:avLst/>
            </a:prstGeom>
            <a:noFill/>
            <a:ln>
              <a:noFill/>
            </a:ln>
          </p:spPr>
          <p:txBody>
            <a:bodyPr wrap="none" lIns="0" tIns="0" rIns="0" bIns="0" anchor="t" anchorCtr="0">
              <a:spAutoFit/>
            </a:bodyPr>
            <a:lstStyle/>
            <a:p>
              <a:pPr algn="l"/>
              <a:r>
                <a:rPr lang="zh-CN" sz="1420" dirty="0">
                  <a:solidFill>
                    <a:srgbClr val="29343A"/>
                  </a:solidFill>
                  <a:latin typeface="Microsoft YaHei"/>
                  <a:ea typeface="Microsoft YaHei"/>
                  <a:cs typeface="Microsoft YaHei"/>
                </a:rPr>
                <a:t>摩擦与局部滑移</a:t>
              </a:r>
            </a:p>
          </p:txBody>
        </p:sp>
      </p:grpSp>
      <p:grpSp>
        <p:nvGrpSpPr>
          <p:cNvPr id="41" name="impact-controls"/>
          <p:cNvGrpSpPr/>
          <p:nvPr/>
        </p:nvGrpSpPr>
        <p:grpSpPr>
          <a:xfrm>
            <a:off x="381000" y="3438525"/>
            <a:ext cx="8382000" cy="820420"/>
            <a:chOff x="381000" y="3438525"/>
            <a:chExt cx="8382000" cy="820420"/>
          </a:xfrm>
        </p:grpSpPr>
        <p:sp>
          <p:nvSpPr>
            <p:cNvPr id="37" name="Line 37"/>
            <p:cNvSpPr/>
            <p:nvPr/>
          </p:nvSpPr>
          <p:spPr>
            <a:xfrm>
              <a:off x="381000" y="3438525"/>
              <a:ext cx="8382000" cy="9525"/>
            </a:xfrm>
            <a:custGeom>
              <a:avLst/>
              <a:gdLst/>
              <a:ahLst/>
              <a:cxnLst/>
              <a:rect l="l" t="t" r="r" b="b"/>
              <a:pathLst>
                <a:path w="8382000" h="9525">
                  <a:moveTo>
                    <a:pt x="0" y="0"/>
                  </a:moveTo>
                  <a:lnTo>
                    <a:pt x="8382000" y="0"/>
                  </a:lnTo>
                </a:path>
              </a:pathLst>
            </a:custGeom>
            <a:noFill/>
            <a:ln w="9525">
              <a:solidFill>
                <a:srgbClr val="DADDDC"/>
              </a:solidFill>
            </a:ln>
          </p:spPr>
        </p:sp>
        <p:sp>
          <p:nvSpPr>
            <p:cNvPr id="38" name="TextBox 38"/>
            <p:cNvSpPr txBox="1"/>
            <p:nvPr/>
          </p:nvSpPr>
          <p:spPr>
            <a:xfrm>
              <a:off x="393954" y="3609975"/>
              <a:ext cx="902970" cy="234696"/>
            </a:xfrm>
            <a:prstGeom prst="rect">
              <a:avLst/>
            </a:prstGeom>
            <a:noFill/>
            <a:ln>
              <a:noFill/>
            </a:ln>
          </p:spPr>
          <p:txBody>
            <a:bodyPr wrap="none" lIns="0" tIns="0" rIns="0" bIns="0" anchor="t" anchorCtr="0">
              <a:spAutoFit/>
            </a:bodyPr>
            <a:lstStyle/>
            <a:p>
              <a:pPr algn="l"/>
              <a:r>
                <a:rPr lang="zh-CN" sz="1200" b="1" dirty="0">
                  <a:solidFill>
                    <a:srgbClr val="246D73"/>
                  </a:solidFill>
                  <a:latin typeface="Microsoft YaHei"/>
                  <a:ea typeface="Microsoft YaHei"/>
                  <a:cs typeface="Microsoft YaHei"/>
                </a:rPr>
                <a:t>试验可比性</a:t>
              </a:r>
            </a:p>
          </p:txBody>
        </p:sp>
        <p:sp>
          <p:nvSpPr>
            <p:cNvPr id="39" name="TextBox 39"/>
            <p:cNvSpPr txBox="1"/>
            <p:nvPr/>
          </p:nvSpPr>
          <p:spPr>
            <a:xfrm>
              <a:off x="1782699" y="3571875"/>
              <a:ext cx="3911727" cy="308991"/>
            </a:xfrm>
            <a:prstGeom prst="rect">
              <a:avLst/>
            </a:prstGeom>
            <a:noFill/>
            <a:ln>
              <a:noFill/>
            </a:ln>
          </p:spPr>
          <p:txBody>
            <a:bodyPr wrap="none" lIns="0" tIns="0" rIns="0" bIns="0" anchor="t" anchorCtr="0">
              <a:spAutoFit/>
            </a:bodyPr>
            <a:lstStyle/>
            <a:p>
              <a:pPr algn="l"/>
              <a:r>
                <a:rPr lang="zh-CN" sz="1580" dirty="0">
                  <a:solidFill>
                    <a:srgbClr val="29343A"/>
                  </a:solidFill>
                  <a:latin typeface="Microsoft YaHei"/>
                  <a:ea typeface="Microsoft YaHei"/>
                  <a:cs typeface="Microsoft YaHei"/>
                </a:rPr>
                <a:t>统一入射能量、面密度、厚度与边界条件</a:t>
              </a:r>
            </a:p>
          </p:txBody>
        </p:sp>
        <p:sp>
          <p:nvSpPr>
            <p:cNvPr id="40" name="TextBox 40"/>
            <p:cNvSpPr txBox="1"/>
            <p:nvPr/>
          </p:nvSpPr>
          <p:spPr>
            <a:xfrm>
              <a:off x="392430" y="3965575"/>
              <a:ext cx="4739640" cy="293370"/>
            </a:xfrm>
            <a:prstGeom prst="rect">
              <a:avLst/>
            </a:prstGeom>
            <a:noFill/>
            <a:ln>
              <a:noFill/>
            </a:ln>
          </p:spPr>
          <p:txBody>
            <a:bodyPr wrap="none" lIns="0" tIns="0" rIns="0" bIns="0" anchor="t" anchorCtr="0">
              <a:spAutoFit/>
            </a:bodyPr>
            <a:lstStyle/>
            <a:p>
              <a:pPr algn="l"/>
              <a:r>
                <a:rPr lang="zh-CN" sz="1500" b="1" dirty="0">
                  <a:solidFill>
                    <a:srgbClr val="29343A"/>
                  </a:solidFill>
                  <a:latin typeface="Microsoft YaHei"/>
                  <a:ea typeface="Microsoft YaHei"/>
                  <a:cs typeface="Microsoft YaHei"/>
                </a:rPr>
                <a:t>同步报告峰值力、位移、回弹与残余变形、损伤形貌</a:t>
              </a:r>
            </a:p>
          </p:txBody>
        </p:sp>
      </p:grpSp>
      <p:grpSp>
        <p:nvGrpSpPr>
          <p:cNvPr id="45" name="takeaway"/>
          <p:cNvGrpSpPr/>
          <p:nvPr/>
        </p:nvGrpSpPr>
        <p:grpSpPr>
          <a:xfrm>
            <a:off x="361950" y="4419600"/>
            <a:ext cx="8420100" cy="361950"/>
            <a:chOff x="361950" y="4419600"/>
            <a:chExt cx="8420100" cy="361950"/>
          </a:xfrm>
        </p:grpSpPr>
        <p:sp>
          <p:nvSpPr>
            <p:cNvPr id="42" name="Rectangle 42"/>
            <p:cNvSpPr/>
            <p:nvPr/>
          </p:nvSpPr>
          <p:spPr>
            <a:xfrm>
              <a:off x="361950" y="4419600"/>
              <a:ext cx="8420100" cy="361950"/>
            </a:xfrm>
            <a:prstGeom prst="rect">
              <a:avLst/>
            </a:prstGeom>
            <a:solidFill>
              <a:srgbClr val="F6F2EE"/>
            </a:solidFill>
            <a:ln>
              <a:noFill/>
            </a:ln>
          </p:spPr>
        </p:sp>
        <p:sp>
          <p:nvSpPr>
            <p:cNvPr id="43" name="Rectangle 43"/>
            <p:cNvSpPr/>
            <p:nvPr/>
          </p:nvSpPr>
          <p:spPr>
            <a:xfrm>
              <a:off x="361950" y="4419600"/>
              <a:ext cx="38100" cy="361950"/>
            </a:xfrm>
            <a:prstGeom prst="rect">
              <a:avLst/>
            </a:prstGeom>
            <a:solidFill>
              <a:srgbClr val="9E423D"/>
            </a:solidFill>
            <a:ln>
              <a:noFill/>
            </a:ln>
          </p:spPr>
        </p:sp>
        <p:sp>
          <p:nvSpPr>
            <p:cNvPr id="44" name="TextBox 44"/>
            <p:cNvSpPr txBox="1"/>
            <p:nvPr/>
          </p:nvSpPr>
          <p:spPr>
            <a:xfrm>
              <a:off x="497967" y="4492625"/>
              <a:ext cx="5183886" cy="264033"/>
            </a:xfrm>
            <a:prstGeom prst="rect">
              <a:avLst/>
            </a:prstGeom>
            <a:noFill/>
            <a:ln>
              <a:noFill/>
            </a:ln>
          </p:spPr>
          <p:txBody>
            <a:bodyPr wrap="none" lIns="0" tIns="0" rIns="0" bIns="0" anchor="t" anchorCtr="0">
              <a:spAutoFit/>
            </a:bodyPr>
            <a:lstStyle/>
            <a:p>
              <a:pPr algn="l"/>
              <a:r>
                <a:rPr lang="zh-CN" sz="1350" b="1" dirty="0">
                  <a:solidFill>
                    <a:srgbClr val="9E423D"/>
                  </a:solidFill>
                  <a:latin typeface="Microsoft YaHei"/>
                  <a:ea typeface="Microsoft YaHei"/>
                  <a:cs typeface="Microsoft YaHei"/>
                </a:rPr>
                <a:t>用完整能量收支与损伤证据解释吸能，而不是只比较一个峰值。</a:t>
              </a:r>
            </a:p>
          </p:txBody>
        </p:sp>
      </p:grpSp>
    </p:spTree>
  </p:cSld>
  <p:clrMapOvr>
    <a:masterClrMapping/>
  </p:clrMapOvr>
  <p:transition advClick="1"/>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 name="矩形 8"/>
          <p:cNvSpPr/>
          <p:nvPr/>
        </p:nvSpPr>
        <p:spPr>
          <a:xfrm>
            <a:off x="-10066" y="597600"/>
            <a:ext cx="9154065" cy="72000"/>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0" y="-7934"/>
            <a:ext cx="9144000" cy="556614"/>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p:cNvPicPr>
            <a:picLocks noChangeAspect="1"/>
          </p:cNvPicPr>
          <p:nvPr>
            <p:custDataLst>
              <p:tags r:id="rId1"/>
            </p:custDataLst>
          </p:nvPr>
        </p:nvPicPr>
        <p:blipFill>
          <a:blip r:embed="rId4"/>
          <a:srcRect l="1701" t="2985" r="4812" b="1949"/>
          <a:stretch>
            <a:fillRect/>
          </a:stretch>
        </p:blipFill>
        <p:spPr>
          <a:xfrm>
            <a:off x="135376" y="17739"/>
            <a:ext cx="509847" cy="514223"/>
          </a:xfrm>
          <a:prstGeom prst="ellipse">
            <a:avLst/>
          </a:prstGeom>
        </p:spPr>
      </p:pic>
      <p:grpSp>
        <p:nvGrpSpPr>
          <p:cNvPr id="6" name="page-title"/>
          <p:cNvGrpSpPr/>
          <p:nvPr/>
        </p:nvGrpSpPr>
        <p:grpSpPr>
          <a:xfrm>
            <a:off x="789813" y="120650"/>
            <a:ext cx="3283763" cy="396050"/>
            <a:chOff x="789813" y="120650"/>
            <a:chExt cx="3283763" cy="396050"/>
          </a:xfrm>
        </p:grpSpPr>
        <p:sp>
          <p:nvSpPr>
            <p:cNvPr id="5" name="TextBox 5"/>
            <p:cNvSpPr txBox="1"/>
            <p:nvPr/>
          </p:nvSpPr>
          <p:spPr>
            <a:xfrm>
              <a:off x="789813" y="120650"/>
              <a:ext cx="3366516" cy="396050"/>
            </a:xfrm>
            <a:prstGeom prst="rect">
              <a:avLst/>
            </a:prstGeom>
            <a:noFill/>
            <a:ln>
              <a:noFill/>
            </a:ln>
          </p:spPr>
          <p:txBody>
            <a:bodyPr wrap="none" lIns="0" tIns="0" rIns="0" bIns="0" anchor="t" anchorCtr="0">
              <a:spAutoFit/>
            </a:bodyPr>
            <a:lstStyle/>
            <a:p>
              <a:pPr algn="l"/>
              <a:r>
                <a:rPr lang="zh-CN" sz="2020" b="1" dirty="0">
                  <a:solidFill>
                    <a:srgbClr val="FFFFFF"/>
                  </a:solidFill>
                  <a:latin typeface="Microsoft YaHei"/>
                  <a:ea typeface="Microsoft YaHei"/>
                  <a:cs typeface="Microsoft YaHei"/>
                </a:rPr>
                <a:t>重复冲击与环境服役稳定性</a:t>
              </a:r>
            </a:p>
          </p:txBody>
        </p:sp>
      </p:grpSp>
      <p:grpSp>
        <p:nvGrpSpPr>
          <p:cNvPr id="12" name="page-footer"/>
          <p:cNvGrpSpPr/>
          <p:nvPr/>
        </p:nvGrpSpPr>
        <p:grpSpPr>
          <a:xfrm>
            <a:off x="366712" y="4905375"/>
            <a:ext cx="8405813" cy="233362"/>
            <a:chOff x="366712" y="4905375"/>
            <a:chExt cx="8405813" cy="233362"/>
          </a:xfrm>
        </p:grpSpPr>
        <p:sp>
          <p:nvSpPr>
            <p:cNvPr id="7" name="Line 7"/>
            <p:cNvSpPr/>
            <p:nvPr/>
          </p:nvSpPr>
          <p:spPr>
            <a:xfrm>
              <a:off x="371475" y="4905375"/>
              <a:ext cx="8401050" cy="9525"/>
            </a:xfrm>
            <a:custGeom>
              <a:avLst/>
              <a:gdLst/>
              <a:ahLst/>
              <a:cxnLst/>
              <a:rect l="l" t="t" r="r" b="b"/>
              <a:pathLst>
                <a:path w="8401050" h="9525">
                  <a:moveTo>
                    <a:pt x="0" y="0"/>
                  </a:moveTo>
                  <a:lnTo>
                    <a:pt x="8401050" y="0"/>
                  </a:lnTo>
                </a:path>
              </a:pathLst>
            </a:custGeom>
            <a:noFill/>
            <a:ln w="9525">
              <a:solidFill>
                <a:srgbClr val="DADDDC"/>
              </a:solidFill>
            </a:ln>
          </p:spPr>
        </p:sp>
        <p:sp>
          <p:nvSpPr>
            <p:cNvPr id="8" name="TextBox 8"/>
            <p:cNvSpPr txBox="1"/>
            <p:nvPr/>
          </p:nvSpPr>
          <p:spPr>
            <a:xfrm>
              <a:off x="366712" y="4962525"/>
              <a:ext cx="1893216"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芳纶柔性复合材料 / 纺织学生论坛</a:t>
              </a:r>
            </a:p>
          </p:txBody>
        </p:sp>
        <p:sp>
          <p:nvSpPr>
            <p:cNvPr id="10" name="TextBox 10"/>
            <p:cNvSpPr txBox="1"/>
            <p:nvPr/>
          </p:nvSpPr>
          <p:spPr>
            <a:xfrm>
              <a:off x="6519862" y="4962525"/>
              <a:ext cx="1065579"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研究一 · 服役验证</a:t>
              </a:r>
            </a:p>
          </p:txBody>
        </p:sp>
        <p:sp>
          <p:nvSpPr>
            <p:cNvPr id="11" name="TextBox 11"/>
            <p:cNvSpPr txBox="1"/>
            <p:nvPr/>
          </p:nvSpPr>
          <p:spPr>
            <a:xfrm>
              <a:off x="8301781" y="4962525"/>
              <a:ext cx="465981" cy="176212"/>
            </a:xfrm>
            <a:prstGeom prst="rect">
              <a:avLst/>
            </a:prstGeom>
            <a:noFill/>
            <a:ln>
              <a:noFill/>
            </a:ln>
          </p:spPr>
          <p:txBody>
            <a:bodyPr wrap="none" lIns="0" tIns="0" rIns="0" bIns="0" anchor="t" anchorCtr="0">
              <a:spAutoFit/>
            </a:bodyPr>
            <a:lstStyle/>
            <a:p>
              <a:pPr algn="r"/>
              <a:r>
                <a:rPr lang="zh-CN" sz="900" dirty="0">
                  <a:solidFill>
                    <a:srgbClr val="69747A"/>
                  </a:solidFill>
                  <a:latin typeface="Microsoft YaHei"/>
                  <a:ea typeface="Microsoft YaHei"/>
                  <a:cs typeface="Microsoft YaHei"/>
                </a:rPr>
                <a:t>09 / 14</a:t>
              </a:r>
            </a:p>
          </p:txBody>
        </p:sp>
      </p:grpSp>
      <p:grpSp>
        <p:nvGrpSpPr>
          <p:cNvPr id="17" name="context"/>
          <p:cNvGrpSpPr/>
          <p:nvPr/>
        </p:nvGrpSpPr>
        <p:grpSpPr>
          <a:xfrm>
            <a:off x="364998" y="771525"/>
            <a:ext cx="8417052" cy="278892"/>
            <a:chOff x="364998" y="771525"/>
            <a:chExt cx="8417052" cy="278892"/>
          </a:xfrm>
        </p:grpSpPr>
        <p:sp>
          <p:nvSpPr>
            <p:cNvPr id="14" name="TextBox 14"/>
            <p:cNvSpPr txBox="1"/>
            <p:nvPr/>
          </p:nvSpPr>
          <p:spPr>
            <a:xfrm>
              <a:off x="364998" y="800100"/>
              <a:ext cx="3184779" cy="250317"/>
            </a:xfrm>
            <a:prstGeom prst="rect">
              <a:avLst/>
            </a:prstGeom>
            <a:noFill/>
            <a:ln>
              <a:noFill/>
            </a:ln>
          </p:spPr>
          <p:txBody>
            <a:bodyPr wrap="none" lIns="0" tIns="0" rIns="0" bIns="0" anchor="t" anchorCtr="0">
              <a:spAutoFit/>
            </a:bodyPr>
            <a:lstStyle/>
            <a:p>
              <a:pPr algn="l"/>
              <a:r>
                <a:rPr lang="zh-CN" sz="1280" dirty="0">
                  <a:solidFill>
                    <a:srgbClr val="69747A"/>
                  </a:solidFill>
                  <a:latin typeface="Microsoft YaHei"/>
                  <a:ea typeface="Microsoft YaHei"/>
                  <a:cs typeface="Microsoft YaHei"/>
                </a:rPr>
                <a:t>关注重复冲击与环境处理后的防护稳定性</a:t>
              </a:r>
            </a:p>
          </p:txBody>
        </p:sp>
        <p:sp>
          <p:nvSpPr>
            <p:cNvPr id="15" name="Rectangle 15"/>
            <p:cNvSpPr/>
            <p:nvPr/>
          </p:nvSpPr>
          <p:spPr>
            <a:xfrm>
              <a:off x="7715250" y="771525"/>
              <a:ext cx="1066800" cy="247650"/>
            </a:xfrm>
            <a:prstGeom prst="roundRect">
              <a:avLst>
                <a:gd name="adj" fmla="val 15385"/>
              </a:avLst>
            </a:prstGeom>
            <a:solidFill>
              <a:srgbClr val="F6F2EE"/>
            </a:solidFill>
            <a:ln>
              <a:noFill/>
            </a:ln>
          </p:spPr>
        </p:sp>
        <p:sp>
          <p:nvSpPr>
            <p:cNvPr id="16" name="TextBox 16"/>
            <p:cNvSpPr txBox="1"/>
            <p:nvPr/>
          </p:nvSpPr>
          <p:spPr>
            <a:xfrm>
              <a:off x="8193214" y="828675"/>
              <a:ext cx="489014" cy="191643"/>
            </a:xfrm>
            <a:prstGeom prst="rect">
              <a:avLst/>
            </a:prstGeom>
            <a:noFill/>
            <a:ln>
              <a:noFill/>
            </a:ln>
          </p:spPr>
          <p:txBody>
            <a:bodyPr wrap="none" lIns="0" tIns="0" rIns="0" bIns="0" anchor="t" anchorCtr="0">
              <a:spAutoFit/>
            </a:bodyPr>
            <a:lstStyle/>
            <a:p>
              <a:pPr algn="r"/>
              <a:r>
                <a:rPr lang="zh-CN" sz="980" b="1" dirty="0">
                  <a:solidFill>
                    <a:srgbClr val="9E423D"/>
                  </a:solidFill>
                  <a:latin typeface="Microsoft YaHei"/>
                  <a:ea typeface="Microsoft YaHei"/>
                  <a:cs typeface="Microsoft YaHei"/>
                </a:rPr>
                <a:t>待验证</a:t>
              </a:r>
            </a:p>
          </p:txBody>
        </p:sp>
      </p:grpSp>
      <p:grpSp>
        <p:nvGrpSpPr>
          <p:cNvPr id="37" name="durability-matrix"/>
          <p:cNvGrpSpPr/>
          <p:nvPr/>
        </p:nvGrpSpPr>
        <p:grpSpPr>
          <a:xfrm>
            <a:off x="381000" y="1285875"/>
            <a:ext cx="8391525" cy="2400300"/>
            <a:chOff x="381000" y="1285875"/>
            <a:chExt cx="8391525" cy="2400300"/>
          </a:xfrm>
        </p:grpSpPr>
        <p:sp>
          <p:nvSpPr>
            <p:cNvPr id="19" name="Rectangle 19"/>
            <p:cNvSpPr/>
            <p:nvPr/>
          </p:nvSpPr>
          <p:spPr>
            <a:xfrm>
              <a:off x="381000" y="1285875"/>
              <a:ext cx="8391525" cy="419100"/>
            </a:xfrm>
            <a:prstGeom prst="rect">
              <a:avLst/>
            </a:prstGeom>
            <a:solidFill>
              <a:srgbClr val="9E423D"/>
            </a:solidFill>
            <a:ln>
              <a:noFill/>
            </a:ln>
          </p:spPr>
        </p:sp>
        <p:sp>
          <p:nvSpPr>
            <p:cNvPr id="20" name="TextBox 20"/>
            <p:cNvSpPr txBox="1"/>
            <p:nvPr/>
          </p:nvSpPr>
          <p:spPr>
            <a:xfrm>
              <a:off x="535305" y="1384300"/>
              <a:ext cx="90297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icrosoft YaHei"/>
                  <a:ea typeface="Microsoft YaHei"/>
                  <a:cs typeface="Microsoft YaHei"/>
                </a:rPr>
                <a:t>工况维度</a:t>
              </a:r>
            </a:p>
          </p:txBody>
        </p:sp>
        <p:sp>
          <p:nvSpPr>
            <p:cNvPr id="21" name="TextBox 21"/>
            <p:cNvSpPr txBox="1"/>
            <p:nvPr/>
          </p:nvSpPr>
          <p:spPr>
            <a:xfrm>
              <a:off x="2659380" y="1384300"/>
              <a:ext cx="90297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icrosoft YaHei"/>
                  <a:ea typeface="Microsoft YaHei"/>
                  <a:cs typeface="Microsoft YaHei"/>
                </a:rPr>
                <a:t>控制变量</a:t>
              </a:r>
            </a:p>
          </p:txBody>
        </p:sp>
        <p:sp>
          <p:nvSpPr>
            <p:cNvPr id="22" name="TextBox 22"/>
            <p:cNvSpPr txBox="1"/>
            <p:nvPr/>
          </p:nvSpPr>
          <p:spPr>
            <a:xfrm>
              <a:off x="5764530" y="1384300"/>
              <a:ext cx="90297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icrosoft YaHei"/>
                  <a:ea typeface="Microsoft YaHei"/>
                  <a:cs typeface="Microsoft YaHei"/>
                </a:rPr>
                <a:t>观察指标</a:t>
              </a:r>
            </a:p>
          </p:txBody>
        </p:sp>
        <p:sp>
          <p:nvSpPr>
            <p:cNvPr id="23" name="Rectangle 23"/>
            <p:cNvSpPr/>
            <p:nvPr/>
          </p:nvSpPr>
          <p:spPr>
            <a:xfrm>
              <a:off x="381000" y="1704975"/>
              <a:ext cx="8391525" cy="657225"/>
            </a:xfrm>
            <a:prstGeom prst="rect">
              <a:avLst/>
            </a:prstGeom>
            <a:solidFill>
              <a:srgbClr val="F6F2EE"/>
            </a:solidFill>
            <a:ln>
              <a:noFill/>
            </a:ln>
          </p:spPr>
        </p:sp>
        <p:sp>
          <p:nvSpPr>
            <p:cNvPr id="24" name="TextBox 24"/>
            <p:cNvSpPr txBox="1"/>
            <p:nvPr/>
          </p:nvSpPr>
          <p:spPr>
            <a:xfrm>
              <a:off x="536067" y="1930400"/>
              <a:ext cx="822198" cy="264033"/>
            </a:xfrm>
            <a:prstGeom prst="rect">
              <a:avLst/>
            </a:prstGeom>
            <a:noFill/>
            <a:ln>
              <a:noFill/>
            </a:ln>
          </p:spPr>
          <p:txBody>
            <a:bodyPr wrap="none" lIns="0" tIns="0" rIns="0" bIns="0" anchor="t" anchorCtr="0">
              <a:spAutoFit/>
            </a:bodyPr>
            <a:lstStyle/>
            <a:p>
              <a:pPr algn="l"/>
              <a:r>
                <a:rPr lang="zh-CN" sz="1350" b="1" dirty="0">
                  <a:solidFill>
                    <a:srgbClr val="29343A"/>
                  </a:solidFill>
                  <a:latin typeface="Microsoft YaHei"/>
                  <a:ea typeface="Microsoft YaHei"/>
                  <a:cs typeface="Microsoft YaHei"/>
                </a:rPr>
                <a:t>重复冲击</a:t>
              </a:r>
            </a:p>
          </p:txBody>
        </p:sp>
        <p:sp>
          <p:nvSpPr>
            <p:cNvPr id="25" name="TextBox 25"/>
            <p:cNvSpPr txBox="1"/>
            <p:nvPr/>
          </p:nvSpPr>
          <p:spPr>
            <a:xfrm>
              <a:off x="2660142" y="1930400"/>
              <a:ext cx="2065251" cy="264033"/>
            </a:xfrm>
            <a:prstGeom prst="rect">
              <a:avLst/>
            </a:prstGeom>
            <a:noFill/>
            <a:ln>
              <a:noFill/>
            </a:ln>
          </p:spPr>
          <p:txBody>
            <a:bodyPr wrap="none" lIns="0" tIns="0" rIns="0" bIns="0" anchor="t" anchorCtr="0">
              <a:spAutoFit/>
            </a:bodyPr>
            <a:lstStyle/>
            <a:p>
              <a:pPr algn="l"/>
              <a:r>
                <a:rPr lang="zh-CN" sz="1350" dirty="0">
                  <a:solidFill>
                    <a:srgbClr val="29343A"/>
                  </a:solidFill>
                  <a:latin typeface="Microsoft YaHei"/>
                  <a:ea typeface="Microsoft YaHei"/>
                  <a:cs typeface="Microsoft YaHei"/>
                </a:rPr>
                <a:t>次数、间隔、同点 / 异点</a:t>
              </a:r>
            </a:p>
          </p:txBody>
        </p:sp>
        <p:sp>
          <p:nvSpPr>
            <p:cNvPr id="26" name="TextBox 26"/>
            <p:cNvSpPr txBox="1"/>
            <p:nvPr/>
          </p:nvSpPr>
          <p:spPr>
            <a:xfrm>
              <a:off x="5765292" y="1930400"/>
              <a:ext cx="1730883" cy="264033"/>
            </a:xfrm>
            <a:prstGeom prst="rect">
              <a:avLst/>
            </a:prstGeom>
            <a:noFill/>
            <a:ln>
              <a:noFill/>
            </a:ln>
          </p:spPr>
          <p:txBody>
            <a:bodyPr wrap="none" lIns="0" tIns="0" rIns="0" bIns="0" anchor="t" anchorCtr="0">
              <a:spAutoFit/>
            </a:bodyPr>
            <a:lstStyle/>
            <a:p>
              <a:pPr algn="l"/>
              <a:r>
                <a:rPr lang="zh-CN" sz="1350" dirty="0">
                  <a:solidFill>
                    <a:srgbClr val="29343A"/>
                  </a:solidFill>
                  <a:latin typeface="Microsoft YaHei"/>
                  <a:ea typeface="Microsoft YaHei"/>
                  <a:cs typeface="Microsoft YaHei"/>
                </a:rPr>
                <a:t>耗散变化、损伤扩展</a:t>
              </a:r>
            </a:p>
          </p:txBody>
        </p:sp>
        <p:sp>
          <p:nvSpPr>
            <p:cNvPr id="27" name="Line 27"/>
            <p:cNvSpPr/>
            <p:nvPr/>
          </p:nvSpPr>
          <p:spPr>
            <a:xfrm>
              <a:off x="381000" y="2362200"/>
              <a:ext cx="8391525" cy="9525"/>
            </a:xfrm>
            <a:custGeom>
              <a:avLst/>
              <a:gdLst/>
              <a:ahLst/>
              <a:cxnLst/>
              <a:rect l="l" t="t" r="r" b="b"/>
              <a:pathLst>
                <a:path w="8391525" h="9525">
                  <a:moveTo>
                    <a:pt x="0" y="0"/>
                  </a:moveTo>
                  <a:lnTo>
                    <a:pt x="8391525" y="0"/>
                  </a:lnTo>
                </a:path>
              </a:pathLst>
            </a:custGeom>
            <a:noFill/>
            <a:ln w="9525">
              <a:solidFill>
                <a:srgbClr val="DADDDC"/>
              </a:solidFill>
            </a:ln>
          </p:spPr>
        </p:sp>
        <p:sp>
          <p:nvSpPr>
            <p:cNvPr id="28" name="TextBox 28"/>
            <p:cNvSpPr txBox="1"/>
            <p:nvPr/>
          </p:nvSpPr>
          <p:spPr>
            <a:xfrm>
              <a:off x="536067" y="2587625"/>
              <a:ext cx="1003935" cy="264033"/>
            </a:xfrm>
            <a:prstGeom prst="rect">
              <a:avLst/>
            </a:prstGeom>
            <a:noFill/>
            <a:ln>
              <a:noFill/>
            </a:ln>
          </p:spPr>
          <p:txBody>
            <a:bodyPr wrap="none" lIns="0" tIns="0" rIns="0" bIns="0" anchor="t" anchorCtr="0">
              <a:spAutoFit/>
            </a:bodyPr>
            <a:lstStyle/>
            <a:p>
              <a:pPr algn="l"/>
              <a:r>
                <a:rPr lang="zh-CN" sz="1350" b="1" dirty="0">
                  <a:solidFill>
                    <a:srgbClr val="29343A"/>
                  </a:solidFill>
                  <a:latin typeface="Microsoft YaHei"/>
                  <a:ea typeface="Microsoft YaHei"/>
                  <a:cs typeface="Microsoft YaHei"/>
                </a:rPr>
                <a:t>温湿度处理</a:t>
              </a:r>
            </a:p>
          </p:txBody>
        </p:sp>
        <p:sp>
          <p:nvSpPr>
            <p:cNvPr id="29" name="TextBox 29"/>
            <p:cNvSpPr txBox="1"/>
            <p:nvPr/>
          </p:nvSpPr>
          <p:spPr>
            <a:xfrm>
              <a:off x="2660142" y="2587625"/>
              <a:ext cx="2276094" cy="264033"/>
            </a:xfrm>
            <a:prstGeom prst="rect">
              <a:avLst/>
            </a:prstGeom>
            <a:noFill/>
            <a:ln>
              <a:noFill/>
            </a:ln>
          </p:spPr>
          <p:txBody>
            <a:bodyPr wrap="none" lIns="0" tIns="0" rIns="0" bIns="0" anchor="t" anchorCtr="0">
              <a:spAutoFit/>
            </a:bodyPr>
            <a:lstStyle/>
            <a:p>
              <a:pPr algn="l"/>
              <a:r>
                <a:rPr lang="zh-CN" sz="1350" dirty="0">
                  <a:solidFill>
                    <a:srgbClr val="29343A"/>
                  </a:solidFill>
                  <a:latin typeface="Microsoft YaHei"/>
                  <a:ea typeface="Microsoft YaHei"/>
                  <a:cs typeface="Microsoft YaHei"/>
                </a:rPr>
                <a:t>处理条件、时间、恢复状态</a:t>
              </a:r>
            </a:p>
          </p:txBody>
        </p:sp>
        <p:sp>
          <p:nvSpPr>
            <p:cNvPr id="30" name="TextBox 30"/>
            <p:cNvSpPr txBox="1"/>
            <p:nvPr/>
          </p:nvSpPr>
          <p:spPr>
            <a:xfrm>
              <a:off x="5765292" y="2587625"/>
              <a:ext cx="1730883" cy="264033"/>
            </a:xfrm>
            <a:prstGeom prst="rect">
              <a:avLst/>
            </a:prstGeom>
            <a:noFill/>
            <a:ln>
              <a:noFill/>
            </a:ln>
          </p:spPr>
          <p:txBody>
            <a:bodyPr wrap="none" lIns="0" tIns="0" rIns="0" bIns="0" anchor="t" anchorCtr="0">
              <a:spAutoFit/>
            </a:bodyPr>
            <a:lstStyle/>
            <a:p>
              <a:pPr algn="l"/>
              <a:r>
                <a:rPr lang="zh-CN" sz="1350" dirty="0">
                  <a:solidFill>
                    <a:srgbClr val="29343A"/>
                  </a:solidFill>
                  <a:latin typeface="Microsoft YaHei"/>
                  <a:ea typeface="Microsoft YaHei"/>
                  <a:cs typeface="Microsoft YaHei"/>
                </a:rPr>
                <a:t>形变与防护表现变化</a:t>
              </a:r>
            </a:p>
          </p:txBody>
        </p:sp>
        <p:sp>
          <p:nvSpPr>
            <p:cNvPr id="31" name="Line 31"/>
            <p:cNvSpPr/>
            <p:nvPr/>
          </p:nvSpPr>
          <p:spPr>
            <a:xfrm>
              <a:off x="381000" y="3019425"/>
              <a:ext cx="8391525" cy="9525"/>
            </a:xfrm>
            <a:custGeom>
              <a:avLst/>
              <a:gdLst/>
              <a:ahLst/>
              <a:cxnLst/>
              <a:rect l="l" t="t" r="r" b="b"/>
              <a:pathLst>
                <a:path w="8391525" h="9525">
                  <a:moveTo>
                    <a:pt x="0" y="0"/>
                  </a:moveTo>
                  <a:lnTo>
                    <a:pt x="8391525" y="0"/>
                  </a:lnTo>
                </a:path>
              </a:pathLst>
            </a:custGeom>
            <a:noFill/>
            <a:ln w="9525">
              <a:solidFill>
                <a:srgbClr val="DADDDC"/>
              </a:solidFill>
            </a:ln>
          </p:spPr>
        </p:sp>
        <p:sp>
          <p:nvSpPr>
            <p:cNvPr id="32" name="Rectangle 32"/>
            <p:cNvSpPr/>
            <p:nvPr/>
          </p:nvSpPr>
          <p:spPr>
            <a:xfrm>
              <a:off x="381000" y="3019425"/>
              <a:ext cx="8391525" cy="657225"/>
            </a:xfrm>
            <a:prstGeom prst="rect">
              <a:avLst/>
            </a:prstGeom>
            <a:solidFill>
              <a:srgbClr val="F6F2EE"/>
            </a:solidFill>
            <a:ln>
              <a:noFill/>
            </a:ln>
          </p:spPr>
        </p:sp>
        <p:sp>
          <p:nvSpPr>
            <p:cNvPr id="33" name="TextBox 33"/>
            <p:cNvSpPr txBox="1"/>
            <p:nvPr/>
          </p:nvSpPr>
          <p:spPr>
            <a:xfrm>
              <a:off x="536067" y="3244850"/>
              <a:ext cx="1338500" cy="264033"/>
            </a:xfrm>
            <a:prstGeom prst="rect">
              <a:avLst/>
            </a:prstGeom>
            <a:noFill/>
            <a:ln>
              <a:noFill/>
            </a:ln>
          </p:spPr>
          <p:txBody>
            <a:bodyPr wrap="none" lIns="0" tIns="0" rIns="0" bIns="0" anchor="t" anchorCtr="0">
              <a:spAutoFit/>
            </a:bodyPr>
            <a:lstStyle/>
            <a:p>
              <a:pPr algn="l"/>
              <a:r>
                <a:rPr lang="zh-CN" sz="1350" b="1" dirty="0">
                  <a:solidFill>
                    <a:srgbClr val="29343A"/>
                  </a:solidFill>
                  <a:latin typeface="Microsoft YaHei"/>
                  <a:ea typeface="Microsoft YaHei"/>
                  <a:cs typeface="Microsoft YaHei"/>
                </a:rPr>
                <a:t>循环弯折 / 老化</a:t>
              </a:r>
            </a:p>
          </p:txBody>
        </p:sp>
        <p:sp>
          <p:nvSpPr>
            <p:cNvPr id="34" name="TextBox 34"/>
            <p:cNvSpPr txBox="1"/>
            <p:nvPr/>
          </p:nvSpPr>
          <p:spPr>
            <a:xfrm>
              <a:off x="2660142" y="3244850"/>
              <a:ext cx="1730883" cy="264033"/>
            </a:xfrm>
            <a:prstGeom prst="rect">
              <a:avLst/>
            </a:prstGeom>
            <a:noFill/>
            <a:ln>
              <a:noFill/>
            </a:ln>
          </p:spPr>
          <p:txBody>
            <a:bodyPr wrap="none" lIns="0" tIns="0" rIns="0" bIns="0" anchor="t" anchorCtr="0">
              <a:spAutoFit/>
            </a:bodyPr>
            <a:lstStyle/>
            <a:p>
              <a:pPr algn="l"/>
              <a:r>
                <a:rPr lang="zh-CN" sz="1350" dirty="0">
                  <a:solidFill>
                    <a:srgbClr val="29343A"/>
                  </a:solidFill>
                  <a:latin typeface="Microsoft YaHei"/>
                  <a:ea typeface="Microsoft YaHei"/>
                  <a:cs typeface="Microsoft YaHei"/>
                </a:rPr>
                <a:t>弯折条件、暴露过程</a:t>
              </a:r>
            </a:p>
          </p:txBody>
        </p:sp>
        <p:sp>
          <p:nvSpPr>
            <p:cNvPr id="35" name="TextBox 35"/>
            <p:cNvSpPr txBox="1"/>
            <p:nvPr/>
          </p:nvSpPr>
          <p:spPr>
            <a:xfrm>
              <a:off x="5765292" y="3244850"/>
              <a:ext cx="1912620" cy="264033"/>
            </a:xfrm>
            <a:prstGeom prst="rect">
              <a:avLst/>
            </a:prstGeom>
            <a:noFill/>
            <a:ln>
              <a:noFill/>
            </a:ln>
          </p:spPr>
          <p:txBody>
            <a:bodyPr wrap="none" lIns="0" tIns="0" rIns="0" bIns="0" anchor="t" anchorCtr="0">
              <a:spAutoFit/>
            </a:bodyPr>
            <a:lstStyle/>
            <a:p>
              <a:pPr algn="l"/>
              <a:r>
                <a:rPr lang="zh-CN" sz="1350" dirty="0">
                  <a:solidFill>
                    <a:srgbClr val="29343A"/>
                  </a:solidFill>
                  <a:latin typeface="Microsoft YaHei"/>
                  <a:ea typeface="Microsoft YaHei"/>
                  <a:cs typeface="Microsoft YaHei"/>
                </a:rPr>
                <a:t>界面完整性、涂层损伤</a:t>
              </a:r>
            </a:p>
          </p:txBody>
        </p:sp>
        <p:sp>
          <p:nvSpPr>
            <p:cNvPr id="36" name="Line 36"/>
            <p:cNvSpPr/>
            <p:nvPr/>
          </p:nvSpPr>
          <p:spPr>
            <a:xfrm>
              <a:off x="381000" y="3676650"/>
              <a:ext cx="8391525" cy="9525"/>
            </a:xfrm>
            <a:custGeom>
              <a:avLst/>
              <a:gdLst/>
              <a:ahLst/>
              <a:cxnLst/>
              <a:rect l="l" t="t" r="r" b="b"/>
              <a:pathLst>
                <a:path w="8391525" h="9525">
                  <a:moveTo>
                    <a:pt x="0" y="0"/>
                  </a:moveTo>
                  <a:lnTo>
                    <a:pt x="8391525" y="0"/>
                  </a:lnTo>
                </a:path>
              </a:pathLst>
            </a:custGeom>
            <a:noFill/>
            <a:ln w="9525">
              <a:solidFill>
                <a:srgbClr val="DADDDC"/>
              </a:solidFill>
            </a:ln>
          </p:spPr>
        </p:sp>
      </p:grpSp>
      <p:grpSp>
        <p:nvGrpSpPr>
          <p:cNvPr id="39" name="durability-rule"/>
          <p:cNvGrpSpPr/>
          <p:nvPr/>
        </p:nvGrpSpPr>
        <p:grpSpPr>
          <a:xfrm>
            <a:off x="392049" y="3895725"/>
            <a:ext cx="5366460" cy="308991"/>
            <a:chOff x="392049" y="3895725"/>
            <a:chExt cx="5366460" cy="308991"/>
          </a:xfrm>
        </p:grpSpPr>
        <p:sp>
          <p:nvSpPr>
            <p:cNvPr id="38" name="TextBox 38"/>
            <p:cNvSpPr txBox="1"/>
            <p:nvPr/>
          </p:nvSpPr>
          <p:spPr>
            <a:xfrm>
              <a:off x="392049" y="3895725"/>
              <a:ext cx="5427306" cy="308991"/>
            </a:xfrm>
            <a:prstGeom prst="rect">
              <a:avLst/>
            </a:prstGeom>
            <a:noFill/>
            <a:ln>
              <a:noFill/>
            </a:ln>
          </p:spPr>
          <p:txBody>
            <a:bodyPr wrap="none" lIns="0" tIns="0" rIns="0" bIns="0" anchor="t" anchorCtr="0">
              <a:spAutoFit/>
            </a:bodyPr>
            <a:lstStyle/>
            <a:p>
              <a:pPr algn="l"/>
              <a:r>
                <a:rPr lang="zh-CN" sz="1580" b="1" dirty="0">
                  <a:solidFill>
                    <a:srgbClr val="246D73"/>
                  </a:solidFill>
                  <a:latin typeface="Microsoft YaHei"/>
                  <a:ea typeface="Microsoft YaHei"/>
                  <a:cs typeface="Microsoft YaHei"/>
                </a:rPr>
                <a:t>必须设置未经处理对照；恢复现象不直接等于“自修复”。</a:t>
              </a:r>
            </a:p>
          </p:txBody>
        </p:sp>
      </p:grpSp>
      <p:grpSp>
        <p:nvGrpSpPr>
          <p:cNvPr id="43" name="takeaway"/>
          <p:cNvGrpSpPr/>
          <p:nvPr/>
        </p:nvGrpSpPr>
        <p:grpSpPr>
          <a:xfrm>
            <a:off x="361950" y="4419600"/>
            <a:ext cx="8420100" cy="361950"/>
            <a:chOff x="361950" y="4419600"/>
            <a:chExt cx="8420100" cy="361950"/>
          </a:xfrm>
        </p:grpSpPr>
        <p:sp>
          <p:nvSpPr>
            <p:cNvPr id="40" name="Rectangle 40"/>
            <p:cNvSpPr/>
            <p:nvPr/>
          </p:nvSpPr>
          <p:spPr>
            <a:xfrm>
              <a:off x="361950" y="4419600"/>
              <a:ext cx="8420100" cy="361950"/>
            </a:xfrm>
            <a:prstGeom prst="rect">
              <a:avLst/>
            </a:prstGeom>
            <a:solidFill>
              <a:srgbClr val="F6F2EE"/>
            </a:solidFill>
            <a:ln>
              <a:noFill/>
            </a:ln>
          </p:spPr>
        </p:sp>
        <p:sp>
          <p:nvSpPr>
            <p:cNvPr id="41" name="Rectangle 41"/>
            <p:cNvSpPr/>
            <p:nvPr/>
          </p:nvSpPr>
          <p:spPr>
            <a:xfrm>
              <a:off x="361950" y="4419600"/>
              <a:ext cx="38100" cy="361950"/>
            </a:xfrm>
            <a:prstGeom prst="rect">
              <a:avLst/>
            </a:prstGeom>
            <a:solidFill>
              <a:srgbClr val="9E423D"/>
            </a:solidFill>
            <a:ln>
              <a:noFill/>
            </a:ln>
          </p:spPr>
        </p:sp>
        <p:sp>
          <p:nvSpPr>
            <p:cNvPr id="42" name="TextBox 42"/>
            <p:cNvSpPr txBox="1"/>
            <p:nvPr/>
          </p:nvSpPr>
          <p:spPr>
            <a:xfrm>
              <a:off x="497967" y="4492625"/>
              <a:ext cx="5183886" cy="264033"/>
            </a:xfrm>
            <a:prstGeom prst="rect">
              <a:avLst/>
            </a:prstGeom>
            <a:noFill/>
            <a:ln>
              <a:noFill/>
            </a:ln>
          </p:spPr>
          <p:txBody>
            <a:bodyPr wrap="none" lIns="0" tIns="0" rIns="0" bIns="0" anchor="t" anchorCtr="0">
              <a:spAutoFit/>
            </a:bodyPr>
            <a:lstStyle/>
            <a:p>
              <a:pPr algn="l"/>
              <a:r>
                <a:rPr lang="zh-CN" sz="1350" b="1" dirty="0">
                  <a:solidFill>
                    <a:srgbClr val="9E423D"/>
                  </a:solidFill>
                  <a:latin typeface="Microsoft YaHei"/>
                  <a:ea typeface="Microsoft YaHei"/>
                  <a:cs typeface="Microsoft YaHei"/>
                </a:rPr>
                <a:t>保持率与使用寿命须来自受控试验，当前不预设任何提升幅度。</a:t>
              </a:r>
            </a:p>
          </p:txBody>
        </p:sp>
      </p:grpSp>
    </p:spTree>
  </p:cSld>
  <p:clrMapOvr>
    <a:masterClrMapping/>
  </p:clrMapOvr>
  <p:transition advClick="1"/>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 name="矩形 8"/>
          <p:cNvSpPr/>
          <p:nvPr/>
        </p:nvSpPr>
        <p:spPr>
          <a:xfrm>
            <a:off x="-10066" y="597600"/>
            <a:ext cx="9154065" cy="72000"/>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0" y="-7934"/>
            <a:ext cx="9144000" cy="556614"/>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p:cNvPicPr>
            <a:picLocks noChangeAspect="1"/>
          </p:cNvPicPr>
          <p:nvPr>
            <p:custDataLst>
              <p:tags r:id="rId1"/>
            </p:custDataLst>
          </p:nvPr>
        </p:nvPicPr>
        <p:blipFill>
          <a:blip r:embed="rId4"/>
          <a:srcRect l="1701" t="2985" r="4812" b="1949"/>
          <a:stretch>
            <a:fillRect/>
          </a:stretch>
        </p:blipFill>
        <p:spPr>
          <a:xfrm>
            <a:off x="135376" y="17739"/>
            <a:ext cx="509847" cy="514223"/>
          </a:xfrm>
          <a:prstGeom prst="ellipse">
            <a:avLst/>
          </a:prstGeom>
        </p:spPr>
      </p:pic>
      <p:grpSp>
        <p:nvGrpSpPr>
          <p:cNvPr id="6" name="page-title"/>
          <p:cNvGrpSpPr/>
          <p:nvPr/>
        </p:nvGrpSpPr>
        <p:grpSpPr>
          <a:xfrm>
            <a:off x="789813" y="120650"/>
            <a:ext cx="4312469" cy="396050"/>
            <a:chOff x="789813" y="120650"/>
            <a:chExt cx="4312469" cy="396050"/>
          </a:xfrm>
        </p:grpSpPr>
        <p:sp>
          <p:nvSpPr>
            <p:cNvPr id="5" name="TextBox 5"/>
            <p:cNvSpPr txBox="1"/>
            <p:nvPr/>
          </p:nvSpPr>
          <p:spPr>
            <a:xfrm>
              <a:off x="789813" y="120650"/>
              <a:ext cx="4515230" cy="396050"/>
            </a:xfrm>
            <a:prstGeom prst="rect">
              <a:avLst/>
            </a:prstGeom>
            <a:noFill/>
            <a:ln>
              <a:noFill/>
            </a:ln>
          </p:spPr>
          <p:txBody>
            <a:bodyPr wrap="none" lIns="0" tIns="0" rIns="0" bIns="0" anchor="t" anchorCtr="0">
              <a:spAutoFit/>
            </a:bodyPr>
            <a:lstStyle/>
            <a:p>
              <a:pPr algn="l"/>
              <a:r>
                <a:rPr lang="zh-CN" sz="2020" b="1" dirty="0">
                  <a:solidFill>
                    <a:srgbClr val="FFFFFF"/>
                  </a:solidFill>
                  <a:latin typeface="Microsoft YaHei"/>
                  <a:ea typeface="Microsoft YaHei"/>
                  <a:cs typeface="Microsoft YaHei"/>
                </a:rPr>
                <a:t>SiO₂/DPU增强芳纶织物的防刺设计</a:t>
              </a:r>
            </a:p>
          </p:txBody>
        </p:sp>
      </p:grpSp>
      <p:grpSp>
        <p:nvGrpSpPr>
          <p:cNvPr id="12" name="page-footer"/>
          <p:cNvGrpSpPr/>
          <p:nvPr/>
        </p:nvGrpSpPr>
        <p:grpSpPr>
          <a:xfrm>
            <a:off x="366712" y="4905375"/>
            <a:ext cx="8405813" cy="233362"/>
            <a:chOff x="366712" y="4905375"/>
            <a:chExt cx="8405813" cy="233362"/>
          </a:xfrm>
        </p:grpSpPr>
        <p:sp>
          <p:nvSpPr>
            <p:cNvPr id="7" name="Line 7"/>
            <p:cNvSpPr/>
            <p:nvPr/>
          </p:nvSpPr>
          <p:spPr>
            <a:xfrm>
              <a:off x="371475" y="4905375"/>
              <a:ext cx="8401050" cy="9525"/>
            </a:xfrm>
            <a:custGeom>
              <a:avLst/>
              <a:gdLst/>
              <a:ahLst/>
              <a:cxnLst/>
              <a:rect l="l" t="t" r="r" b="b"/>
              <a:pathLst>
                <a:path w="8401050" h="9525">
                  <a:moveTo>
                    <a:pt x="0" y="0"/>
                  </a:moveTo>
                  <a:lnTo>
                    <a:pt x="8401050" y="0"/>
                  </a:lnTo>
                </a:path>
              </a:pathLst>
            </a:custGeom>
            <a:noFill/>
            <a:ln w="9525">
              <a:solidFill>
                <a:srgbClr val="DADDDC"/>
              </a:solidFill>
            </a:ln>
          </p:spPr>
        </p:sp>
        <p:sp>
          <p:nvSpPr>
            <p:cNvPr id="8" name="TextBox 8"/>
            <p:cNvSpPr txBox="1"/>
            <p:nvPr/>
          </p:nvSpPr>
          <p:spPr>
            <a:xfrm>
              <a:off x="366712" y="4962525"/>
              <a:ext cx="1893216"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芳纶柔性复合材料 / 纺织学生论坛</a:t>
              </a:r>
            </a:p>
          </p:txBody>
        </p:sp>
        <p:sp>
          <p:nvSpPr>
            <p:cNvPr id="10" name="TextBox 10"/>
            <p:cNvSpPr txBox="1"/>
            <p:nvPr/>
          </p:nvSpPr>
          <p:spPr>
            <a:xfrm>
              <a:off x="6519862" y="4962525"/>
              <a:ext cx="1065579"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研究二 · 界面设计</a:t>
              </a:r>
            </a:p>
          </p:txBody>
        </p:sp>
        <p:sp>
          <p:nvSpPr>
            <p:cNvPr id="11" name="TextBox 11"/>
            <p:cNvSpPr txBox="1"/>
            <p:nvPr/>
          </p:nvSpPr>
          <p:spPr>
            <a:xfrm>
              <a:off x="8301781" y="4962525"/>
              <a:ext cx="465981" cy="176212"/>
            </a:xfrm>
            <a:prstGeom prst="rect">
              <a:avLst/>
            </a:prstGeom>
            <a:noFill/>
            <a:ln>
              <a:noFill/>
            </a:ln>
          </p:spPr>
          <p:txBody>
            <a:bodyPr wrap="none" lIns="0" tIns="0" rIns="0" bIns="0" anchor="t" anchorCtr="0">
              <a:spAutoFit/>
            </a:bodyPr>
            <a:lstStyle/>
            <a:p>
              <a:pPr algn="r"/>
              <a:r>
                <a:rPr lang="zh-CN" sz="900" dirty="0">
                  <a:solidFill>
                    <a:srgbClr val="69747A"/>
                  </a:solidFill>
                  <a:latin typeface="Microsoft YaHei"/>
                  <a:ea typeface="Microsoft YaHei"/>
                  <a:cs typeface="Microsoft YaHei"/>
                </a:rPr>
                <a:t>10 / 14</a:t>
              </a:r>
            </a:p>
          </p:txBody>
        </p:sp>
      </p:grpSp>
      <p:grpSp>
        <p:nvGrpSpPr>
          <p:cNvPr id="17" name="context"/>
          <p:cNvGrpSpPr/>
          <p:nvPr/>
        </p:nvGrpSpPr>
        <p:grpSpPr>
          <a:xfrm>
            <a:off x="364998" y="771525"/>
            <a:ext cx="8417052" cy="278892"/>
            <a:chOff x="364998" y="771525"/>
            <a:chExt cx="8417052" cy="278892"/>
          </a:xfrm>
        </p:grpSpPr>
        <p:sp>
          <p:nvSpPr>
            <p:cNvPr id="14" name="TextBox 14"/>
            <p:cNvSpPr txBox="1"/>
            <p:nvPr/>
          </p:nvSpPr>
          <p:spPr>
            <a:xfrm>
              <a:off x="364998" y="800100"/>
              <a:ext cx="4178259" cy="250317"/>
            </a:xfrm>
            <a:prstGeom prst="rect">
              <a:avLst/>
            </a:prstGeom>
            <a:noFill/>
            <a:ln>
              <a:noFill/>
            </a:ln>
          </p:spPr>
          <p:txBody>
            <a:bodyPr wrap="none" lIns="0" tIns="0" rIns="0" bIns="0" anchor="t" anchorCtr="0">
              <a:spAutoFit/>
            </a:bodyPr>
            <a:lstStyle/>
            <a:p>
              <a:pPr algn="l"/>
              <a:r>
                <a:rPr lang="zh-CN" sz="1280" dirty="0">
                  <a:solidFill>
                    <a:srgbClr val="69747A"/>
                  </a:solidFill>
                  <a:latin typeface="Microsoft YaHei"/>
                  <a:ea typeface="Microsoft YaHei"/>
                  <a:cs typeface="Microsoft YaHei"/>
                </a:rPr>
                <a:t>界面设计假设：颗粒—聚合物—纱线协同调控局部约束</a:t>
              </a:r>
            </a:p>
          </p:txBody>
        </p:sp>
        <p:sp>
          <p:nvSpPr>
            <p:cNvPr id="15" name="Rectangle 15"/>
            <p:cNvSpPr/>
            <p:nvPr/>
          </p:nvSpPr>
          <p:spPr>
            <a:xfrm>
              <a:off x="7715250" y="771525"/>
              <a:ext cx="1066800" cy="247650"/>
            </a:xfrm>
            <a:prstGeom prst="roundRect">
              <a:avLst>
                <a:gd name="adj" fmla="val 15385"/>
              </a:avLst>
            </a:prstGeom>
            <a:solidFill>
              <a:srgbClr val="F6F2EE"/>
            </a:solidFill>
            <a:ln>
              <a:noFill/>
            </a:ln>
          </p:spPr>
        </p:sp>
        <p:sp>
          <p:nvSpPr>
            <p:cNvPr id="16" name="TextBox 16"/>
            <p:cNvSpPr txBox="1"/>
            <p:nvPr/>
          </p:nvSpPr>
          <p:spPr>
            <a:xfrm>
              <a:off x="8061960" y="828675"/>
              <a:ext cx="620268" cy="191643"/>
            </a:xfrm>
            <a:prstGeom prst="rect">
              <a:avLst/>
            </a:prstGeom>
            <a:noFill/>
            <a:ln>
              <a:noFill/>
            </a:ln>
          </p:spPr>
          <p:txBody>
            <a:bodyPr wrap="none" lIns="0" tIns="0" rIns="0" bIns="0" anchor="t" anchorCtr="0">
              <a:spAutoFit/>
            </a:bodyPr>
            <a:lstStyle/>
            <a:p>
              <a:pPr algn="r"/>
              <a:r>
                <a:rPr lang="zh-CN" sz="980" b="1" dirty="0">
                  <a:solidFill>
                    <a:srgbClr val="9E423D"/>
                  </a:solidFill>
                  <a:latin typeface="Microsoft YaHei"/>
                  <a:ea typeface="Microsoft YaHei"/>
                  <a:cs typeface="Microsoft YaHei"/>
                </a:rPr>
                <a:t>研究设计</a:t>
              </a:r>
            </a:p>
          </p:txBody>
        </p:sp>
      </p:grpSp>
      <p:grpSp>
        <p:nvGrpSpPr>
          <p:cNvPr id="59" name="coated-fabric"/>
          <p:cNvGrpSpPr/>
          <p:nvPr/>
        </p:nvGrpSpPr>
        <p:grpSpPr>
          <a:xfrm>
            <a:off x="514350" y="1476375"/>
            <a:ext cx="4124325" cy="2488692"/>
            <a:chOff x="514350" y="1476375"/>
            <a:chExt cx="4124325" cy="2488692"/>
          </a:xfrm>
        </p:grpSpPr>
        <p:sp>
          <p:nvSpPr>
            <p:cNvPr id="19" name="Rectangle 19"/>
            <p:cNvSpPr/>
            <p:nvPr/>
          </p:nvSpPr>
          <p:spPr>
            <a:xfrm>
              <a:off x="514350" y="1476375"/>
              <a:ext cx="4124325" cy="2057400"/>
            </a:xfrm>
            <a:prstGeom prst="roundRect">
              <a:avLst>
                <a:gd name="adj" fmla="val 3704"/>
              </a:avLst>
            </a:prstGeom>
            <a:solidFill>
              <a:srgbClr val="F6F2EE"/>
            </a:solidFill>
            <a:ln>
              <a:noFill/>
            </a:ln>
          </p:spPr>
        </p:sp>
        <p:sp>
          <p:nvSpPr>
            <p:cNvPr id="20" name="Rectangle 20"/>
            <p:cNvSpPr/>
            <p:nvPr/>
          </p:nvSpPr>
          <p:spPr>
            <a:xfrm>
              <a:off x="704850" y="1695450"/>
              <a:ext cx="3724275" cy="152400"/>
            </a:xfrm>
            <a:prstGeom prst="roundRect">
              <a:avLst>
                <a:gd name="adj" fmla="val 37500"/>
              </a:avLst>
            </a:prstGeom>
            <a:solidFill>
              <a:srgbClr val="D5BC7F"/>
            </a:solidFill>
            <a:ln>
              <a:noFill/>
            </a:ln>
          </p:spPr>
        </p:sp>
        <p:sp>
          <p:nvSpPr>
            <p:cNvPr id="21" name="Rectangle 21"/>
            <p:cNvSpPr/>
            <p:nvPr/>
          </p:nvSpPr>
          <p:spPr>
            <a:xfrm>
              <a:off x="704850" y="2038350"/>
              <a:ext cx="3724275" cy="152400"/>
            </a:xfrm>
            <a:prstGeom prst="roundRect">
              <a:avLst>
                <a:gd name="adj" fmla="val 37500"/>
              </a:avLst>
            </a:prstGeom>
            <a:solidFill>
              <a:srgbClr val="D5BC7F"/>
            </a:solidFill>
            <a:ln>
              <a:noFill/>
            </a:ln>
          </p:spPr>
        </p:sp>
        <p:sp>
          <p:nvSpPr>
            <p:cNvPr id="22" name="Rectangle 22"/>
            <p:cNvSpPr/>
            <p:nvPr/>
          </p:nvSpPr>
          <p:spPr>
            <a:xfrm>
              <a:off x="704850" y="2381250"/>
              <a:ext cx="3724275" cy="152400"/>
            </a:xfrm>
            <a:prstGeom prst="roundRect">
              <a:avLst>
                <a:gd name="adj" fmla="val 37500"/>
              </a:avLst>
            </a:prstGeom>
            <a:solidFill>
              <a:srgbClr val="D5BC7F"/>
            </a:solidFill>
            <a:ln>
              <a:noFill/>
            </a:ln>
          </p:spPr>
        </p:sp>
        <p:sp>
          <p:nvSpPr>
            <p:cNvPr id="23" name="Rectangle 23"/>
            <p:cNvSpPr/>
            <p:nvPr/>
          </p:nvSpPr>
          <p:spPr>
            <a:xfrm>
              <a:off x="704850" y="2724150"/>
              <a:ext cx="3724275" cy="152400"/>
            </a:xfrm>
            <a:prstGeom prst="roundRect">
              <a:avLst>
                <a:gd name="adj" fmla="val 37500"/>
              </a:avLst>
            </a:prstGeom>
            <a:solidFill>
              <a:srgbClr val="D5BC7F"/>
            </a:solidFill>
            <a:ln>
              <a:noFill/>
            </a:ln>
          </p:spPr>
        </p:sp>
        <p:sp>
          <p:nvSpPr>
            <p:cNvPr id="24" name="Rectangle 24"/>
            <p:cNvSpPr/>
            <p:nvPr/>
          </p:nvSpPr>
          <p:spPr>
            <a:xfrm>
              <a:off x="704850" y="3067050"/>
              <a:ext cx="3724275" cy="152400"/>
            </a:xfrm>
            <a:prstGeom prst="roundRect">
              <a:avLst>
                <a:gd name="adj" fmla="val 37500"/>
              </a:avLst>
            </a:prstGeom>
            <a:solidFill>
              <a:srgbClr val="D5BC7F"/>
            </a:solidFill>
            <a:ln>
              <a:noFill/>
            </a:ln>
          </p:spPr>
        </p:sp>
        <p:sp>
          <p:nvSpPr>
            <p:cNvPr id="25" name="Rectangle 25"/>
            <p:cNvSpPr/>
            <p:nvPr/>
          </p:nvSpPr>
          <p:spPr>
            <a:xfrm>
              <a:off x="800100" y="1600200"/>
              <a:ext cx="133350" cy="1781175"/>
            </a:xfrm>
            <a:prstGeom prst="roundRect">
              <a:avLst>
                <a:gd name="adj" fmla="val 35714"/>
              </a:avLst>
            </a:prstGeom>
            <a:solidFill>
              <a:srgbClr val="B8C9C2"/>
            </a:solidFill>
            <a:ln>
              <a:noFill/>
            </a:ln>
          </p:spPr>
        </p:sp>
        <p:sp>
          <p:nvSpPr>
            <p:cNvPr id="26" name="Rectangle 26"/>
            <p:cNvSpPr/>
            <p:nvPr/>
          </p:nvSpPr>
          <p:spPr>
            <a:xfrm>
              <a:off x="1266825" y="1600200"/>
              <a:ext cx="133350" cy="1781175"/>
            </a:xfrm>
            <a:prstGeom prst="roundRect">
              <a:avLst>
                <a:gd name="adj" fmla="val 35714"/>
              </a:avLst>
            </a:prstGeom>
            <a:solidFill>
              <a:srgbClr val="B8C9C2"/>
            </a:solidFill>
            <a:ln>
              <a:noFill/>
            </a:ln>
          </p:spPr>
        </p:sp>
        <p:sp>
          <p:nvSpPr>
            <p:cNvPr id="27" name="Rectangle 27"/>
            <p:cNvSpPr/>
            <p:nvPr/>
          </p:nvSpPr>
          <p:spPr>
            <a:xfrm>
              <a:off x="1733550" y="1600200"/>
              <a:ext cx="133350" cy="1781175"/>
            </a:xfrm>
            <a:prstGeom prst="roundRect">
              <a:avLst>
                <a:gd name="adj" fmla="val 35714"/>
              </a:avLst>
            </a:prstGeom>
            <a:solidFill>
              <a:srgbClr val="B8C9C2"/>
            </a:solidFill>
            <a:ln>
              <a:noFill/>
            </a:ln>
          </p:spPr>
        </p:sp>
        <p:sp>
          <p:nvSpPr>
            <p:cNvPr id="28" name="Rectangle 28"/>
            <p:cNvSpPr/>
            <p:nvPr/>
          </p:nvSpPr>
          <p:spPr>
            <a:xfrm>
              <a:off x="2200275" y="1600200"/>
              <a:ext cx="133350" cy="1781175"/>
            </a:xfrm>
            <a:prstGeom prst="roundRect">
              <a:avLst>
                <a:gd name="adj" fmla="val 35714"/>
              </a:avLst>
            </a:prstGeom>
            <a:solidFill>
              <a:srgbClr val="B8C9C2"/>
            </a:solidFill>
            <a:ln>
              <a:noFill/>
            </a:ln>
          </p:spPr>
        </p:sp>
        <p:sp>
          <p:nvSpPr>
            <p:cNvPr id="29" name="Rectangle 29"/>
            <p:cNvSpPr/>
            <p:nvPr/>
          </p:nvSpPr>
          <p:spPr>
            <a:xfrm>
              <a:off x="2667000" y="1600200"/>
              <a:ext cx="133350" cy="1781175"/>
            </a:xfrm>
            <a:prstGeom prst="roundRect">
              <a:avLst>
                <a:gd name="adj" fmla="val 35714"/>
              </a:avLst>
            </a:prstGeom>
            <a:solidFill>
              <a:srgbClr val="B8C9C2"/>
            </a:solidFill>
            <a:ln>
              <a:noFill/>
            </a:ln>
          </p:spPr>
        </p:sp>
        <p:sp>
          <p:nvSpPr>
            <p:cNvPr id="30" name="Rectangle 30"/>
            <p:cNvSpPr/>
            <p:nvPr/>
          </p:nvSpPr>
          <p:spPr>
            <a:xfrm>
              <a:off x="3133725" y="1600200"/>
              <a:ext cx="133350" cy="1781175"/>
            </a:xfrm>
            <a:prstGeom prst="roundRect">
              <a:avLst>
                <a:gd name="adj" fmla="val 35714"/>
              </a:avLst>
            </a:prstGeom>
            <a:solidFill>
              <a:srgbClr val="B8C9C2"/>
            </a:solidFill>
            <a:ln>
              <a:noFill/>
            </a:ln>
          </p:spPr>
        </p:sp>
        <p:sp>
          <p:nvSpPr>
            <p:cNvPr id="31" name="Rectangle 31"/>
            <p:cNvSpPr/>
            <p:nvPr/>
          </p:nvSpPr>
          <p:spPr>
            <a:xfrm>
              <a:off x="3600450" y="1600200"/>
              <a:ext cx="133350" cy="1781175"/>
            </a:xfrm>
            <a:prstGeom prst="roundRect">
              <a:avLst>
                <a:gd name="adj" fmla="val 35714"/>
              </a:avLst>
            </a:prstGeom>
            <a:solidFill>
              <a:srgbClr val="B8C9C2"/>
            </a:solidFill>
            <a:ln>
              <a:noFill/>
            </a:ln>
          </p:spPr>
        </p:sp>
        <p:sp>
          <p:nvSpPr>
            <p:cNvPr id="32" name="Rectangle 32"/>
            <p:cNvSpPr/>
            <p:nvPr/>
          </p:nvSpPr>
          <p:spPr>
            <a:xfrm>
              <a:off x="4067175" y="1600200"/>
              <a:ext cx="133350" cy="1781175"/>
            </a:xfrm>
            <a:prstGeom prst="roundRect">
              <a:avLst>
                <a:gd name="adj" fmla="val 35714"/>
              </a:avLst>
            </a:prstGeom>
            <a:solidFill>
              <a:srgbClr val="B8C9C2"/>
            </a:solidFill>
            <a:ln>
              <a:noFill/>
            </a:ln>
          </p:spPr>
        </p:sp>
        <p:sp>
          <p:nvSpPr>
            <p:cNvPr id="33" name="Ellipse 33"/>
            <p:cNvSpPr/>
            <p:nvPr/>
          </p:nvSpPr>
          <p:spPr>
            <a:xfrm>
              <a:off x="742950" y="1685925"/>
              <a:ext cx="76200" cy="76200"/>
            </a:xfrm>
            <a:prstGeom prst="ellipse">
              <a:avLst/>
            </a:prstGeom>
            <a:solidFill>
              <a:srgbClr val="9E423D"/>
            </a:solidFill>
            <a:ln>
              <a:noFill/>
            </a:ln>
          </p:spPr>
        </p:sp>
        <p:sp>
          <p:nvSpPr>
            <p:cNvPr id="34" name="Ellipse 34"/>
            <p:cNvSpPr/>
            <p:nvPr/>
          </p:nvSpPr>
          <p:spPr>
            <a:xfrm>
              <a:off x="1381125" y="2095500"/>
              <a:ext cx="76200" cy="76200"/>
            </a:xfrm>
            <a:prstGeom prst="ellipse">
              <a:avLst/>
            </a:prstGeom>
            <a:solidFill>
              <a:srgbClr val="9E423D"/>
            </a:solidFill>
            <a:ln>
              <a:noFill/>
            </a:ln>
          </p:spPr>
        </p:sp>
        <p:sp>
          <p:nvSpPr>
            <p:cNvPr id="35" name="Ellipse 35"/>
            <p:cNvSpPr/>
            <p:nvPr/>
          </p:nvSpPr>
          <p:spPr>
            <a:xfrm>
              <a:off x="2019300" y="2505075"/>
              <a:ext cx="76200" cy="76200"/>
            </a:xfrm>
            <a:prstGeom prst="ellipse">
              <a:avLst/>
            </a:prstGeom>
            <a:solidFill>
              <a:srgbClr val="9E423D"/>
            </a:solidFill>
            <a:ln>
              <a:noFill/>
            </a:ln>
          </p:spPr>
        </p:sp>
        <p:sp>
          <p:nvSpPr>
            <p:cNvPr id="36" name="Ellipse 36"/>
            <p:cNvSpPr/>
            <p:nvPr/>
          </p:nvSpPr>
          <p:spPr>
            <a:xfrm>
              <a:off x="2657475" y="2914650"/>
              <a:ext cx="76200" cy="76200"/>
            </a:xfrm>
            <a:prstGeom prst="ellipse">
              <a:avLst/>
            </a:prstGeom>
            <a:solidFill>
              <a:srgbClr val="9E423D"/>
            </a:solidFill>
            <a:ln>
              <a:noFill/>
            </a:ln>
          </p:spPr>
        </p:sp>
        <p:sp>
          <p:nvSpPr>
            <p:cNvPr id="37" name="Ellipse 37"/>
            <p:cNvSpPr/>
            <p:nvPr/>
          </p:nvSpPr>
          <p:spPr>
            <a:xfrm>
              <a:off x="3295650" y="1790700"/>
              <a:ext cx="76200" cy="76200"/>
            </a:xfrm>
            <a:prstGeom prst="ellipse">
              <a:avLst/>
            </a:prstGeom>
            <a:solidFill>
              <a:srgbClr val="9E423D"/>
            </a:solidFill>
            <a:ln>
              <a:noFill/>
            </a:ln>
          </p:spPr>
        </p:sp>
        <p:sp>
          <p:nvSpPr>
            <p:cNvPr id="38" name="Ellipse 38"/>
            <p:cNvSpPr/>
            <p:nvPr/>
          </p:nvSpPr>
          <p:spPr>
            <a:xfrm>
              <a:off x="3933825" y="2200275"/>
              <a:ext cx="76200" cy="76200"/>
            </a:xfrm>
            <a:prstGeom prst="ellipse">
              <a:avLst/>
            </a:prstGeom>
            <a:solidFill>
              <a:srgbClr val="9E423D"/>
            </a:solidFill>
            <a:ln>
              <a:noFill/>
            </a:ln>
          </p:spPr>
        </p:sp>
        <p:sp>
          <p:nvSpPr>
            <p:cNvPr id="39" name="Ellipse 39"/>
            <p:cNvSpPr/>
            <p:nvPr/>
          </p:nvSpPr>
          <p:spPr>
            <a:xfrm>
              <a:off x="1038225" y="2609850"/>
              <a:ext cx="76200" cy="76200"/>
            </a:xfrm>
            <a:prstGeom prst="ellipse">
              <a:avLst/>
            </a:prstGeom>
            <a:solidFill>
              <a:srgbClr val="9E423D"/>
            </a:solidFill>
            <a:ln>
              <a:noFill/>
            </a:ln>
          </p:spPr>
        </p:sp>
        <p:sp>
          <p:nvSpPr>
            <p:cNvPr id="40" name="Ellipse 40"/>
            <p:cNvSpPr/>
            <p:nvPr/>
          </p:nvSpPr>
          <p:spPr>
            <a:xfrm>
              <a:off x="1676400" y="3019425"/>
              <a:ext cx="76200" cy="76200"/>
            </a:xfrm>
            <a:prstGeom prst="ellipse">
              <a:avLst/>
            </a:prstGeom>
            <a:solidFill>
              <a:srgbClr val="9E423D"/>
            </a:solidFill>
            <a:ln>
              <a:noFill/>
            </a:ln>
          </p:spPr>
        </p:sp>
        <p:sp>
          <p:nvSpPr>
            <p:cNvPr id="41" name="Ellipse 41"/>
            <p:cNvSpPr/>
            <p:nvPr/>
          </p:nvSpPr>
          <p:spPr>
            <a:xfrm>
              <a:off x="2314575" y="1895475"/>
              <a:ext cx="76200" cy="76200"/>
            </a:xfrm>
            <a:prstGeom prst="ellipse">
              <a:avLst/>
            </a:prstGeom>
            <a:solidFill>
              <a:srgbClr val="9E423D"/>
            </a:solidFill>
            <a:ln>
              <a:noFill/>
            </a:ln>
          </p:spPr>
        </p:sp>
        <p:sp>
          <p:nvSpPr>
            <p:cNvPr id="42" name="Ellipse 42"/>
            <p:cNvSpPr/>
            <p:nvPr/>
          </p:nvSpPr>
          <p:spPr>
            <a:xfrm>
              <a:off x="2952750" y="2305050"/>
              <a:ext cx="76200" cy="76200"/>
            </a:xfrm>
            <a:prstGeom prst="ellipse">
              <a:avLst/>
            </a:prstGeom>
            <a:solidFill>
              <a:srgbClr val="9E423D"/>
            </a:solidFill>
            <a:ln>
              <a:noFill/>
            </a:ln>
          </p:spPr>
        </p:sp>
        <p:sp>
          <p:nvSpPr>
            <p:cNvPr id="43" name="Ellipse 43"/>
            <p:cNvSpPr/>
            <p:nvPr/>
          </p:nvSpPr>
          <p:spPr>
            <a:xfrm>
              <a:off x="3590925" y="2714625"/>
              <a:ext cx="76200" cy="76200"/>
            </a:xfrm>
            <a:prstGeom prst="ellipse">
              <a:avLst/>
            </a:prstGeom>
            <a:solidFill>
              <a:srgbClr val="9E423D"/>
            </a:solidFill>
            <a:ln>
              <a:noFill/>
            </a:ln>
          </p:spPr>
        </p:sp>
        <p:sp>
          <p:nvSpPr>
            <p:cNvPr id="44" name="Ellipse 44"/>
            <p:cNvSpPr/>
            <p:nvPr/>
          </p:nvSpPr>
          <p:spPr>
            <a:xfrm>
              <a:off x="4229100" y="3124200"/>
              <a:ext cx="76200" cy="76200"/>
            </a:xfrm>
            <a:prstGeom prst="ellipse">
              <a:avLst/>
            </a:prstGeom>
            <a:solidFill>
              <a:srgbClr val="9E423D"/>
            </a:solidFill>
            <a:ln>
              <a:noFill/>
            </a:ln>
          </p:spPr>
        </p:sp>
        <p:sp>
          <p:nvSpPr>
            <p:cNvPr id="45" name="Ellipse 45"/>
            <p:cNvSpPr/>
            <p:nvPr/>
          </p:nvSpPr>
          <p:spPr>
            <a:xfrm>
              <a:off x="1333500" y="2000250"/>
              <a:ext cx="76200" cy="76200"/>
            </a:xfrm>
            <a:prstGeom prst="ellipse">
              <a:avLst/>
            </a:prstGeom>
            <a:solidFill>
              <a:srgbClr val="9E423D"/>
            </a:solidFill>
            <a:ln>
              <a:noFill/>
            </a:ln>
          </p:spPr>
        </p:sp>
        <p:sp>
          <p:nvSpPr>
            <p:cNvPr id="46" name="Ellipse 46"/>
            <p:cNvSpPr/>
            <p:nvPr/>
          </p:nvSpPr>
          <p:spPr>
            <a:xfrm>
              <a:off x="1971675" y="2409825"/>
              <a:ext cx="76200" cy="76200"/>
            </a:xfrm>
            <a:prstGeom prst="ellipse">
              <a:avLst/>
            </a:prstGeom>
            <a:solidFill>
              <a:srgbClr val="9E423D"/>
            </a:solidFill>
            <a:ln>
              <a:noFill/>
            </a:ln>
          </p:spPr>
        </p:sp>
        <p:sp>
          <p:nvSpPr>
            <p:cNvPr id="47" name="Ellipse 47"/>
            <p:cNvSpPr/>
            <p:nvPr/>
          </p:nvSpPr>
          <p:spPr>
            <a:xfrm>
              <a:off x="2609850" y="2819400"/>
              <a:ext cx="76200" cy="76200"/>
            </a:xfrm>
            <a:prstGeom prst="ellipse">
              <a:avLst/>
            </a:prstGeom>
            <a:solidFill>
              <a:srgbClr val="9E423D"/>
            </a:solidFill>
            <a:ln>
              <a:noFill/>
            </a:ln>
          </p:spPr>
        </p:sp>
        <p:sp>
          <p:nvSpPr>
            <p:cNvPr id="48" name="Ellipse 48"/>
            <p:cNvSpPr/>
            <p:nvPr/>
          </p:nvSpPr>
          <p:spPr>
            <a:xfrm>
              <a:off x="3248025" y="1695450"/>
              <a:ext cx="76200" cy="76200"/>
            </a:xfrm>
            <a:prstGeom prst="ellipse">
              <a:avLst/>
            </a:prstGeom>
            <a:solidFill>
              <a:srgbClr val="9E423D"/>
            </a:solidFill>
            <a:ln>
              <a:noFill/>
            </a:ln>
          </p:spPr>
        </p:sp>
        <p:sp>
          <p:nvSpPr>
            <p:cNvPr id="49" name="Ellipse 49"/>
            <p:cNvSpPr/>
            <p:nvPr/>
          </p:nvSpPr>
          <p:spPr>
            <a:xfrm>
              <a:off x="3886200" y="2105025"/>
              <a:ext cx="76200" cy="76200"/>
            </a:xfrm>
            <a:prstGeom prst="ellipse">
              <a:avLst/>
            </a:prstGeom>
            <a:solidFill>
              <a:srgbClr val="9E423D"/>
            </a:solidFill>
            <a:ln>
              <a:noFill/>
            </a:ln>
          </p:spPr>
        </p:sp>
        <p:sp>
          <p:nvSpPr>
            <p:cNvPr id="50" name="Ellipse 50"/>
            <p:cNvSpPr/>
            <p:nvPr/>
          </p:nvSpPr>
          <p:spPr>
            <a:xfrm>
              <a:off x="990600" y="2514600"/>
              <a:ext cx="76200" cy="76200"/>
            </a:xfrm>
            <a:prstGeom prst="ellipse">
              <a:avLst/>
            </a:prstGeom>
            <a:solidFill>
              <a:srgbClr val="9E423D"/>
            </a:solidFill>
            <a:ln>
              <a:noFill/>
            </a:ln>
          </p:spPr>
        </p:sp>
        <p:sp>
          <p:nvSpPr>
            <p:cNvPr id="51" name="Ellipse 51"/>
            <p:cNvSpPr/>
            <p:nvPr/>
          </p:nvSpPr>
          <p:spPr>
            <a:xfrm>
              <a:off x="1628775" y="2924175"/>
              <a:ext cx="76200" cy="76200"/>
            </a:xfrm>
            <a:prstGeom prst="ellipse">
              <a:avLst/>
            </a:prstGeom>
            <a:solidFill>
              <a:srgbClr val="9E423D"/>
            </a:solidFill>
            <a:ln>
              <a:noFill/>
            </a:ln>
          </p:spPr>
        </p:sp>
        <p:sp>
          <p:nvSpPr>
            <p:cNvPr id="52" name="Ellipse 52"/>
            <p:cNvSpPr/>
            <p:nvPr/>
          </p:nvSpPr>
          <p:spPr>
            <a:xfrm>
              <a:off x="2266950" y="1800225"/>
              <a:ext cx="76200" cy="76200"/>
            </a:xfrm>
            <a:prstGeom prst="ellipse">
              <a:avLst/>
            </a:prstGeom>
            <a:solidFill>
              <a:srgbClr val="9E423D"/>
            </a:solidFill>
            <a:ln>
              <a:noFill/>
            </a:ln>
          </p:spPr>
        </p:sp>
        <p:sp>
          <p:nvSpPr>
            <p:cNvPr id="53" name="Ellipse 53"/>
            <p:cNvSpPr/>
            <p:nvPr/>
          </p:nvSpPr>
          <p:spPr>
            <a:xfrm>
              <a:off x="2905125" y="2209800"/>
              <a:ext cx="76200" cy="76200"/>
            </a:xfrm>
            <a:prstGeom prst="ellipse">
              <a:avLst/>
            </a:prstGeom>
            <a:solidFill>
              <a:srgbClr val="9E423D"/>
            </a:solidFill>
            <a:ln>
              <a:noFill/>
            </a:ln>
          </p:spPr>
        </p:sp>
        <p:sp>
          <p:nvSpPr>
            <p:cNvPr id="54" name="Ellipse 54"/>
            <p:cNvSpPr/>
            <p:nvPr/>
          </p:nvSpPr>
          <p:spPr>
            <a:xfrm>
              <a:off x="3543300" y="2619375"/>
              <a:ext cx="76200" cy="76200"/>
            </a:xfrm>
            <a:prstGeom prst="ellipse">
              <a:avLst/>
            </a:prstGeom>
            <a:solidFill>
              <a:srgbClr val="9E423D"/>
            </a:solidFill>
            <a:ln>
              <a:noFill/>
            </a:ln>
          </p:spPr>
        </p:sp>
        <p:sp>
          <p:nvSpPr>
            <p:cNvPr id="55" name="Ellipse 55"/>
            <p:cNvSpPr/>
            <p:nvPr/>
          </p:nvSpPr>
          <p:spPr>
            <a:xfrm>
              <a:off x="4181475" y="3028950"/>
              <a:ext cx="76200" cy="76200"/>
            </a:xfrm>
            <a:prstGeom prst="ellipse">
              <a:avLst/>
            </a:prstGeom>
            <a:solidFill>
              <a:srgbClr val="9E423D"/>
            </a:solidFill>
            <a:ln>
              <a:noFill/>
            </a:ln>
          </p:spPr>
        </p:sp>
        <p:sp>
          <p:nvSpPr>
            <p:cNvPr id="56" name="Ellipse 56"/>
            <p:cNvSpPr/>
            <p:nvPr/>
          </p:nvSpPr>
          <p:spPr>
            <a:xfrm>
              <a:off x="1285875" y="1905000"/>
              <a:ext cx="76200" cy="76200"/>
            </a:xfrm>
            <a:prstGeom prst="ellipse">
              <a:avLst/>
            </a:prstGeom>
            <a:solidFill>
              <a:srgbClr val="9E423D"/>
            </a:solidFill>
            <a:ln>
              <a:noFill/>
            </a:ln>
          </p:spPr>
        </p:sp>
        <p:sp>
          <p:nvSpPr>
            <p:cNvPr id="57" name="Ellipse 57"/>
            <p:cNvSpPr/>
            <p:nvPr/>
          </p:nvSpPr>
          <p:spPr>
            <a:xfrm>
              <a:off x="1924050" y="2314575"/>
              <a:ext cx="76200" cy="76200"/>
            </a:xfrm>
            <a:prstGeom prst="ellipse">
              <a:avLst/>
            </a:prstGeom>
            <a:solidFill>
              <a:srgbClr val="9E423D"/>
            </a:solidFill>
            <a:ln>
              <a:noFill/>
            </a:ln>
          </p:spPr>
        </p:sp>
        <p:sp>
          <p:nvSpPr>
            <p:cNvPr id="58" name="TextBox 58"/>
            <p:cNvSpPr txBox="1"/>
            <p:nvPr/>
          </p:nvSpPr>
          <p:spPr>
            <a:xfrm>
              <a:off x="1665923" y="3714750"/>
              <a:ext cx="1811655" cy="250317"/>
            </a:xfrm>
            <a:prstGeom prst="rect">
              <a:avLst/>
            </a:prstGeom>
            <a:noFill/>
            <a:ln>
              <a:noFill/>
            </a:ln>
          </p:spPr>
          <p:txBody>
            <a:bodyPr wrap="none" lIns="0" tIns="0" rIns="0" bIns="0" anchor="t" anchorCtr="0">
              <a:spAutoFit/>
            </a:bodyPr>
            <a:lstStyle/>
            <a:p>
              <a:pPr algn="ctr"/>
              <a:r>
                <a:rPr lang="zh-CN" sz="1280" dirty="0">
                  <a:solidFill>
                    <a:srgbClr val="69747A"/>
                  </a:solidFill>
                  <a:latin typeface="Microsoft YaHei"/>
                  <a:ea typeface="Microsoft YaHei"/>
                  <a:cs typeface="Microsoft YaHei"/>
                </a:rPr>
                <a:t>包覆与分散的结构示意</a:t>
              </a:r>
            </a:p>
          </p:txBody>
        </p:sp>
      </p:grpSp>
      <p:grpSp>
        <p:nvGrpSpPr>
          <p:cNvPr id="67" name="interface-roles"/>
          <p:cNvGrpSpPr/>
          <p:nvPr/>
        </p:nvGrpSpPr>
        <p:grpSpPr>
          <a:xfrm>
            <a:off x="5049012" y="1298575"/>
            <a:ext cx="2804846" cy="2866009"/>
            <a:chOff x="5049012" y="1298575"/>
            <a:chExt cx="2804846" cy="2866009"/>
          </a:xfrm>
        </p:grpSpPr>
        <p:sp>
          <p:nvSpPr>
            <p:cNvPr id="60" name="TextBox 60"/>
            <p:cNvSpPr txBox="1"/>
            <p:nvPr/>
          </p:nvSpPr>
          <p:spPr>
            <a:xfrm>
              <a:off x="5049012" y="1298575"/>
              <a:ext cx="1024128" cy="337376"/>
            </a:xfrm>
            <a:prstGeom prst="rect">
              <a:avLst/>
            </a:prstGeom>
            <a:noFill/>
            <a:ln>
              <a:noFill/>
            </a:ln>
          </p:spPr>
          <p:txBody>
            <a:bodyPr wrap="none" lIns="0" tIns="0" rIns="0" bIns="0" anchor="t" anchorCtr="0">
              <a:spAutoFit/>
            </a:bodyPr>
            <a:lstStyle/>
            <a:p>
              <a:pPr algn="l"/>
              <a:r>
                <a:rPr lang="zh-CN" sz="1720" b="1" dirty="0">
                  <a:solidFill>
                    <a:srgbClr val="9E423D"/>
                  </a:solidFill>
                  <a:latin typeface="Microsoft YaHei"/>
                  <a:ea typeface="Microsoft YaHei"/>
                  <a:cs typeface="Microsoft YaHei"/>
                </a:rPr>
                <a:t>芳纶织物</a:t>
              </a:r>
            </a:p>
          </p:txBody>
        </p:sp>
        <p:sp>
          <p:nvSpPr>
            <p:cNvPr id="61" name="TextBox 61"/>
            <p:cNvSpPr txBox="1"/>
            <p:nvPr/>
          </p:nvSpPr>
          <p:spPr>
            <a:xfrm>
              <a:off x="5050155" y="1679575"/>
              <a:ext cx="211455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提供连续纱线承载网络</a:t>
              </a:r>
            </a:p>
          </p:txBody>
        </p:sp>
        <p:sp>
          <p:nvSpPr>
            <p:cNvPr id="62" name="TextBox 62"/>
            <p:cNvSpPr txBox="1"/>
            <p:nvPr/>
          </p:nvSpPr>
          <p:spPr>
            <a:xfrm>
              <a:off x="5049012" y="2155825"/>
              <a:ext cx="1256348" cy="337376"/>
            </a:xfrm>
            <a:prstGeom prst="rect">
              <a:avLst/>
            </a:prstGeom>
            <a:noFill/>
            <a:ln>
              <a:noFill/>
            </a:ln>
          </p:spPr>
          <p:txBody>
            <a:bodyPr wrap="none" lIns="0" tIns="0" rIns="0" bIns="0" anchor="t" anchorCtr="0">
              <a:spAutoFit/>
            </a:bodyPr>
            <a:lstStyle/>
            <a:p>
              <a:pPr algn="l"/>
              <a:r>
                <a:rPr lang="zh-CN" sz="1720" b="1" dirty="0">
                  <a:solidFill>
                    <a:srgbClr val="9E423D"/>
                  </a:solidFill>
                  <a:latin typeface="Microsoft YaHei"/>
                  <a:ea typeface="Microsoft YaHei"/>
                  <a:cs typeface="Microsoft YaHei"/>
                </a:rPr>
                <a:t>动态聚氨酯</a:t>
              </a:r>
            </a:p>
          </p:txBody>
        </p:sp>
        <p:sp>
          <p:nvSpPr>
            <p:cNvPr id="63" name="TextBox 63"/>
            <p:cNvSpPr txBox="1"/>
            <p:nvPr/>
          </p:nvSpPr>
          <p:spPr>
            <a:xfrm>
              <a:off x="5050155" y="2536825"/>
              <a:ext cx="251841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调控接触、传力与可变形性</a:t>
              </a:r>
            </a:p>
          </p:txBody>
        </p:sp>
        <p:sp>
          <p:nvSpPr>
            <p:cNvPr id="64" name="TextBox 64"/>
            <p:cNvSpPr txBox="1"/>
            <p:nvPr/>
          </p:nvSpPr>
          <p:spPr>
            <a:xfrm>
              <a:off x="5049012" y="3013075"/>
              <a:ext cx="1186224" cy="337376"/>
            </a:xfrm>
            <a:prstGeom prst="rect">
              <a:avLst/>
            </a:prstGeom>
            <a:noFill/>
            <a:ln>
              <a:noFill/>
            </a:ln>
          </p:spPr>
          <p:txBody>
            <a:bodyPr wrap="none" lIns="0" tIns="0" rIns="0" bIns="0" anchor="t" anchorCtr="0">
              <a:spAutoFit/>
            </a:bodyPr>
            <a:lstStyle/>
            <a:p>
              <a:pPr algn="l"/>
              <a:r>
                <a:rPr lang="zh-CN" sz="1720" b="1" dirty="0">
                  <a:solidFill>
                    <a:srgbClr val="9E423D"/>
                  </a:solidFill>
                  <a:latin typeface="Microsoft YaHei"/>
                  <a:ea typeface="Microsoft YaHei"/>
                  <a:cs typeface="Microsoft YaHei"/>
                </a:rPr>
                <a:t>SiO₂颗粒</a:t>
              </a:r>
            </a:p>
          </p:txBody>
        </p:sp>
        <p:sp>
          <p:nvSpPr>
            <p:cNvPr id="65" name="TextBox 65"/>
            <p:cNvSpPr txBox="1"/>
            <p:nvPr/>
          </p:nvSpPr>
          <p:spPr>
            <a:xfrm>
              <a:off x="5050155" y="3394075"/>
              <a:ext cx="272034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考察分散状态与局部约束作用</a:t>
              </a:r>
            </a:p>
          </p:txBody>
        </p:sp>
        <p:sp>
          <p:nvSpPr>
            <p:cNvPr id="66" name="TextBox 66"/>
            <p:cNvSpPr txBox="1"/>
            <p:nvPr/>
          </p:nvSpPr>
          <p:spPr>
            <a:xfrm>
              <a:off x="5052441" y="3959225"/>
              <a:ext cx="2928225" cy="205359"/>
            </a:xfrm>
            <a:prstGeom prst="rect">
              <a:avLst/>
            </a:prstGeom>
            <a:noFill/>
            <a:ln>
              <a:noFill/>
            </a:ln>
          </p:spPr>
          <p:txBody>
            <a:bodyPr wrap="none" lIns="0" tIns="0" rIns="0" bIns="0" anchor="t" anchorCtr="0">
              <a:spAutoFit/>
            </a:bodyPr>
            <a:lstStyle/>
            <a:p>
              <a:pPr algn="l"/>
              <a:r>
                <a:rPr lang="zh-CN" sz="1050" dirty="0">
                  <a:solidFill>
                    <a:srgbClr val="69747A"/>
                  </a:solidFill>
                  <a:latin typeface="Microsoft YaHei"/>
                  <a:ea typeface="Microsoft YaHei"/>
                  <a:cs typeface="Microsoft YaHei"/>
                </a:rPr>
                <a:t>DPU暂作动态聚氨酯缩写，结构待配方确认。</a:t>
              </a:r>
            </a:p>
          </p:txBody>
        </p:sp>
      </p:grpSp>
      <p:grpSp>
        <p:nvGrpSpPr>
          <p:cNvPr id="71" name="takeaway"/>
          <p:cNvGrpSpPr/>
          <p:nvPr/>
        </p:nvGrpSpPr>
        <p:grpSpPr>
          <a:xfrm>
            <a:off x="361950" y="4419600"/>
            <a:ext cx="8420100" cy="361950"/>
            <a:chOff x="361950" y="4419600"/>
            <a:chExt cx="8420100" cy="361950"/>
          </a:xfrm>
        </p:grpSpPr>
        <p:sp>
          <p:nvSpPr>
            <p:cNvPr id="68" name="Rectangle 68"/>
            <p:cNvSpPr/>
            <p:nvPr/>
          </p:nvSpPr>
          <p:spPr>
            <a:xfrm>
              <a:off x="361950" y="4419600"/>
              <a:ext cx="8420100" cy="361950"/>
            </a:xfrm>
            <a:prstGeom prst="rect">
              <a:avLst/>
            </a:prstGeom>
            <a:solidFill>
              <a:srgbClr val="F6F2EE"/>
            </a:solidFill>
            <a:ln>
              <a:noFill/>
            </a:ln>
          </p:spPr>
        </p:sp>
        <p:sp>
          <p:nvSpPr>
            <p:cNvPr id="69" name="Rectangle 69"/>
            <p:cNvSpPr/>
            <p:nvPr/>
          </p:nvSpPr>
          <p:spPr>
            <a:xfrm>
              <a:off x="361950" y="4419600"/>
              <a:ext cx="38100" cy="361950"/>
            </a:xfrm>
            <a:prstGeom prst="rect">
              <a:avLst/>
            </a:prstGeom>
            <a:solidFill>
              <a:srgbClr val="9E423D"/>
            </a:solidFill>
            <a:ln>
              <a:noFill/>
            </a:ln>
          </p:spPr>
        </p:sp>
        <p:sp>
          <p:nvSpPr>
            <p:cNvPr id="70" name="TextBox 70"/>
            <p:cNvSpPr txBox="1"/>
            <p:nvPr/>
          </p:nvSpPr>
          <p:spPr>
            <a:xfrm>
              <a:off x="497967" y="4492625"/>
              <a:ext cx="5029047" cy="264033"/>
            </a:xfrm>
            <a:prstGeom prst="rect">
              <a:avLst/>
            </a:prstGeom>
            <a:noFill/>
            <a:ln>
              <a:noFill/>
            </a:ln>
          </p:spPr>
          <p:txBody>
            <a:bodyPr wrap="none" lIns="0" tIns="0" rIns="0" bIns="0" anchor="t" anchorCtr="0">
              <a:spAutoFit/>
            </a:bodyPr>
            <a:lstStyle/>
            <a:p>
              <a:pPr algn="l"/>
              <a:r>
                <a:rPr lang="zh-CN" sz="1350" b="1" dirty="0">
                  <a:solidFill>
                    <a:srgbClr val="9E423D"/>
                  </a:solidFill>
                  <a:latin typeface="Microsoft YaHei"/>
                  <a:ea typeface="Microsoft YaHei"/>
                  <a:cs typeface="Microsoft YaHei"/>
                </a:rPr>
                <a:t>关注有效界面与均匀分散；“添加颗粒”本身不等于防刺提升。</a:t>
              </a:r>
            </a:p>
          </p:txBody>
        </p:sp>
      </p:grpSp>
    </p:spTree>
  </p:cSld>
  <p:clrMapOvr>
    <a:masterClrMapping/>
  </p:clrMapOvr>
  <p:transition advClick="1"/>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 name="矩形 8"/>
          <p:cNvSpPr/>
          <p:nvPr/>
        </p:nvSpPr>
        <p:spPr>
          <a:xfrm>
            <a:off x="-10066" y="597600"/>
            <a:ext cx="9154065" cy="72000"/>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0" y="-7934"/>
            <a:ext cx="9144000" cy="556614"/>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p:cNvPicPr>
            <a:picLocks noChangeAspect="1"/>
          </p:cNvPicPr>
          <p:nvPr>
            <p:custDataLst>
              <p:tags r:id="rId1"/>
            </p:custDataLst>
          </p:nvPr>
        </p:nvPicPr>
        <p:blipFill>
          <a:blip r:embed="rId4"/>
          <a:srcRect l="1701" t="2985" r="4812" b="1949"/>
          <a:stretch>
            <a:fillRect/>
          </a:stretch>
        </p:blipFill>
        <p:spPr>
          <a:xfrm>
            <a:off x="135376" y="17739"/>
            <a:ext cx="509847" cy="514223"/>
          </a:xfrm>
          <a:prstGeom prst="ellipse">
            <a:avLst/>
          </a:prstGeom>
        </p:spPr>
      </p:pic>
      <p:grpSp>
        <p:nvGrpSpPr>
          <p:cNvPr id="6" name="page-title"/>
          <p:cNvGrpSpPr/>
          <p:nvPr/>
        </p:nvGrpSpPr>
        <p:grpSpPr>
          <a:xfrm>
            <a:off x="789813" y="120650"/>
            <a:ext cx="4643425" cy="396050"/>
            <a:chOff x="789813" y="120650"/>
            <a:chExt cx="4643425" cy="396050"/>
          </a:xfrm>
        </p:grpSpPr>
        <p:sp>
          <p:nvSpPr>
            <p:cNvPr id="5" name="TextBox 5"/>
            <p:cNvSpPr txBox="1"/>
            <p:nvPr/>
          </p:nvSpPr>
          <p:spPr>
            <a:xfrm>
              <a:off x="789813" y="120650"/>
              <a:ext cx="4729544" cy="396050"/>
            </a:xfrm>
            <a:prstGeom prst="rect">
              <a:avLst/>
            </a:prstGeom>
            <a:noFill/>
            <a:ln>
              <a:noFill/>
            </a:ln>
          </p:spPr>
          <p:txBody>
            <a:bodyPr wrap="none" lIns="0" tIns="0" rIns="0" bIns="0" anchor="t" anchorCtr="0">
              <a:spAutoFit/>
            </a:bodyPr>
            <a:lstStyle/>
            <a:p>
              <a:pPr algn="l"/>
              <a:r>
                <a:rPr lang="zh-CN" sz="2020" b="1" dirty="0">
                  <a:solidFill>
                    <a:srgbClr val="FFFFFF"/>
                  </a:solidFill>
                  <a:latin typeface="Microsoft YaHei"/>
                  <a:ea typeface="Microsoft YaHei"/>
                  <a:cs typeface="Microsoft YaHei"/>
                </a:rPr>
                <a:t>纳米粒子含量对锥刺与刀刺性能的影响</a:t>
              </a:r>
            </a:p>
          </p:txBody>
        </p:sp>
      </p:grpSp>
      <p:grpSp>
        <p:nvGrpSpPr>
          <p:cNvPr id="12" name="page-footer"/>
          <p:cNvGrpSpPr/>
          <p:nvPr/>
        </p:nvGrpSpPr>
        <p:grpSpPr>
          <a:xfrm>
            <a:off x="366712" y="4905375"/>
            <a:ext cx="8405813" cy="233362"/>
            <a:chOff x="366712" y="4905375"/>
            <a:chExt cx="8405813" cy="233362"/>
          </a:xfrm>
        </p:grpSpPr>
        <p:sp>
          <p:nvSpPr>
            <p:cNvPr id="7" name="Line 7"/>
            <p:cNvSpPr/>
            <p:nvPr/>
          </p:nvSpPr>
          <p:spPr>
            <a:xfrm>
              <a:off x="371475" y="4905375"/>
              <a:ext cx="8401050" cy="9525"/>
            </a:xfrm>
            <a:custGeom>
              <a:avLst/>
              <a:gdLst/>
              <a:ahLst/>
              <a:cxnLst/>
              <a:rect l="l" t="t" r="r" b="b"/>
              <a:pathLst>
                <a:path w="8401050" h="9525">
                  <a:moveTo>
                    <a:pt x="0" y="0"/>
                  </a:moveTo>
                  <a:lnTo>
                    <a:pt x="8401050" y="0"/>
                  </a:lnTo>
                </a:path>
              </a:pathLst>
            </a:custGeom>
            <a:noFill/>
            <a:ln w="9525">
              <a:solidFill>
                <a:srgbClr val="DADDDC"/>
              </a:solidFill>
            </a:ln>
          </p:spPr>
        </p:sp>
        <p:sp>
          <p:nvSpPr>
            <p:cNvPr id="8" name="TextBox 8"/>
            <p:cNvSpPr txBox="1"/>
            <p:nvPr/>
          </p:nvSpPr>
          <p:spPr>
            <a:xfrm>
              <a:off x="366712" y="4962525"/>
              <a:ext cx="1893216"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芳纶柔性复合材料 / 纺织学生论坛</a:t>
              </a:r>
            </a:p>
          </p:txBody>
        </p:sp>
        <p:sp>
          <p:nvSpPr>
            <p:cNvPr id="10" name="TextBox 10"/>
            <p:cNvSpPr txBox="1"/>
            <p:nvPr/>
          </p:nvSpPr>
          <p:spPr>
            <a:xfrm>
              <a:off x="6519862" y="4962525"/>
              <a:ext cx="1065579"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研究二 · 组分调控</a:t>
              </a:r>
            </a:p>
          </p:txBody>
        </p:sp>
        <p:sp>
          <p:nvSpPr>
            <p:cNvPr id="11" name="TextBox 11"/>
            <p:cNvSpPr txBox="1"/>
            <p:nvPr/>
          </p:nvSpPr>
          <p:spPr>
            <a:xfrm>
              <a:off x="8301781" y="4962525"/>
              <a:ext cx="465981" cy="176212"/>
            </a:xfrm>
            <a:prstGeom prst="rect">
              <a:avLst/>
            </a:prstGeom>
            <a:noFill/>
            <a:ln>
              <a:noFill/>
            </a:ln>
          </p:spPr>
          <p:txBody>
            <a:bodyPr wrap="none" lIns="0" tIns="0" rIns="0" bIns="0" anchor="t" anchorCtr="0">
              <a:spAutoFit/>
            </a:bodyPr>
            <a:lstStyle/>
            <a:p>
              <a:pPr algn="r"/>
              <a:r>
                <a:rPr lang="zh-CN" sz="900" dirty="0">
                  <a:solidFill>
                    <a:srgbClr val="69747A"/>
                  </a:solidFill>
                  <a:latin typeface="Microsoft YaHei"/>
                  <a:ea typeface="Microsoft YaHei"/>
                  <a:cs typeface="Microsoft YaHei"/>
                </a:rPr>
                <a:t>11 / 14</a:t>
              </a:r>
            </a:p>
          </p:txBody>
        </p:sp>
      </p:grpSp>
      <p:grpSp>
        <p:nvGrpSpPr>
          <p:cNvPr id="17" name="context"/>
          <p:cNvGrpSpPr/>
          <p:nvPr/>
        </p:nvGrpSpPr>
        <p:grpSpPr>
          <a:xfrm>
            <a:off x="364998" y="771525"/>
            <a:ext cx="8417052" cy="278892"/>
            <a:chOff x="364998" y="771525"/>
            <a:chExt cx="8417052" cy="278892"/>
          </a:xfrm>
        </p:grpSpPr>
        <p:sp>
          <p:nvSpPr>
            <p:cNvPr id="14" name="TextBox 14"/>
            <p:cNvSpPr txBox="1"/>
            <p:nvPr/>
          </p:nvSpPr>
          <p:spPr>
            <a:xfrm>
              <a:off x="364998" y="800100"/>
              <a:ext cx="3699700" cy="250317"/>
            </a:xfrm>
            <a:prstGeom prst="rect">
              <a:avLst/>
            </a:prstGeom>
            <a:noFill/>
            <a:ln>
              <a:noFill/>
            </a:ln>
          </p:spPr>
          <p:txBody>
            <a:bodyPr wrap="none" lIns="0" tIns="0" rIns="0" bIns="0" anchor="t" anchorCtr="0">
              <a:spAutoFit/>
            </a:bodyPr>
            <a:lstStyle/>
            <a:p>
              <a:pPr algn="l"/>
              <a:r>
                <a:rPr lang="zh-CN" sz="1280" dirty="0">
                  <a:solidFill>
                    <a:srgbClr val="69747A"/>
                  </a:solidFill>
                  <a:latin typeface="Microsoft YaHei"/>
                  <a:ea typeface="Microsoft YaHei"/>
                  <a:cs typeface="Microsoft YaHei"/>
                </a:rPr>
                <a:t>同一组分变量，两类接触形态：分别建立证据链</a:t>
              </a:r>
            </a:p>
          </p:txBody>
        </p:sp>
        <p:sp>
          <p:nvSpPr>
            <p:cNvPr id="15" name="Rectangle 15"/>
            <p:cNvSpPr/>
            <p:nvPr/>
          </p:nvSpPr>
          <p:spPr>
            <a:xfrm>
              <a:off x="7715250" y="771525"/>
              <a:ext cx="1066800" cy="247650"/>
            </a:xfrm>
            <a:prstGeom prst="roundRect">
              <a:avLst>
                <a:gd name="adj" fmla="val 15385"/>
              </a:avLst>
            </a:prstGeom>
            <a:solidFill>
              <a:srgbClr val="F6F2EE"/>
            </a:solidFill>
            <a:ln>
              <a:noFill/>
            </a:ln>
          </p:spPr>
        </p:sp>
        <p:sp>
          <p:nvSpPr>
            <p:cNvPr id="16" name="TextBox 16"/>
            <p:cNvSpPr txBox="1"/>
            <p:nvPr/>
          </p:nvSpPr>
          <p:spPr>
            <a:xfrm>
              <a:off x="8061960" y="828675"/>
              <a:ext cx="620268" cy="191643"/>
            </a:xfrm>
            <a:prstGeom prst="rect">
              <a:avLst/>
            </a:prstGeom>
            <a:noFill/>
            <a:ln>
              <a:noFill/>
            </a:ln>
          </p:spPr>
          <p:txBody>
            <a:bodyPr wrap="none" lIns="0" tIns="0" rIns="0" bIns="0" anchor="t" anchorCtr="0">
              <a:spAutoFit/>
            </a:bodyPr>
            <a:lstStyle/>
            <a:p>
              <a:pPr algn="r"/>
              <a:r>
                <a:rPr lang="zh-CN" sz="980" b="1" dirty="0">
                  <a:solidFill>
                    <a:srgbClr val="9E423D"/>
                  </a:solidFill>
                  <a:latin typeface="Microsoft YaHei"/>
                  <a:ea typeface="Microsoft YaHei"/>
                  <a:cs typeface="Microsoft YaHei"/>
                </a:rPr>
                <a:t>对照方案</a:t>
              </a:r>
            </a:p>
          </p:txBody>
        </p:sp>
      </p:grpSp>
      <p:grpSp>
        <p:nvGrpSpPr>
          <p:cNvPr id="23" name="penetration-0"/>
          <p:cNvGrpSpPr/>
          <p:nvPr/>
        </p:nvGrpSpPr>
        <p:grpSpPr>
          <a:xfrm>
            <a:off x="381000" y="1276350"/>
            <a:ext cx="4095750" cy="1381125"/>
            <a:chOff x="381000" y="1276350"/>
            <a:chExt cx="4095750" cy="1381125"/>
          </a:xfrm>
        </p:grpSpPr>
        <p:sp>
          <p:nvSpPr>
            <p:cNvPr id="19" name="Rectangle 19"/>
            <p:cNvSpPr/>
            <p:nvPr/>
          </p:nvSpPr>
          <p:spPr>
            <a:xfrm>
              <a:off x="381000" y="1276350"/>
              <a:ext cx="4095750" cy="1381125"/>
            </a:xfrm>
            <a:prstGeom prst="roundRect">
              <a:avLst>
                <a:gd name="adj" fmla="val 4828"/>
              </a:avLst>
            </a:prstGeom>
            <a:solidFill>
              <a:srgbClr val="F6F2EE"/>
            </a:solidFill>
            <a:ln>
              <a:noFill/>
            </a:ln>
          </p:spPr>
        </p:sp>
        <p:sp>
          <p:nvSpPr>
            <p:cNvPr id="20" name="TextBox 20"/>
            <p:cNvSpPr txBox="1"/>
            <p:nvPr/>
          </p:nvSpPr>
          <p:spPr>
            <a:xfrm>
              <a:off x="571119" y="1397000"/>
              <a:ext cx="620268" cy="381381"/>
            </a:xfrm>
            <a:prstGeom prst="rect">
              <a:avLst/>
            </a:prstGeom>
            <a:noFill/>
            <a:ln>
              <a:noFill/>
            </a:ln>
          </p:spPr>
          <p:txBody>
            <a:bodyPr wrap="none" lIns="0" tIns="0" rIns="0" bIns="0" anchor="t" anchorCtr="0">
              <a:spAutoFit/>
            </a:bodyPr>
            <a:lstStyle/>
            <a:p>
              <a:pPr algn="l"/>
              <a:r>
                <a:rPr lang="zh-CN" sz="1950" b="1" dirty="0">
                  <a:solidFill>
                    <a:srgbClr val="9E423D"/>
                  </a:solidFill>
                  <a:latin typeface="Microsoft YaHei"/>
                  <a:ea typeface="Microsoft YaHei"/>
                  <a:cs typeface="Microsoft YaHei"/>
                </a:rPr>
                <a:t>锥刺</a:t>
              </a:r>
            </a:p>
          </p:txBody>
        </p:sp>
        <p:sp>
          <p:nvSpPr>
            <p:cNvPr id="21" name="TextBox 21"/>
            <p:cNvSpPr txBox="1"/>
            <p:nvPr/>
          </p:nvSpPr>
          <p:spPr>
            <a:xfrm>
              <a:off x="573405" y="1851025"/>
              <a:ext cx="231648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重点观察纱线分离与推挤</a:t>
              </a:r>
            </a:p>
          </p:txBody>
        </p:sp>
        <p:sp>
          <p:nvSpPr>
            <p:cNvPr id="22" name="TextBox 22"/>
            <p:cNvSpPr txBox="1"/>
            <p:nvPr/>
          </p:nvSpPr>
          <p:spPr>
            <a:xfrm>
              <a:off x="573405" y="2155825"/>
              <a:ext cx="251841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记录滑移、扩孔和局部约束</a:t>
              </a:r>
            </a:p>
          </p:txBody>
        </p:sp>
      </p:grpSp>
      <p:grpSp>
        <p:nvGrpSpPr>
          <p:cNvPr id="28" name="penetration-1"/>
          <p:cNvGrpSpPr/>
          <p:nvPr/>
        </p:nvGrpSpPr>
        <p:grpSpPr>
          <a:xfrm>
            <a:off x="4676775" y="1276350"/>
            <a:ext cx="4095750" cy="1381125"/>
            <a:chOff x="4676775" y="1276350"/>
            <a:chExt cx="4095750" cy="1381125"/>
          </a:xfrm>
        </p:grpSpPr>
        <p:sp>
          <p:nvSpPr>
            <p:cNvPr id="24" name="Rectangle 24"/>
            <p:cNvSpPr/>
            <p:nvPr/>
          </p:nvSpPr>
          <p:spPr>
            <a:xfrm>
              <a:off x="4676775" y="1276350"/>
              <a:ext cx="4095750" cy="1381125"/>
            </a:xfrm>
            <a:prstGeom prst="roundRect">
              <a:avLst>
                <a:gd name="adj" fmla="val 4828"/>
              </a:avLst>
            </a:prstGeom>
            <a:solidFill>
              <a:srgbClr val="F6F2EE"/>
            </a:solidFill>
            <a:ln>
              <a:noFill/>
            </a:ln>
          </p:spPr>
        </p:sp>
        <p:sp>
          <p:nvSpPr>
            <p:cNvPr id="25" name="TextBox 25"/>
            <p:cNvSpPr txBox="1"/>
            <p:nvPr/>
          </p:nvSpPr>
          <p:spPr>
            <a:xfrm>
              <a:off x="4866894" y="1397000"/>
              <a:ext cx="620268" cy="381381"/>
            </a:xfrm>
            <a:prstGeom prst="rect">
              <a:avLst/>
            </a:prstGeom>
            <a:noFill/>
            <a:ln>
              <a:noFill/>
            </a:ln>
          </p:spPr>
          <p:txBody>
            <a:bodyPr wrap="none" lIns="0" tIns="0" rIns="0" bIns="0" anchor="t" anchorCtr="0">
              <a:spAutoFit/>
            </a:bodyPr>
            <a:lstStyle/>
            <a:p>
              <a:pPr algn="l"/>
              <a:r>
                <a:rPr lang="zh-CN" sz="1950" b="1" dirty="0">
                  <a:solidFill>
                    <a:srgbClr val="9E423D"/>
                  </a:solidFill>
                  <a:latin typeface="Microsoft YaHei"/>
                  <a:ea typeface="Microsoft YaHei"/>
                  <a:cs typeface="Microsoft YaHei"/>
                </a:rPr>
                <a:t>刀刺</a:t>
              </a:r>
            </a:p>
          </p:txBody>
        </p:sp>
        <p:sp>
          <p:nvSpPr>
            <p:cNvPr id="26" name="TextBox 26"/>
            <p:cNvSpPr txBox="1"/>
            <p:nvPr/>
          </p:nvSpPr>
          <p:spPr>
            <a:xfrm>
              <a:off x="4869180" y="1851025"/>
              <a:ext cx="231648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重点观察刀刃接触与切断</a:t>
              </a:r>
            </a:p>
          </p:txBody>
        </p:sp>
        <p:sp>
          <p:nvSpPr>
            <p:cNvPr id="27" name="TextBox 27"/>
            <p:cNvSpPr txBox="1"/>
            <p:nvPr/>
          </p:nvSpPr>
          <p:spPr>
            <a:xfrm>
              <a:off x="4869180" y="2155825"/>
              <a:ext cx="2518410" cy="293370"/>
            </a:xfrm>
            <a:prstGeom prst="rect">
              <a:avLst/>
            </a:prstGeom>
            <a:noFill/>
            <a:ln>
              <a:noFill/>
            </a:ln>
          </p:spPr>
          <p:txBody>
            <a:bodyPr wrap="none" lIns="0" tIns="0" rIns="0" bIns="0" anchor="t" anchorCtr="0">
              <a:spAutoFit/>
            </a:bodyPr>
            <a:lstStyle/>
            <a:p>
              <a:pPr algn="l"/>
              <a:r>
                <a:rPr lang="zh-CN" sz="1500" dirty="0">
                  <a:solidFill>
                    <a:srgbClr val="29343A"/>
                  </a:solidFill>
                  <a:latin typeface="Microsoft YaHei"/>
                  <a:ea typeface="Microsoft YaHei"/>
                  <a:cs typeface="Microsoft YaHei"/>
                </a:rPr>
                <a:t>记录切口、断纤与承载路径</a:t>
              </a:r>
            </a:p>
          </p:txBody>
        </p:sp>
      </p:grpSp>
      <p:grpSp>
        <p:nvGrpSpPr>
          <p:cNvPr id="41" name="concentration-series"/>
          <p:cNvGrpSpPr/>
          <p:nvPr/>
        </p:nvGrpSpPr>
        <p:grpSpPr>
          <a:xfrm>
            <a:off x="392049" y="2857500"/>
            <a:ext cx="8370951" cy="1309116"/>
            <a:chOff x="392049" y="2857500"/>
            <a:chExt cx="8370951" cy="1309116"/>
          </a:xfrm>
        </p:grpSpPr>
        <p:sp>
          <p:nvSpPr>
            <p:cNvPr id="29" name="TextBox 29"/>
            <p:cNvSpPr txBox="1"/>
            <p:nvPr/>
          </p:nvSpPr>
          <p:spPr>
            <a:xfrm>
              <a:off x="393954" y="2857500"/>
              <a:ext cx="741426" cy="234696"/>
            </a:xfrm>
            <a:prstGeom prst="rect">
              <a:avLst/>
            </a:prstGeom>
            <a:noFill/>
            <a:ln>
              <a:noFill/>
            </a:ln>
          </p:spPr>
          <p:txBody>
            <a:bodyPr wrap="none" lIns="0" tIns="0" rIns="0" bIns="0" anchor="t" anchorCtr="0">
              <a:spAutoFit/>
            </a:bodyPr>
            <a:lstStyle/>
            <a:p>
              <a:pPr algn="l"/>
              <a:r>
                <a:rPr lang="zh-CN" sz="1200" b="1" dirty="0">
                  <a:solidFill>
                    <a:srgbClr val="246D73"/>
                  </a:solidFill>
                  <a:latin typeface="Microsoft YaHei"/>
                  <a:ea typeface="Microsoft YaHei"/>
                  <a:cs typeface="Microsoft YaHei"/>
                </a:rPr>
                <a:t>建议对照</a:t>
              </a:r>
            </a:p>
          </p:txBody>
        </p:sp>
        <p:sp>
          <p:nvSpPr>
            <p:cNvPr id="30" name="Rectangle 30"/>
            <p:cNvSpPr/>
            <p:nvPr/>
          </p:nvSpPr>
          <p:spPr>
            <a:xfrm>
              <a:off x="409575" y="3209925"/>
              <a:ext cx="1571625" cy="438150"/>
            </a:xfrm>
            <a:prstGeom prst="roundRect">
              <a:avLst>
                <a:gd name="adj" fmla="val 10870"/>
              </a:avLst>
            </a:prstGeom>
            <a:solidFill>
              <a:srgbClr val="FFFFFF"/>
            </a:solidFill>
            <a:ln w="9525">
              <a:solidFill>
                <a:srgbClr val="DADDDC"/>
              </a:solidFill>
            </a:ln>
          </p:spPr>
        </p:sp>
        <p:sp>
          <p:nvSpPr>
            <p:cNvPr id="31" name="TextBox 31"/>
            <p:cNvSpPr txBox="1"/>
            <p:nvPr/>
          </p:nvSpPr>
          <p:spPr>
            <a:xfrm>
              <a:off x="688657" y="3330575"/>
              <a:ext cx="1003935" cy="264033"/>
            </a:xfrm>
            <a:prstGeom prst="rect">
              <a:avLst/>
            </a:prstGeom>
            <a:noFill/>
            <a:ln>
              <a:noFill/>
            </a:ln>
          </p:spPr>
          <p:txBody>
            <a:bodyPr wrap="none" lIns="0" tIns="0" rIns="0" bIns="0" anchor="t" anchorCtr="0">
              <a:spAutoFit/>
            </a:bodyPr>
            <a:lstStyle/>
            <a:p>
              <a:pPr algn="ctr"/>
              <a:r>
                <a:rPr lang="zh-CN" sz="1350" b="1" dirty="0">
                  <a:solidFill>
                    <a:srgbClr val="29343A"/>
                  </a:solidFill>
                  <a:latin typeface="Microsoft YaHei"/>
                  <a:ea typeface="Microsoft YaHei"/>
                  <a:cs typeface="Microsoft YaHei"/>
                </a:rPr>
                <a:t>未处理织物</a:t>
              </a:r>
            </a:p>
          </p:txBody>
        </p:sp>
        <p:sp>
          <p:nvSpPr>
            <p:cNvPr id="32" name="Rectangle 32"/>
            <p:cNvSpPr/>
            <p:nvPr/>
          </p:nvSpPr>
          <p:spPr>
            <a:xfrm>
              <a:off x="2105025" y="3209925"/>
              <a:ext cx="1571625" cy="438150"/>
            </a:xfrm>
            <a:prstGeom prst="roundRect">
              <a:avLst>
                <a:gd name="adj" fmla="val 10870"/>
              </a:avLst>
            </a:prstGeom>
            <a:solidFill>
              <a:srgbClr val="FFFFFF"/>
            </a:solidFill>
            <a:ln w="9525">
              <a:solidFill>
                <a:srgbClr val="DADDDC"/>
              </a:solidFill>
            </a:ln>
          </p:spPr>
        </p:sp>
        <p:sp>
          <p:nvSpPr>
            <p:cNvPr id="33" name="TextBox 33"/>
            <p:cNvSpPr txBox="1"/>
            <p:nvPr/>
          </p:nvSpPr>
          <p:spPr>
            <a:xfrm>
              <a:off x="2384107" y="3330575"/>
              <a:ext cx="1003935" cy="264033"/>
            </a:xfrm>
            <a:prstGeom prst="rect">
              <a:avLst/>
            </a:prstGeom>
            <a:noFill/>
            <a:ln>
              <a:noFill/>
            </a:ln>
          </p:spPr>
          <p:txBody>
            <a:bodyPr wrap="none" lIns="0" tIns="0" rIns="0" bIns="0" anchor="t" anchorCtr="0">
              <a:spAutoFit/>
            </a:bodyPr>
            <a:lstStyle/>
            <a:p>
              <a:pPr algn="ctr"/>
              <a:r>
                <a:rPr lang="zh-CN" sz="1350" b="1" dirty="0">
                  <a:solidFill>
                    <a:srgbClr val="29343A"/>
                  </a:solidFill>
                  <a:latin typeface="Microsoft YaHei"/>
                  <a:ea typeface="Microsoft YaHei"/>
                  <a:cs typeface="Microsoft YaHei"/>
                </a:rPr>
                <a:t>仅基体处理</a:t>
              </a:r>
            </a:p>
          </p:txBody>
        </p:sp>
        <p:sp>
          <p:nvSpPr>
            <p:cNvPr id="34" name="Rectangle 34"/>
            <p:cNvSpPr/>
            <p:nvPr/>
          </p:nvSpPr>
          <p:spPr>
            <a:xfrm>
              <a:off x="3800475" y="3209925"/>
              <a:ext cx="1571625" cy="438150"/>
            </a:xfrm>
            <a:prstGeom prst="roundRect">
              <a:avLst>
                <a:gd name="adj" fmla="val 10870"/>
              </a:avLst>
            </a:prstGeom>
            <a:solidFill>
              <a:srgbClr val="FFFFFF"/>
            </a:solidFill>
            <a:ln w="9525">
              <a:solidFill>
                <a:srgbClr val="DADDDC"/>
              </a:solidFill>
            </a:ln>
          </p:spPr>
        </p:sp>
        <p:sp>
          <p:nvSpPr>
            <p:cNvPr id="35" name="TextBox 35"/>
            <p:cNvSpPr txBox="1"/>
            <p:nvPr/>
          </p:nvSpPr>
          <p:spPr>
            <a:xfrm>
              <a:off x="4079557" y="3330575"/>
              <a:ext cx="1003935" cy="264033"/>
            </a:xfrm>
            <a:prstGeom prst="rect">
              <a:avLst/>
            </a:prstGeom>
            <a:noFill/>
            <a:ln>
              <a:noFill/>
            </a:ln>
          </p:spPr>
          <p:txBody>
            <a:bodyPr wrap="none" lIns="0" tIns="0" rIns="0" bIns="0" anchor="t" anchorCtr="0">
              <a:spAutoFit/>
            </a:bodyPr>
            <a:lstStyle/>
            <a:p>
              <a:pPr algn="ctr"/>
              <a:r>
                <a:rPr lang="zh-CN" sz="1350" b="1" dirty="0">
                  <a:solidFill>
                    <a:srgbClr val="29343A"/>
                  </a:solidFill>
                  <a:latin typeface="Microsoft YaHei"/>
                  <a:ea typeface="Microsoft YaHei"/>
                  <a:cs typeface="Microsoft YaHei"/>
                </a:rPr>
                <a:t>低添加水平</a:t>
              </a:r>
            </a:p>
          </p:txBody>
        </p:sp>
        <p:sp>
          <p:nvSpPr>
            <p:cNvPr id="36" name="Rectangle 36"/>
            <p:cNvSpPr/>
            <p:nvPr/>
          </p:nvSpPr>
          <p:spPr>
            <a:xfrm>
              <a:off x="5495925" y="3209925"/>
              <a:ext cx="1571625" cy="438150"/>
            </a:xfrm>
            <a:prstGeom prst="roundRect">
              <a:avLst>
                <a:gd name="adj" fmla="val 10870"/>
              </a:avLst>
            </a:prstGeom>
            <a:solidFill>
              <a:srgbClr val="FFFFFF"/>
            </a:solidFill>
            <a:ln w="9525">
              <a:solidFill>
                <a:srgbClr val="DADDDC"/>
              </a:solidFill>
            </a:ln>
          </p:spPr>
        </p:sp>
        <p:sp>
          <p:nvSpPr>
            <p:cNvPr id="37" name="TextBox 37"/>
            <p:cNvSpPr txBox="1"/>
            <p:nvPr/>
          </p:nvSpPr>
          <p:spPr>
            <a:xfrm>
              <a:off x="5775007" y="3330575"/>
              <a:ext cx="1003935" cy="264033"/>
            </a:xfrm>
            <a:prstGeom prst="rect">
              <a:avLst/>
            </a:prstGeom>
            <a:noFill/>
            <a:ln>
              <a:noFill/>
            </a:ln>
          </p:spPr>
          <p:txBody>
            <a:bodyPr wrap="none" lIns="0" tIns="0" rIns="0" bIns="0" anchor="t" anchorCtr="0">
              <a:spAutoFit/>
            </a:bodyPr>
            <a:lstStyle/>
            <a:p>
              <a:pPr algn="ctr"/>
              <a:r>
                <a:rPr lang="zh-CN" sz="1350" b="1" dirty="0">
                  <a:solidFill>
                    <a:srgbClr val="29343A"/>
                  </a:solidFill>
                  <a:latin typeface="Microsoft YaHei"/>
                  <a:ea typeface="Microsoft YaHei"/>
                  <a:cs typeface="Microsoft YaHei"/>
                </a:rPr>
                <a:t>中添加水平</a:t>
              </a:r>
            </a:p>
          </p:txBody>
        </p:sp>
        <p:sp>
          <p:nvSpPr>
            <p:cNvPr id="38" name="Rectangle 38"/>
            <p:cNvSpPr/>
            <p:nvPr/>
          </p:nvSpPr>
          <p:spPr>
            <a:xfrm>
              <a:off x="7191375" y="3209925"/>
              <a:ext cx="1571625" cy="438150"/>
            </a:xfrm>
            <a:prstGeom prst="roundRect">
              <a:avLst>
                <a:gd name="adj" fmla="val 10870"/>
              </a:avLst>
            </a:prstGeom>
            <a:solidFill>
              <a:srgbClr val="FFFFFF"/>
            </a:solidFill>
            <a:ln w="9525">
              <a:solidFill>
                <a:srgbClr val="DADDDC"/>
              </a:solidFill>
            </a:ln>
          </p:spPr>
        </p:sp>
        <p:sp>
          <p:nvSpPr>
            <p:cNvPr id="39" name="TextBox 39"/>
            <p:cNvSpPr txBox="1"/>
            <p:nvPr/>
          </p:nvSpPr>
          <p:spPr>
            <a:xfrm>
              <a:off x="7470457" y="3330575"/>
              <a:ext cx="1003935" cy="264033"/>
            </a:xfrm>
            <a:prstGeom prst="rect">
              <a:avLst/>
            </a:prstGeom>
            <a:noFill/>
            <a:ln>
              <a:noFill/>
            </a:ln>
          </p:spPr>
          <p:txBody>
            <a:bodyPr wrap="none" lIns="0" tIns="0" rIns="0" bIns="0" anchor="t" anchorCtr="0">
              <a:spAutoFit/>
            </a:bodyPr>
            <a:lstStyle/>
            <a:p>
              <a:pPr algn="ctr"/>
              <a:r>
                <a:rPr lang="zh-CN" sz="1350" b="1" dirty="0">
                  <a:solidFill>
                    <a:srgbClr val="29343A"/>
                  </a:solidFill>
                  <a:latin typeface="Microsoft YaHei"/>
                  <a:ea typeface="Microsoft YaHei"/>
                  <a:cs typeface="Microsoft YaHei"/>
                </a:rPr>
                <a:t>高添加水平</a:t>
              </a:r>
            </a:p>
          </p:txBody>
        </p:sp>
        <p:sp>
          <p:nvSpPr>
            <p:cNvPr id="40" name="TextBox 40"/>
            <p:cNvSpPr txBox="1"/>
            <p:nvPr/>
          </p:nvSpPr>
          <p:spPr>
            <a:xfrm>
              <a:off x="392049" y="3857625"/>
              <a:ext cx="6031992" cy="308991"/>
            </a:xfrm>
            <a:prstGeom prst="rect">
              <a:avLst/>
            </a:prstGeom>
            <a:noFill/>
            <a:ln>
              <a:noFill/>
            </a:ln>
          </p:spPr>
          <p:txBody>
            <a:bodyPr wrap="none" lIns="0" tIns="0" rIns="0" bIns="0" anchor="t" anchorCtr="0">
              <a:spAutoFit/>
            </a:bodyPr>
            <a:lstStyle/>
            <a:p>
              <a:pPr algn="l"/>
              <a:r>
                <a:rPr lang="zh-CN" sz="1580" dirty="0">
                  <a:solidFill>
                    <a:srgbClr val="29343A"/>
                  </a:solidFill>
                  <a:latin typeface="Microsoft YaHei"/>
                  <a:ea typeface="Microsoft YaHei"/>
                  <a:cs typeface="Microsoft YaHei"/>
                </a:rPr>
                <a:t>固定织物与加工条件；穿透功、峰值载荷和弯曲柔性联合评价。</a:t>
              </a:r>
            </a:p>
          </p:txBody>
        </p:sp>
      </p:grpSp>
      <p:grpSp>
        <p:nvGrpSpPr>
          <p:cNvPr id="45" name="takeaway"/>
          <p:cNvGrpSpPr/>
          <p:nvPr/>
        </p:nvGrpSpPr>
        <p:grpSpPr>
          <a:xfrm>
            <a:off x="361950" y="4419600"/>
            <a:ext cx="8420100" cy="361950"/>
            <a:chOff x="361950" y="4419600"/>
            <a:chExt cx="8420100" cy="361950"/>
          </a:xfrm>
        </p:grpSpPr>
        <p:sp>
          <p:nvSpPr>
            <p:cNvPr id="42" name="Rectangle 42"/>
            <p:cNvSpPr/>
            <p:nvPr/>
          </p:nvSpPr>
          <p:spPr>
            <a:xfrm>
              <a:off x="361950" y="4419600"/>
              <a:ext cx="8420100" cy="361950"/>
            </a:xfrm>
            <a:prstGeom prst="rect">
              <a:avLst/>
            </a:prstGeom>
            <a:solidFill>
              <a:srgbClr val="F6F2EE"/>
            </a:solidFill>
            <a:ln>
              <a:noFill/>
            </a:ln>
          </p:spPr>
        </p:sp>
        <p:sp>
          <p:nvSpPr>
            <p:cNvPr id="43" name="Rectangle 43"/>
            <p:cNvSpPr/>
            <p:nvPr/>
          </p:nvSpPr>
          <p:spPr>
            <a:xfrm>
              <a:off x="361950" y="4419600"/>
              <a:ext cx="38100" cy="361950"/>
            </a:xfrm>
            <a:prstGeom prst="rect">
              <a:avLst/>
            </a:prstGeom>
            <a:solidFill>
              <a:srgbClr val="9E423D"/>
            </a:solidFill>
            <a:ln>
              <a:noFill/>
            </a:ln>
          </p:spPr>
        </p:sp>
        <p:sp>
          <p:nvSpPr>
            <p:cNvPr id="44" name="TextBox 44"/>
            <p:cNvSpPr txBox="1"/>
            <p:nvPr/>
          </p:nvSpPr>
          <p:spPr>
            <a:xfrm>
              <a:off x="497967" y="4492625"/>
              <a:ext cx="5547360" cy="264033"/>
            </a:xfrm>
            <a:prstGeom prst="rect">
              <a:avLst/>
            </a:prstGeom>
            <a:noFill/>
            <a:ln>
              <a:noFill/>
            </a:ln>
          </p:spPr>
          <p:txBody>
            <a:bodyPr wrap="none" lIns="0" tIns="0" rIns="0" bIns="0" anchor="t" anchorCtr="0">
              <a:spAutoFit/>
            </a:bodyPr>
            <a:lstStyle/>
            <a:p>
              <a:pPr algn="l"/>
              <a:r>
                <a:rPr lang="zh-CN" sz="1350" b="1" dirty="0">
                  <a:solidFill>
                    <a:srgbClr val="9E423D"/>
                  </a:solidFill>
                  <a:latin typeface="Microsoft YaHei"/>
                  <a:ea typeface="Microsoft YaHei"/>
                  <a:cs typeface="Microsoft YaHei"/>
                </a:rPr>
                <a:t>添加量效应可能受分散、团聚与柔性损失共同影响，趋势必须实测。</a:t>
              </a:r>
            </a:p>
          </p:txBody>
        </p:sp>
      </p:grpSp>
    </p:spTree>
  </p:cSld>
  <p:clrMapOvr>
    <a:masterClrMapping/>
  </p:clrMapOvr>
  <p:transition advClick="1"/>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 name="矩形 8"/>
          <p:cNvSpPr/>
          <p:nvPr/>
        </p:nvSpPr>
        <p:spPr>
          <a:xfrm>
            <a:off x="-10066" y="597600"/>
            <a:ext cx="9154065" cy="72000"/>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0" y="-7934"/>
            <a:ext cx="9144000" cy="556614"/>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p:cNvPicPr>
            <a:picLocks noChangeAspect="1"/>
          </p:cNvPicPr>
          <p:nvPr>
            <p:custDataLst>
              <p:tags r:id="rId1"/>
            </p:custDataLst>
          </p:nvPr>
        </p:nvPicPr>
        <p:blipFill>
          <a:blip r:embed="rId4"/>
          <a:srcRect l="1701" t="2985" r="4812" b="1949"/>
          <a:stretch>
            <a:fillRect/>
          </a:stretch>
        </p:blipFill>
        <p:spPr>
          <a:xfrm>
            <a:off x="135376" y="17739"/>
            <a:ext cx="509847" cy="514223"/>
          </a:xfrm>
          <a:prstGeom prst="ellipse">
            <a:avLst/>
          </a:prstGeom>
        </p:spPr>
      </p:pic>
      <p:grpSp>
        <p:nvGrpSpPr>
          <p:cNvPr id="6" name="page-title"/>
          <p:cNvGrpSpPr/>
          <p:nvPr/>
        </p:nvGrpSpPr>
        <p:grpSpPr>
          <a:xfrm>
            <a:off x="789813" y="120650"/>
            <a:ext cx="3827628" cy="396050"/>
            <a:chOff x="789813" y="120650"/>
            <a:chExt cx="3827628" cy="396050"/>
          </a:xfrm>
        </p:grpSpPr>
        <p:sp>
          <p:nvSpPr>
            <p:cNvPr id="5" name="TextBox 5"/>
            <p:cNvSpPr txBox="1"/>
            <p:nvPr/>
          </p:nvSpPr>
          <p:spPr>
            <a:xfrm>
              <a:off x="789813" y="120650"/>
              <a:ext cx="3911727" cy="396050"/>
            </a:xfrm>
            <a:prstGeom prst="rect">
              <a:avLst/>
            </a:prstGeom>
            <a:noFill/>
            <a:ln>
              <a:noFill/>
            </a:ln>
          </p:spPr>
          <p:txBody>
            <a:bodyPr wrap="none" lIns="0" tIns="0" rIns="0" bIns="0" anchor="t" anchorCtr="0">
              <a:spAutoFit/>
            </a:bodyPr>
            <a:lstStyle/>
            <a:p>
              <a:pPr algn="l"/>
              <a:r>
                <a:rPr lang="zh-CN" sz="2020" b="1" dirty="0">
                  <a:solidFill>
                    <a:srgbClr val="FFFFFF"/>
                  </a:solidFill>
                  <a:latin typeface="Microsoft YaHei"/>
                  <a:ea typeface="Microsoft YaHei"/>
                  <a:cs typeface="Microsoft YaHei"/>
                </a:rPr>
                <a:t>织物铺层角度对防刺性能的调控</a:t>
              </a:r>
            </a:p>
          </p:txBody>
        </p:sp>
      </p:grpSp>
      <p:grpSp>
        <p:nvGrpSpPr>
          <p:cNvPr id="12" name="page-footer"/>
          <p:cNvGrpSpPr/>
          <p:nvPr/>
        </p:nvGrpSpPr>
        <p:grpSpPr>
          <a:xfrm>
            <a:off x="366712" y="4905375"/>
            <a:ext cx="8405813" cy="233362"/>
            <a:chOff x="366712" y="4905375"/>
            <a:chExt cx="8405813" cy="233362"/>
          </a:xfrm>
        </p:grpSpPr>
        <p:sp>
          <p:nvSpPr>
            <p:cNvPr id="7" name="Line 7"/>
            <p:cNvSpPr/>
            <p:nvPr/>
          </p:nvSpPr>
          <p:spPr>
            <a:xfrm>
              <a:off x="371475" y="4905375"/>
              <a:ext cx="8401050" cy="9525"/>
            </a:xfrm>
            <a:custGeom>
              <a:avLst/>
              <a:gdLst/>
              <a:ahLst/>
              <a:cxnLst/>
              <a:rect l="l" t="t" r="r" b="b"/>
              <a:pathLst>
                <a:path w="8401050" h="9525">
                  <a:moveTo>
                    <a:pt x="0" y="0"/>
                  </a:moveTo>
                  <a:lnTo>
                    <a:pt x="8401050" y="0"/>
                  </a:lnTo>
                </a:path>
              </a:pathLst>
            </a:custGeom>
            <a:noFill/>
            <a:ln w="9525">
              <a:solidFill>
                <a:srgbClr val="DADDDC"/>
              </a:solidFill>
            </a:ln>
          </p:spPr>
        </p:sp>
        <p:sp>
          <p:nvSpPr>
            <p:cNvPr id="8" name="TextBox 8"/>
            <p:cNvSpPr txBox="1"/>
            <p:nvPr/>
          </p:nvSpPr>
          <p:spPr>
            <a:xfrm>
              <a:off x="366712" y="4962525"/>
              <a:ext cx="1893216"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芳纶柔性复合材料 / 纺织学生论坛</a:t>
              </a:r>
            </a:p>
          </p:txBody>
        </p:sp>
        <p:sp>
          <p:nvSpPr>
            <p:cNvPr id="10" name="TextBox 10"/>
            <p:cNvSpPr txBox="1"/>
            <p:nvPr/>
          </p:nvSpPr>
          <p:spPr>
            <a:xfrm>
              <a:off x="6519862" y="4962525"/>
              <a:ext cx="1065579"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研究二 · 铺层调控</a:t>
              </a:r>
            </a:p>
          </p:txBody>
        </p:sp>
        <p:sp>
          <p:nvSpPr>
            <p:cNvPr id="11" name="TextBox 11"/>
            <p:cNvSpPr txBox="1"/>
            <p:nvPr/>
          </p:nvSpPr>
          <p:spPr>
            <a:xfrm>
              <a:off x="8301781" y="4962525"/>
              <a:ext cx="465981" cy="176212"/>
            </a:xfrm>
            <a:prstGeom prst="rect">
              <a:avLst/>
            </a:prstGeom>
            <a:noFill/>
            <a:ln>
              <a:noFill/>
            </a:ln>
          </p:spPr>
          <p:txBody>
            <a:bodyPr wrap="none" lIns="0" tIns="0" rIns="0" bIns="0" anchor="t" anchorCtr="0">
              <a:spAutoFit/>
            </a:bodyPr>
            <a:lstStyle/>
            <a:p>
              <a:pPr algn="r"/>
              <a:r>
                <a:rPr lang="zh-CN" sz="900" dirty="0">
                  <a:solidFill>
                    <a:srgbClr val="69747A"/>
                  </a:solidFill>
                  <a:latin typeface="Microsoft YaHei"/>
                  <a:ea typeface="Microsoft YaHei"/>
                  <a:cs typeface="Microsoft YaHei"/>
                </a:rPr>
                <a:t>12 / 14</a:t>
              </a:r>
            </a:p>
          </p:txBody>
        </p:sp>
      </p:grpSp>
      <p:grpSp>
        <p:nvGrpSpPr>
          <p:cNvPr id="17" name="context"/>
          <p:cNvGrpSpPr/>
          <p:nvPr/>
        </p:nvGrpSpPr>
        <p:grpSpPr>
          <a:xfrm>
            <a:off x="364998" y="771525"/>
            <a:ext cx="8417052" cy="278892"/>
            <a:chOff x="364998" y="771525"/>
            <a:chExt cx="8417052" cy="278892"/>
          </a:xfrm>
        </p:grpSpPr>
        <p:sp>
          <p:nvSpPr>
            <p:cNvPr id="14" name="TextBox 14"/>
            <p:cNvSpPr txBox="1"/>
            <p:nvPr/>
          </p:nvSpPr>
          <p:spPr>
            <a:xfrm>
              <a:off x="364998" y="800100"/>
              <a:ext cx="3871341" cy="250317"/>
            </a:xfrm>
            <a:prstGeom prst="rect">
              <a:avLst/>
            </a:prstGeom>
            <a:noFill/>
            <a:ln>
              <a:noFill/>
            </a:ln>
          </p:spPr>
          <p:txBody>
            <a:bodyPr wrap="none" lIns="0" tIns="0" rIns="0" bIns="0" anchor="t" anchorCtr="0">
              <a:spAutoFit/>
            </a:bodyPr>
            <a:lstStyle/>
            <a:p>
              <a:pPr algn="l"/>
              <a:r>
                <a:rPr lang="zh-CN" sz="1280" dirty="0">
                  <a:solidFill>
                    <a:srgbClr val="69747A"/>
                  </a:solidFill>
                  <a:latin typeface="Microsoft YaHei"/>
                  <a:ea typeface="Microsoft YaHei"/>
                  <a:cs typeface="Microsoft YaHei"/>
                </a:rPr>
                <a:t>在层数与面密度不变的条件下，比较不同角度组合</a:t>
              </a:r>
            </a:p>
          </p:txBody>
        </p:sp>
        <p:sp>
          <p:nvSpPr>
            <p:cNvPr id="15" name="Rectangle 15"/>
            <p:cNvSpPr/>
            <p:nvPr/>
          </p:nvSpPr>
          <p:spPr>
            <a:xfrm>
              <a:off x="7715250" y="771525"/>
              <a:ext cx="1066800" cy="247650"/>
            </a:xfrm>
            <a:prstGeom prst="roundRect">
              <a:avLst>
                <a:gd name="adj" fmla="val 15385"/>
              </a:avLst>
            </a:prstGeom>
            <a:solidFill>
              <a:srgbClr val="F6F2EE"/>
            </a:solidFill>
            <a:ln>
              <a:noFill/>
            </a:ln>
          </p:spPr>
        </p:sp>
        <p:sp>
          <p:nvSpPr>
            <p:cNvPr id="16" name="TextBox 16"/>
            <p:cNvSpPr txBox="1"/>
            <p:nvPr/>
          </p:nvSpPr>
          <p:spPr>
            <a:xfrm>
              <a:off x="8061960" y="828675"/>
              <a:ext cx="620268" cy="191643"/>
            </a:xfrm>
            <a:prstGeom prst="rect">
              <a:avLst/>
            </a:prstGeom>
            <a:noFill/>
            <a:ln>
              <a:noFill/>
            </a:ln>
          </p:spPr>
          <p:txBody>
            <a:bodyPr wrap="none" lIns="0" tIns="0" rIns="0" bIns="0" anchor="t" anchorCtr="0">
              <a:spAutoFit/>
            </a:bodyPr>
            <a:lstStyle/>
            <a:p>
              <a:pPr algn="r"/>
              <a:r>
                <a:rPr lang="zh-CN" sz="980" b="1" dirty="0">
                  <a:solidFill>
                    <a:srgbClr val="9E423D"/>
                  </a:solidFill>
                  <a:latin typeface="Microsoft YaHei"/>
                  <a:ea typeface="Microsoft YaHei"/>
                  <a:cs typeface="Microsoft YaHei"/>
                </a:rPr>
                <a:t>结构方案</a:t>
              </a:r>
            </a:p>
          </p:txBody>
        </p:sp>
      </p:grpSp>
      <p:grpSp>
        <p:nvGrpSpPr>
          <p:cNvPr id="59" name="layup-comparison"/>
          <p:cNvGrpSpPr/>
          <p:nvPr/>
        </p:nvGrpSpPr>
        <p:grpSpPr>
          <a:xfrm>
            <a:off x="714375" y="1298575"/>
            <a:ext cx="7200900" cy="2498471"/>
            <a:chOff x="714375" y="1298575"/>
            <a:chExt cx="7200900" cy="2498471"/>
          </a:xfrm>
        </p:grpSpPr>
        <p:sp>
          <p:nvSpPr>
            <p:cNvPr id="19" name="TextBox 19"/>
            <p:cNvSpPr txBox="1"/>
            <p:nvPr/>
          </p:nvSpPr>
          <p:spPr>
            <a:xfrm>
              <a:off x="1706118" y="1298575"/>
              <a:ext cx="1064514" cy="352044"/>
            </a:xfrm>
            <a:prstGeom prst="rect">
              <a:avLst/>
            </a:prstGeom>
            <a:noFill/>
            <a:ln>
              <a:noFill/>
            </a:ln>
          </p:spPr>
          <p:txBody>
            <a:bodyPr wrap="none" lIns="0" tIns="0" rIns="0" bIns="0" anchor="t" anchorCtr="0">
              <a:spAutoFit/>
            </a:bodyPr>
            <a:lstStyle/>
            <a:p>
              <a:pPr algn="ctr"/>
              <a:r>
                <a:rPr lang="zh-CN" sz="1800" b="1" dirty="0">
                  <a:solidFill>
                    <a:srgbClr val="9E423D"/>
                  </a:solidFill>
                  <a:latin typeface="Microsoft YaHei"/>
                  <a:ea typeface="Microsoft YaHei"/>
                  <a:cs typeface="Microsoft YaHei"/>
                </a:rPr>
                <a:t>同向铺层</a:t>
              </a:r>
            </a:p>
          </p:txBody>
        </p:sp>
        <p:sp>
          <p:nvSpPr>
            <p:cNvPr id="20" name="Rectangle 20"/>
            <p:cNvSpPr/>
            <p:nvPr/>
          </p:nvSpPr>
          <p:spPr>
            <a:xfrm>
              <a:off x="714375" y="1762125"/>
              <a:ext cx="3057525" cy="1657350"/>
            </a:xfrm>
            <a:prstGeom prst="rect">
              <a:avLst/>
            </a:prstGeom>
            <a:solidFill>
              <a:srgbClr val="F6F2EE"/>
            </a:solidFill>
            <a:ln w="9525">
              <a:solidFill>
                <a:srgbClr val="DADDDC"/>
              </a:solidFill>
            </a:ln>
          </p:spPr>
        </p:sp>
        <p:sp>
          <p:nvSpPr>
            <p:cNvPr id="21" name="Line 21"/>
            <p:cNvSpPr/>
            <p:nvPr/>
          </p:nvSpPr>
          <p:spPr>
            <a:xfrm>
              <a:off x="952500" y="1914525"/>
              <a:ext cx="2562225" cy="9525"/>
            </a:xfrm>
            <a:custGeom>
              <a:avLst/>
              <a:gdLst/>
              <a:ahLst/>
              <a:cxnLst/>
              <a:rect l="l" t="t" r="r" b="b"/>
              <a:pathLst>
                <a:path w="2562225" h="9525">
                  <a:moveTo>
                    <a:pt x="0" y="0"/>
                  </a:moveTo>
                  <a:lnTo>
                    <a:pt x="2562225" y="0"/>
                  </a:lnTo>
                </a:path>
              </a:pathLst>
            </a:custGeom>
            <a:noFill/>
            <a:ln w="57150">
              <a:solidFill>
                <a:srgbClr val="BD9447"/>
              </a:solidFill>
            </a:ln>
          </p:spPr>
        </p:sp>
        <p:sp>
          <p:nvSpPr>
            <p:cNvPr id="22" name="Line 22"/>
            <p:cNvSpPr/>
            <p:nvPr/>
          </p:nvSpPr>
          <p:spPr>
            <a:xfrm>
              <a:off x="952500" y="2133600"/>
              <a:ext cx="2562225" cy="9525"/>
            </a:xfrm>
            <a:custGeom>
              <a:avLst/>
              <a:gdLst/>
              <a:ahLst/>
              <a:cxnLst/>
              <a:rect l="l" t="t" r="r" b="b"/>
              <a:pathLst>
                <a:path w="2562225" h="9525">
                  <a:moveTo>
                    <a:pt x="0" y="0"/>
                  </a:moveTo>
                  <a:lnTo>
                    <a:pt x="2562225" y="0"/>
                  </a:lnTo>
                </a:path>
              </a:pathLst>
            </a:custGeom>
            <a:noFill/>
            <a:ln w="57150">
              <a:solidFill>
                <a:srgbClr val="BD9447"/>
              </a:solidFill>
            </a:ln>
          </p:spPr>
        </p:sp>
        <p:sp>
          <p:nvSpPr>
            <p:cNvPr id="23" name="Line 23"/>
            <p:cNvSpPr/>
            <p:nvPr/>
          </p:nvSpPr>
          <p:spPr>
            <a:xfrm>
              <a:off x="952500" y="2352675"/>
              <a:ext cx="2562225" cy="9525"/>
            </a:xfrm>
            <a:custGeom>
              <a:avLst/>
              <a:gdLst/>
              <a:ahLst/>
              <a:cxnLst/>
              <a:rect l="l" t="t" r="r" b="b"/>
              <a:pathLst>
                <a:path w="2562225" h="9525">
                  <a:moveTo>
                    <a:pt x="0" y="0"/>
                  </a:moveTo>
                  <a:lnTo>
                    <a:pt x="2562225" y="0"/>
                  </a:lnTo>
                </a:path>
              </a:pathLst>
            </a:custGeom>
            <a:noFill/>
            <a:ln w="57150">
              <a:solidFill>
                <a:srgbClr val="BD9447"/>
              </a:solidFill>
            </a:ln>
          </p:spPr>
        </p:sp>
        <p:sp>
          <p:nvSpPr>
            <p:cNvPr id="24" name="Line 24"/>
            <p:cNvSpPr/>
            <p:nvPr/>
          </p:nvSpPr>
          <p:spPr>
            <a:xfrm>
              <a:off x="952500" y="2571750"/>
              <a:ext cx="2562225" cy="9525"/>
            </a:xfrm>
            <a:custGeom>
              <a:avLst/>
              <a:gdLst/>
              <a:ahLst/>
              <a:cxnLst/>
              <a:rect l="l" t="t" r="r" b="b"/>
              <a:pathLst>
                <a:path w="2562225" h="9525">
                  <a:moveTo>
                    <a:pt x="0" y="0"/>
                  </a:moveTo>
                  <a:lnTo>
                    <a:pt x="2562225" y="0"/>
                  </a:lnTo>
                </a:path>
              </a:pathLst>
            </a:custGeom>
            <a:noFill/>
            <a:ln w="57150">
              <a:solidFill>
                <a:srgbClr val="BD9447"/>
              </a:solidFill>
            </a:ln>
          </p:spPr>
        </p:sp>
        <p:sp>
          <p:nvSpPr>
            <p:cNvPr id="25" name="Line 25"/>
            <p:cNvSpPr/>
            <p:nvPr/>
          </p:nvSpPr>
          <p:spPr>
            <a:xfrm>
              <a:off x="952500" y="2790825"/>
              <a:ext cx="2562225" cy="9525"/>
            </a:xfrm>
            <a:custGeom>
              <a:avLst/>
              <a:gdLst/>
              <a:ahLst/>
              <a:cxnLst/>
              <a:rect l="l" t="t" r="r" b="b"/>
              <a:pathLst>
                <a:path w="2562225" h="9525">
                  <a:moveTo>
                    <a:pt x="0" y="0"/>
                  </a:moveTo>
                  <a:lnTo>
                    <a:pt x="2562225" y="0"/>
                  </a:lnTo>
                </a:path>
              </a:pathLst>
            </a:custGeom>
            <a:noFill/>
            <a:ln w="57150">
              <a:solidFill>
                <a:srgbClr val="BD9447"/>
              </a:solidFill>
            </a:ln>
          </p:spPr>
        </p:sp>
        <p:sp>
          <p:nvSpPr>
            <p:cNvPr id="26" name="Line 26"/>
            <p:cNvSpPr/>
            <p:nvPr/>
          </p:nvSpPr>
          <p:spPr>
            <a:xfrm>
              <a:off x="952500" y="3009900"/>
              <a:ext cx="2562225" cy="9525"/>
            </a:xfrm>
            <a:custGeom>
              <a:avLst/>
              <a:gdLst/>
              <a:ahLst/>
              <a:cxnLst/>
              <a:rect l="l" t="t" r="r" b="b"/>
              <a:pathLst>
                <a:path w="2562225" h="9525">
                  <a:moveTo>
                    <a:pt x="0" y="0"/>
                  </a:moveTo>
                  <a:lnTo>
                    <a:pt x="2562225" y="0"/>
                  </a:lnTo>
                </a:path>
              </a:pathLst>
            </a:custGeom>
            <a:noFill/>
            <a:ln w="57150">
              <a:solidFill>
                <a:srgbClr val="BD9447"/>
              </a:solidFill>
            </a:ln>
          </p:spPr>
        </p:sp>
        <p:sp>
          <p:nvSpPr>
            <p:cNvPr id="27" name="Line 27"/>
            <p:cNvSpPr/>
            <p:nvPr/>
          </p:nvSpPr>
          <p:spPr>
            <a:xfrm>
              <a:off x="952500" y="3228975"/>
              <a:ext cx="2562225" cy="9525"/>
            </a:xfrm>
            <a:custGeom>
              <a:avLst/>
              <a:gdLst/>
              <a:ahLst/>
              <a:cxnLst/>
              <a:rect l="l" t="t" r="r" b="b"/>
              <a:pathLst>
                <a:path w="2562225" h="9525">
                  <a:moveTo>
                    <a:pt x="0" y="0"/>
                  </a:moveTo>
                  <a:lnTo>
                    <a:pt x="2562225" y="0"/>
                  </a:lnTo>
                </a:path>
              </a:pathLst>
            </a:custGeom>
            <a:noFill/>
            <a:ln w="57150">
              <a:solidFill>
                <a:srgbClr val="BD9447"/>
              </a:solidFill>
            </a:ln>
          </p:spPr>
        </p:sp>
        <p:sp>
          <p:nvSpPr>
            <p:cNvPr id="28" name="Line 28"/>
            <p:cNvSpPr/>
            <p:nvPr/>
          </p:nvSpPr>
          <p:spPr>
            <a:xfrm>
              <a:off x="952500" y="1971675"/>
              <a:ext cx="2562225" cy="9525"/>
            </a:xfrm>
            <a:custGeom>
              <a:avLst/>
              <a:gdLst/>
              <a:ahLst/>
              <a:cxnLst/>
              <a:rect l="l" t="t" r="r" b="b"/>
              <a:pathLst>
                <a:path w="2562225" h="9525">
                  <a:moveTo>
                    <a:pt x="0" y="0"/>
                  </a:moveTo>
                  <a:lnTo>
                    <a:pt x="2562225" y="0"/>
                  </a:lnTo>
                </a:path>
              </a:pathLst>
            </a:custGeom>
            <a:noFill/>
            <a:ln w="28575">
              <a:solidFill>
                <a:srgbClr val="246D73"/>
              </a:solidFill>
            </a:ln>
          </p:spPr>
        </p:sp>
        <p:sp>
          <p:nvSpPr>
            <p:cNvPr id="29" name="Line 29"/>
            <p:cNvSpPr/>
            <p:nvPr/>
          </p:nvSpPr>
          <p:spPr>
            <a:xfrm>
              <a:off x="952500" y="2190750"/>
              <a:ext cx="2562225" cy="9525"/>
            </a:xfrm>
            <a:custGeom>
              <a:avLst/>
              <a:gdLst/>
              <a:ahLst/>
              <a:cxnLst/>
              <a:rect l="l" t="t" r="r" b="b"/>
              <a:pathLst>
                <a:path w="2562225" h="9525">
                  <a:moveTo>
                    <a:pt x="0" y="0"/>
                  </a:moveTo>
                  <a:lnTo>
                    <a:pt x="2562225" y="0"/>
                  </a:lnTo>
                </a:path>
              </a:pathLst>
            </a:custGeom>
            <a:noFill/>
            <a:ln w="28575">
              <a:solidFill>
                <a:srgbClr val="246D73"/>
              </a:solidFill>
            </a:ln>
          </p:spPr>
        </p:sp>
        <p:sp>
          <p:nvSpPr>
            <p:cNvPr id="30" name="Line 30"/>
            <p:cNvSpPr/>
            <p:nvPr/>
          </p:nvSpPr>
          <p:spPr>
            <a:xfrm>
              <a:off x="952500" y="2409825"/>
              <a:ext cx="2562225" cy="9525"/>
            </a:xfrm>
            <a:custGeom>
              <a:avLst/>
              <a:gdLst/>
              <a:ahLst/>
              <a:cxnLst/>
              <a:rect l="l" t="t" r="r" b="b"/>
              <a:pathLst>
                <a:path w="2562225" h="9525">
                  <a:moveTo>
                    <a:pt x="0" y="0"/>
                  </a:moveTo>
                  <a:lnTo>
                    <a:pt x="2562225" y="0"/>
                  </a:lnTo>
                </a:path>
              </a:pathLst>
            </a:custGeom>
            <a:noFill/>
            <a:ln w="28575">
              <a:solidFill>
                <a:srgbClr val="246D73"/>
              </a:solidFill>
            </a:ln>
          </p:spPr>
        </p:sp>
        <p:sp>
          <p:nvSpPr>
            <p:cNvPr id="31" name="Line 31"/>
            <p:cNvSpPr/>
            <p:nvPr/>
          </p:nvSpPr>
          <p:spPr>
            <a:xfrm>
              <a:off x="952500" y="2628900"/>
              <a:ext cx="2562225" cy="9525"/>
            </a:xfrm>
            <a:custGeom>
              <a:avLst/>
              <a:gdLst/>
              <a:ahLst/>
              <a:cxnLst/>
              <a:rect l="l" t="t" r="r" b="b"/>
              <a:pathLst>
                <a:path w="2562225" h="9525">
                  <a:moveTo>
                    <a:pt x="0" y="0"/>
                  </a:moveTo>
                  <a:lnTo>
                    <a:pt x="2562225" y="0"/>
                  </a:lnTo>
                </a:path>
              </a:pathLst>
            </a:custGeom>
            <a:noFill/>
            <a:ln w="28575">
              <a:solidFill>
                <a:srgbClr val="246D73"/>
              </a:solidFill>
            </a:ln>
          </p:spPr>
        </p:sp>
        <p:sp>
          <p:nvSpPr>
            <p:cNvPr id="32" name="Line 32"/>
            <p:cNvSpPr/>
            <p:nvPr/>
          </p:nvSpPr>
          <p:spPr>
            <a:xfrm>
              <a:off x="952500" y="2847975"/>
              <a:ext cx="2562225" cy="9525"/>
            </a:xfrm>
            <a:custGeom>
              <a:avLst/>
              <a:gdLst/>
              <a:ahLst/>
              <a:cxnLst/>
              <a:rect l="l" t="t" r="r" b="b"/>
              <a:pathLst>
                <a:path w="2562225" h="9525">
                  <a:moveTo>
                    <a:pt x="0" y="0"/>
                  </a:moveTo>
                  <a:lnTo>
                    <a:pt x="2562225" y="0"/>
                  </a:lnTo>
                </a:path>
              </a:pathLst>
            </a:custGeom>
            <a:noFill/>
            <a:ln w="28575">
              <a:solidFill>
                <a:srgbClr val="246D73"/>
              </a:solidFill>
            </a:ln>
          </p:spPr>
        </p:sp>
        <p:sp>
          <p:nvSpPr>
            <p:cNvPr id="33" name="Line 33"/>
            <p:cNvSpPr/>
            <p:nvPr/>
          </p:nvSpPr>
          <p:spPr>
            <a:xfrm>
              <a:off x="952500" y="3067050"/>
              <a:ext cx="2562225" cy="9525"/>
            </a:xfrm>
            <a:custGeom>
              <a:avLst/>
              <a:gdLst/>
              <a:ahLst/>
              <a:cxnLst/>
              <a:rect l="l" t="t" r="r" b="b"/>
              <a:pathLst>
                <a:path w="2562225" h="9525">
                  <a:moveTo>
                    <a:pt x="0" y="0"/>
                  </a:moveTo>
                  <a:lnTo>
                    <a:pt x="2562225" y="0"/>
                  </a:lnTo>
                </a:path>
              </a:pathLst>
            </a:custGeom>
            <a:noFill/>
            <a:ln w="28575">
              <a:solidFill>
                <a:srgbClr val="246D73"/>
              </a:solidFill>
            </a:ln>
          </p:spPr>
        </p:sp>
        <p:sp>
          <p:nvSpPr>
            <p:cNvPr id="34" name="Line 34"/>
            <p:cNvSpPr/>
            <p:nvPr/>
          </p:nvSpPr>
          <p:spPr>
            <a:xfrm>
              <a:off x="952500" y="3286125"/>
              <a:ext cx="2562225" cy="9525"/>
            </a:xfrm>
            <a:custGeom>
              <a:avLst/>
              <a:gdLst/>
              <a:ahLst/>
              <a:cxnLst/>
              <a:rect l="l" t="t" r="r" b="b"/>
              <a:pathLst>
                <a:path w="2562225" h="9525">
                  <a:moveTo>
                    <a:pt x="0" y="0"/>
                  </a:moveTo>
                  <a:lnTo>
                    <a:pt x="2562225" y="0"/>
                  </a:lnTo>
                </a:path>
              </a:pathLst>
            </a:custGeom>
            <a:noFill/>
            <a:ln w="28575">
              <a:solidFill>
                <a:srgbClr val="246D73"/>
              </a:solidFill>
            </a:ln>
          </p:spPr>
        </p:sp>
        <p:sp>
          <p:nvSpPr>
            <p:cNvPr id="35" name="TextBox 35"/>
            <p:cNvSpPr txBox="1"/>
            <p:nvPr/>
          </p:nvSpPr>
          <p:spPr>
            <a:xfrm>
              <a:off x="1221486" y="3562350"/>
              <a:ext cx="2033778" cy="234696"/>
            </a:xfrm>
            <a:prstGeom prst="rect">
              <a:avLst/>
            </a:prstGeom>
            <a:noFill/>
            <a:ln>
              <a:noFill/>
            </a:ln>
          </p:spPr>
          <p:txBody>
            <a:bodyPr wrap="none" lIns="0" tIns="0" rIns="0" bIns="0" anchor="t" anchorCtr="0">
              <a:spAutoFit/>
            </a:bodyPr>
            <a:lstStyle/>
            <a:p>
              <a:pPr algn="ctr"/>
              <a:r>
                <a:rPr lang="zh-CN" sz="1200" dirty="0">
                  <a:solidFill>
                    <a:srgbClr val="69747A"/>
                  </a:solidFill>
                  <a:latin typeface="Microsoft YaHei"/>
                  <a:ea typeface="Microsoft YaHei"/>
                  <a:cs typeface="Microsoft YaHei"/>
                </a:rPr>
                <a:t>层间角度示意，非性能排序</a:t>
              </a:r>
            </a:p>
          </p:txBody>
        </p:sp>
        <p:sp>
          <p:nvSpPr>
            <p:cNvPr id="36" name="TextBox 36"/>
            <p:cNvSpPr txBox="1"/>
            <p:nvPr/>
          </p:nvSpPr>
          <p:spPr>
            <a:xfrm>
              <a:off x="5849493" y="1298575"/>
              <a:ext cx="1064514" cy="352044"/>
            </a:xfrm>
            <a:prstGeom prst="rect">
              <a:avLst/>
            </a:prstGeom>
            <a:noFill/>
            <a:ln>
              <a:noFill/>
            </a:ln>
          </p:spPr>
          <p:txBody>
            <a:bodyPr wrap="none" lIns="0" tIns="0" rIns="0" bIns="0" anchor="t" anchorCtr="0">
              <a:spAutoFit/>
            </a:bodyPr>
            <a:lstStyle/>
            <a:p>
              <a:pPr algn="ctr"/>
              <a:r>
                <a:rPr lang="zh-CN" sz="1800" b="1" dirty="0">
                  <a:solidFill>
                    <a:srgbClr val="9E423D"/>
                  </a:solidFill>
                  <a:latin typeface="Microsoft YaHei"/>
                  <a:ea typeface="Microsoft YaHei"/>
                  <a:cs typeface="Microsoft YaHei"/>
                </a:rPr>
                <a:t>错角铺层</a:t>
              </a:r>
            </a:p>
          </p:txBody>
        </p:sp>
        <p:sp>
          <p:nvSpPr>
            <p:cNvPr id="37" name="Rectangle 37"/>
            <p:cNvSpPr/>
            <p:nvPr/>
          </p:nvSpPr>
          <p:spPr>
            <a:xfrm>
              <a:off x="4857750" y="1762125"/>
              <a:ext cx="3057525" cy="1657350"/>
            </a:xfrm>
            <a:prstGeom prst="rect">
              <a:avLst/>
            </a:prstGeom>
            <a:solidFill>
              <a:srgbClr val="F6F2EE"/>
            </a:solidFill>
            <a:ln w="9525">
              <a:solidFill>
                <a:srgbClr val="DADDDC"/>
              </a:solidFill>
            </a:ln>
          </p:spPr>
        </p:sp>
        <p:sp>
          <p:nvSpPr>
            <p:cNvPr id="38" name="Line 38"/>
            <p:cNvSpPr/>
            <p:nvPr/>
          </p:nvSpPr>
          <p:spPr>
            <a:xfrm>
              <a:off x="5095875" y="1914525"/>
              <a:ext cx="2562225" cy="9525"/>
            </a:xfrm>
            <a:custGeom>
              <a:avLst/>
              <a:gdLst/>
              <a:ahLst/>
              <a:cxnLst/>
              <a:rect l="l" t="t" r="r" b="b"/>
              <a:pathLst>
                <a:path w="2562225" h="9525">
                  <a:moveTo>
                    <a:pt x="0" y="0"/>
                  </a:moveTo>
                  <a:lnTo>
                    <a:pt x="2562225" y="0"/>
                  </a:lnTo>
                </a:path>
              </a:pathLst>
            </a:custGeom>
            <a:noFill/>
            <a:ln w="57150">
              <a:solidFill>
                <a:srgbClr val="BD9447"/>
              </a:solidFill>
            </a:ln>
          </p:spPr>
        </p:sp>
        <p:sp>
          <p:nvSpPr>
            <p:cNvPr id="39" name="Line 39"/>
            <p:cNvSpPr/>
            <p:nvPr/>
          </p:nvSpPr>
          <p:spPr>
            <a:xfrm>
              <a:off x="5095875" y="2133600"/>
              <a:ext cx="2562225" cy="9525"/>
            </a:xfrm>
            <a:custGeom>
              <a:avLst/>
              <a:gdLst/>
              <a:ahLst/>
              <a:cxnLst/>
              <a:rect l="l" t="t" r="r" b="b"/>
              <a:pathLst>
                <a:path w="2562225" h="9525">
                  <a:moveTo>
                    <a:pt x="0" y="0"/>
                  </a:moveTo>
                  <a:lnTo>
                    <a:pt x="2562225" y="0"/>
                  </a:lnTo>
                </a:path>
              </a:pathLst>
            </a:custGeom>
            <a:noFill/>
            <a:ln w="57150">
              <a:solidFill>
                <a:srgbClr val="BD9447"/>
              </a:solidFill>
            </a:ln>
          </p:spPr>
        </p:sp>
        <p:sp>
          <p:nvSpPr>
            <p:cNvPr id="40" name="Line 40"/>
            <p:cNvSpPr/>
            <p:nvPr/>
          </p:nvSpPr>
          <p:spPr>
            <a:xfrm>
              <a:off x="5095875" y="2352675"/>
              <a:ext cx="2562225" cy="9525"/>
            </a:xfrm>
            <a:custGeom>
              <a:avLst/>
              <a:gdLst/>
              <a:ahLst/>
              <a:cxnLst/>
              <a:rect l="l" t="t" r="r" b="b"/>
              <a:pathLst>
                <a:path w="2562225" h="9525">
                  <a:moveTo>
                    <a:pt x="0" y="0"/>
                  </a:moveTo>
                  <a:lnTo>
                    <a:pt x="2562225" y="0"/>
                  </a:lnTo>
                </a:path>
              </a:pathLst>
            </a:custGeom>
            <a:noFill/>
            <a:ln w="57150">
              <a:solidFill>
                <a:srgbClr val="BD9447"/>
              </a:solidFill>
            </a:ln>
          </p:spPr>
        </p:sp>
        <p:sp>
          <p:nvSpPr>
            <p:cNvPr id="41" name="Line 41"/>
            <p:cNvSpPr/>
            <p:nvPr/>
          </p:nvSpPr>
          <p:spPr>
            <a:xfrm>
              <a:off x="5095875" y="2571750"/>
              <a:ext cx="2562225" cy="9525"/>
            </a:xfrm>
            <a:custGeom>
              <a:avLst/>
              <a:gdLst/>
              <a:ahLst/>
              <a:cxnLst/>
              <a:rect l="l" t="t" r="r" b="b"/>
              <a:pathLst>
                <a:path w="2562225" h="9525">
                  <a:moveTo>
                    <a:pt x="0" y="0"/>
                  </a:moveTo>
                  <a:lnTo>
                    <a:pt x="2562225" y="0"/>
                  </a:lnTo>
                </a:path>
              </a:pathLst>
            </a:custGeom>
            <a:noFill/>
            <a:ln w="57150">
              <a:solidFill>
                <a:srgbClr val="BD9447"/>
              </a:solidFill>
            </a:ln>
          </p:spPr>
        </p:sp>
        <p:sp>
          <p:nvSpPr>
            <p:cNvPr id="42" name="Line 42"/>
            <p:cNvSpPr/>
            <p:nvPr/>
          </p:nvSpPr>
          <p:spPr>
            <a:xfrm>
              <a:off x="5095875" y="2790825"/>
              <a:ext cx="2562225" cy="9525"/>
            </a:xfrm>
            <a:custGeom>
              <a:avLst/>
              <a:gdLst/>
              <a:ahLst/>
              <a:cxnLst/>
              <a:rect l="l" t="t" r="r" b="b"/>
              <a:pathLst>
                <a:path w="2562225" h="9525">
                  <a:moveTo>
                    <a:pt x="0" y="0"/>
                  </a:moveTo>
                  <a:lnTo>
                    <a:pt x="2562225" y="0"/>
                  </a:lnTo>
                </a:path>
              </a:pathLst>
            </a:custGeom>
            <a:noFill/>
            <a:ln w="57150">
              <a:solidFill>
                <a:srgbClr val="BD9447"/>
              </a:solidFill>
            </a:ln>
          </p:spPr>
        </p:sp>
        <p:sp>
          <p:nvSpPr>
            <p:cNvPr id="43" name="Line 43"/>
            <p:cNvSpPr/>
            <p:nvPr/>
          </p:nvSpPr>
          <p:spPr>
            <a:xfrm>
              <a:off x="5095875" y="3009900"/>
              <a:ext cx="2562225" cy="9525"/>
            </a:xfrm>
            <a:custGeom>
              <a:avLst/>
              <a:gdLst/>
              <a:ahLst/>
              <a:cxnLst/>
              <a:rect l="l" t="t" r="r" b="b"/>
              <a:pathLst>
                <a:path w="2562225" h="9525">
                  <a:moveTo>
                    <a:pt x="0" y="0"/>
                  </a:moveTo>
                  <a:lnTo>
                    <a:pt x="2562225" y="0"/>
                  </a:lnTo>
                </a:path>
              </a:pathLst>
            </a:custGeom>
            <a:noFill/>
            <a:ln w="57150">
              <a:solidFill>
                <a:srgbClr val="BD9447"/>
              </a:solidFill>
            </a:ln>
          </p:spPr>
        </p:sp>
        <p:sp>
          <p:nvSpPr>
            <p:cNvPr id="44" name="Line 44"/>
            <p:cNvSpPr/>
            <p:nvPr/>
          </p:nvSpPr>
          <p:spPr>
            <a:xfrm>
              <a:off x="5095875" y="3228975"/>
              <a:ext cx="2562225" cy="9525"/>
            </a:xfrm>
            <a:custGeom>
              <a:avLst/>
              <a:gdLst/>
              <a:ahLst/>
              <a:cxnLst/>
              <a:rect l="l" t="t" r="r" b="b"/>
              <a:pathLst>
                <a:path w="2562225" h="9525">
                  <a:moveTo>
                    <a:pt x="0" y="0"/>
                  </a:moveTo>
                  <a:lnTo>
                    <a:pt x="2562225" y="0"/>
                  </a:lnTo>
                </a:path>
              </a:pathLst>
            </a:custGeom>
            <a:noFill/>
            <a:ln w="57150">
              <a:solidFill>
                <a:srgbClr val="BD9447"/>
              </a:solidFill>
            </a:ln>
          </p:spPr>
        </p:sp>
        <p:sp>
          <p:nvSpPr>
            <p:cNvPr id="45" name="Line 45"/>
            <p:cNvSpPr/>
            <p:nvPr/>
          </p:nvSpPr>
          <p:spPr>
            <a:xfrm>
              <a:off x="5095875" y="2667000"/>
              <a:ext cx="628650" cy="628650"/>
            </a:xfrm>
            <a:custGeom>
              <a:avLst/>
              <a:gdLst/>
              <a:ahLst/>
              <a:cxnLst/>
              <a:rect l="l" t="t" r="r" b="b"/>
              <a:pathLst>
                <a:path w="628650" h="628650">
                  <a:moveTo>
                    <a:pt x="0" y="0"/>
                  </a:moveTo>
                  <a:lnTo>
                    <a:pt x="628650" y="628650"/>
                  </a:lnTo>
                </a:path>
              </a:pathLst>
            </a:custGeom>
            <a:noFill/>
            <a:ln w="28575">
              <a:solidFill>
                <a:srgbClr val="246D73"/>
              </a:solidFill>
            </a:ln>
          </p:spPr>
        </p:sp>
        <p:sp>
          <p:nvSpPr>
            <p:cNvPr id="46" name="Line 46"/>
            <p:cNvSpPr/>
            <p:nvPr/>
          </p:nvSpPr>
          <p:spPr>
            <a:xfrm>
              <a:off x="5095875" y="2409825"/>
              <a:ext cx="885825" cy="885825"/>
            </a:xfrm>
            <a:custGeom>
              <a:avLst/>
              <a:gdLst/>
              <a:ahLst/>
              <a:cxnLst/>
              <a:rect l="l" t="t" r="r" b="b"/>
              <a:pathLst>
                <a:path w="885825" h="885825">
                  <a:moveTo>
                    <a:pt x="0" y="0"/>
                  </a:moveTo>
                  <a:lnTo>
                    <a:pt x="885825" y="885825"/>
                  </a:lnTo>
                </a:path>
              </a:pathLst>
            </a:custGeom>
            <a:noFill/>
            <a:ln w="28575">
              <a:solidFill>
                <a:srgbClr val="246D73"/>
              </a:solidFill>
            </a:ln>
          </p:spPr>
        </p:sp>
        <p:sp>
          <p:nvSpPr>
            <p:cNvPr id="47" name="Line 47"/>
            <p:cNvSpPr/>
            <p:nvPr/>
          </p:nvSpPr>
          <p:spPr>
            <a:xfrm>
              <a:off x="5095875" y="2152650"/>
              <a:ext cx="1143000" cy="1143000"/>
            </a:xfrm>
            <a:custGeom>
              <a:avLst/>
              <a:gdLst/>
              <a:ahLst/>
              <a:cxnLst/>
              <a:rect l="l" t="t" r="r" b="b"/>
              <a:pathLst>
                <a:path w="1143000" h="1143000">
                  <a:moveTo>
                    <a:pt x="0" y="0"/>
                  </a:moveTo>
                  <a:lnTo>
                    <a:pt x="1143000" y="1143000"/>
                  </a:lnTo>
                </a:path>
              </a:pathLst>
            </a:custGeom>
            <a:noFill/>
            <a:ln w="28575">
              <a:solidFill>
                <a:srgbClr val="246D73"/>
              </a:solidFill>
            </a:ln>
          </p:spPr>
        </p:sp>
        <p:sp>
          <p:nvSpPr>
            <p:cNvPr id="48" name="Line 48"/>
            <p:cNvSpPr/>
            <p:nvPr/>
          </p:nvSpPr>
          <p:spPr>
            <a:xfrm>
              <a:off x="5095875" y="1895475"/>
              <a:ext cx="1400175" cy="1400175"/>
            </a:xfrm>
            <a:custGeom>
              <a:avLst/>
              <a:gdLst/>
              <a:ahLst/>
              <a:cxnLst/>
              <a:rect l="l" t="t" r="r" b="b"/>
              <a:pathLst>
                <a:path w="1400175" h="1400175">
                  <a:moveTo>
                    <a:pt x="0" y="0"/>
                  </a:moveTo>
                  <a:lnTo>
                    <a:pt x="1400175" y="1400175"/>
                  </a:lnTo>
                </a:path>
              </a:pathLst>
            </a:custGeom>
            <a:noFill/>
            <a:ln w="28575">
              <a:solidFill>
                <a:srgbClr val="246D73"/>
              </a:solidFill>
            </a:ln>
          </p:spPr>
        </p:sp>
        <p:sp>
          <p:nvSpPr>
            <p:cNvPr id="49" name="Line 49"/>
            <p:cNvSpPr/>
            <p:nvPr/>
          </p:nvSpPr>
          <p:spPr>
            <a:xfrm>
              <a:off x="5353050" y="1895475"/>
              <a:ext cx="1400175" cy="1400175"/>
            </a:xfrm>
            <a:custGeom>
              <a:avLst/>
              <a:gdLst/>
              <a:ahLst/>
              <a:cxnLst/>
              <a:rect l="l" t="t" r="r" b="b"/>
              <a:pathLst>
                <a:path w="1400175" h="1400175">
                  <a:moveTo>
                    <a:pt x="0" y="0"/>
                  </a:moveTo>
                  <a:lnTo>
                    <a:pt x="1400175" y="1400175"/>
                  </a:lnTo>
                </a:path>
              </a:pathLst>
            </a:custGeom>
            <a:noFill/>
            <a:ln w="28575">
              <a:solidFill>
                <a:srgbClr val="246D73"/>
              </a:solidFill>
            </a:ln>
          </p:spPr>
        </p:sp>
        <p:sp>
          <p:nvSpPr>
            <p:cNvPr id="50" name="Line 50"/>
            <p:cNvSpPr/>
            <p:nvPr/>
          </p:nvSpPr>
          <p:spPr>
            <a:xfrm>
              <a:off x="5610225" y="1895475"/>
              <a:ext cx="1400175" cy="1400175"/>
            </a:xfrm>
            <a:custGeom>
              <a:avLst/>
              <a:gdLst/>
              <a:ahLst/>
              <a:cxnLst/>
              <a:rect l="l" t="t" r="r" b="b"/>
              <a:pathLst>
                <a:path w="1400175" h="1400175">
                  <a:moveTo>
                    <a:pt x="0" y="0"/>
                  </a:moveTo>
                  <a:lnTo>
                    <a:pt x="1400175" y="1400175"/>
                  </a:lnTo>
                </a:path>
              </a:pathLst>
            </a:custGeom>
            <a:noFill/>
            <a:ln w="28575">
              <a:solidFill>
                <a:srgbClr val="246D73"/>
              </a:solidFill>
            </a:ln>
          </p:spPr>
        </p:sp>
        <p:sp>
          <p:nvSpPr>
            <p:cNvPr id="51" name="Line 51"/>
            <p:cNvSpPr/>
            <p:nvPr/>
          </p:nvSpPr>
          <p:spPr>
            <a:xfrm>
              <a:off x="5867400" y="1895475"/>
              <a:ext cx="1400175" cy="1400175"/>
            </a:xfrm>
            <a:custGeom>
              <a:avLst/>
              <a:gdLst/>
              <a:ahLst/>
              <a:cxnLst/>
              <a:rect l="l" t="t" r="r" b="b"/>
              <a:pathLst>
                <a:path w="1400175" h="1400175">
                  <a:moveTo>
                    <a:pt x="0" y="0"/>
                  </a:moveTo>
                  <a:lnTo>
                    <a:pt x="1400175" y="1400175"/>
                  </a:lnTo>
                </a:path>
              </a:pathLst>
            </a:custGeom>
            <a:noFill/>
            <a:ln w="28575">
              <a:solidFill>
                <a:srgbClr val="246D73"/>
              </a:solidFill>
            </a:ln>
          </p:spPr>
        </p:sp>
        <p:sp>
          <p:nvSpPr>
            <p:cNvPr id="52" name="Line 52"/>
            <p:cNvSpPr/>
            <p:nvPr/>
          </p:nvSpPr>
          <p:spPr>
            <a:xfrm>
              <a:off x="6124575" y="1895475"/>
              <a:ext cx="1400175" cy="1400175"/>
            </a:xfrm>
            <a:custGeom>
              <a:avLst/>
              <a:gdLst/>
              <a:ahLst/>
              <a:cxnLst/>
              <a:rect l="l" t="t" r="r" b="b"/>
              <a:pathLst>
                <a:path w="1400175" h="1400175">
                  <a:moveTo>
                    <a:pt x="0" y="0"/>
                  </a:moveTo>
                  <a:lnTo>
                    <a:pt x="1400175" y="1400175"/>
                  </a:lnTo>
                </a:path>
              </a:pathLst>
            </a:custGeom>
            <a:noFill/>
            <a:ln w="28575">
              <a:solidFill>
                <a:srgbClr val="246D73"/>
              </a:solidFill>
            </a:ln>
          </p:spPr>
        </p:sp>
        <p:sp>
          <p:nvSpPr>
            <p:cNvPr id="53" name="Line 53"/>
            <p:cNvSpPr/>
            <p:nvPr/>
          </p:nvSpPr>
          <p:spPr>
            <a:xfrm>
              <a:off x="6381750" y="1895475"/>
              <a:ext cx="1276350" cy="1276350"/>
            </a:xfrm>
            <a:custGeom>
              <a:avLst/>
              <a:gdLst/>
              <a:ahLst/>
              <a:cxnLst/>
              <a:rect l="l" t="t" r="r" b="b"/>
              <a:pathLst>
                <a:path w="1276350" h="1276350">
                  <a:moveTo>
                    <a:pt x="0" y="0"/>
                  </a:moveTo>
                  <a:lnTo>
                    <a:pt x="1276350" y="1276350"/>
                  </a:lnTo>
                </a:path>
              </a:pathLst>
            </a:custGeom>
            <a:noFill/>
            <a:ln w="28575">
              <a:solidFill>
                <a:srgbClr val="246D73"/>
              </a:solidFill>
            </a:ln>
          </p:spPr>
        </p:sp>
        <p:sp>
          <p:nvSpPr>
            <p:cNvPr id="54" name="Line 54"/>
            <p:cNvSpPr/>
            <p:nvPr/>
          </p:nvSpPr>
          <p:spPr>
            <a:xfrm>
              <a:off x="6638925" y="1895475"/>
              <a:ext cx="1019175" cy="1019175"/>
            </a:xfrm>
            <a:custGeom>
              <a:avLst/>
              <a:gdLst/>
              <a:ahLst/>
              <a:cxnLst/>
              <a:rect l="l" t="t" r="r" b="b"/>
              <a:pathLst>
                <a:path w="1019175" h="1019175">
                  <a:moveTo>
                    <a:pt x="0" y="0"/>
                  </a:moveTo>
                  <a:lnTo>
                    <a:pt x="1019175" y="1019175"/>
                  </a:lnTo>
                </a:path>
              </a:pathLst>
            </a:custGeom>
            <a:noFill/>
            <a:ln w="28575">
              <a:solidFill>
                <a:srgbClr val="246D73"/>
              </a:solidFill>
            </a:ln>
          </p:spPr>
        </p:sp>
        <p:sp>
          <p:nvSpPr>
            <p:cNvPr id="55" name="Line 55"/>
            <p:cNvSpPr/>
            <p:nvPr/>
          </p:nvSpPr>
          <p:spPr>
            <a:xfrm>
              <a:off x="6896100" y="1895475"/>
              <a:ext cx="762000" cy="762000"/>
            </a:xfrm>
            <a:custGeom>
              <a:avLst/>
              <a:gdLst/>
              <a:ahLst/>
              <a:cxnLst/>
              <a:rect l="l" t="t" r="r" b="b"/>
              <a:pathLst>
                <a:path w="762000" h="762000">
                  <a:moveTo>
                    <a:pt x="0" y="0"/>
                  </a:moveTo>
                  <a:lnTo>
                    <a:pt x="762000" y="762000"/>
                  </a:lnTo>
                </a:path>
              </a:pathLst>
            </a:custGeom>
            <a:noFill/>
            <a:ln w="28575">
              <a:solidFill>
                <a:srgbClr val="246D73"/>
              </a:solidFill>
            </a:ln>
          </p:spPr>
        </p:sp>
        <p:sp>
          <p:nvSpPr>
            <p:cNvPr id="56" name="Line 56"/>
            <p:cNvSpPr/>
            <p:nvPr/>
          </p:nvSpPr>
          <p:spPr>
            <a:xfrm>
              <a:off x="7153275" y="1895475"/>
              <a:ext cx="504825" cy="504825"/>
            </a:xfrm>
            <a:custGeom>
              <a:avLst/>
              <a:gdLst/>
              <a:ahLst/>
              <a:cxnLst/>
              <a:rect l="l" t="t" r="r" b="b"/>
              <a:pathLst>
                <a:path w="504825" h="504825">
                  <a:moveTo>
                    <a:pt x="0" y="0"/>
                  </a:moveTo>
                  <a:lnTo>
                    <a:pt x="504825" y="504825"/>
                  </a:lnTo>
                </a:path>
              </a:pathLst>
            </a:custGeom>
            <a:noFill/>
            <a:ln w="28575">
              <a:solidFill>
                <a:srgbClr val="246D73"/>
              </a:solidFill>
            </a:ln>
          </p:spPr>
        </p:sp>
        <p:sp>
          <p:nvSpPr>
            <p:cNvPr id="57" name="Line 57"/>
            <p:cNvSpPr/>
            <p:nvPr/>
          </p:nvSpPr>
          <p:spPr>
            <a:xfrm>
              <a:off x="7410450" y="1895475"/>
              <a:ext cx="247650" cy="247650"/>
            </a:xfrm>
            <a:custGeom>
              <a:avLst/>
              <a:gdLst/>
              <a:ahLst/>
              <a:cxnLst/>
              <a:rect l="l" t="t" r="r" b="b"/>
              <a:pathLst>
                <a:path w="247650" h="247650">
                  <a:moveTo>
                    <a:pt x="0" y="0"/>
                  </a:moveTo>
                  <a:lnTo>
                    <a:pt x="247650" y="247650"/>
                  </a:lnTo>
                </a:path>
              </a:pathLst>
            </a:custGeom>
            <a:noFill/>
            <a:ln w="28575">
              <a:solidFill>
                <a:srgbClr val="246D73"/>
              </a:solidFill>
            </a:ln>
          </p:spPr>
        </p:sp>
        <p:sp>
          <p:nvSpPr>
            <p:cNvPr id="58" name="TextBox 58"/>
            <p:cNvSpPr txBox="1"/>
            <p:nvPr/>
          </p:nvSpPr>
          <p:spPr>
            <a:xfrm>
              <a:off x="5364861" y="3562350"/>
              <a:ext cx="2033778" cy="234696"/>
            </a:xfrm>
            <a:prstGeom prst="rect">
              <a:avLst/>
            </a:prstGeom>
            <a:noFill/>
            <a:ln>
              <a:noFill/>
            </a:ln>
          </p:spPr>
          <p:txBody>
            <a:bodyPr wrap="none" lIns="0" tIns="0" rIns="0" bIns="0" anchor="t" anchorCtr="0">
              <a:spAutoFit/>
            </a:bodyPr>
            <a:lstStyle/>
            <a:p>
              <a:pPr algn="ctr"/>
              <a:r>
                <a:rPr lang="zh-CN" sz="1200" dirty="0">
                  <a:solidFill>
                    <a:srgbClr val="69747A"/>
                  </a:solidFill>
                  <a:latin typeface="Microsoft YaHei"/>
                  <a:ea typeface="Microsoft YaHei"/>
                  <a:cs typeface="Microsoft YaHei"/>
                </a:rPr>
                <a:t>层间角度示意，非性能排序</a:t>
              </a:r>
            </a:p>
          </p:txBody>
        </p:sp>
      </p:grpSp>
      <p:grpSp>
        <p:nvGrpSpPr>
          <p:cNvPr id="61" name="layup-controls"/>
          <p:cNvGrpSpPr/>
          <p:nvPr/>
        </p:nvGrpSpPr>
        <p:grpSpPr>
          <a:xfrm>
            <a:off x="382524" y="3943350"/>
            <a:ext cx="5546192" cy="308991"/>
            <a:chOff x="382524" y="3943350"/>
            <a:chExt cx="5546192" cy="308991"/>
          </a:xfrm>
        </p:grpSpPr>
        <p:sp>
          <p:nvSpPr>
            <p:cNvPr id="60" name="TextBox 60"/>
            <p:cNvSpPr txBox="1"/>
            <p:nvPr/>
          </p:nvSpPr>
          <p:spPr>
            <a:xfrm>
              <a:off x="382524" y="3943350"/>
              <a:ext cx="5607939" cy="308991"/>
            </a:xfrm>
            <a:prstGeom prst="rect">
              <a:avLst/>
            </a:prstGeom>
            <a:noFill/>
            <a:ln>
              <a:noFill/>
            </a:ln>
          </p:spPr>
          <p:txBody>
            <a:bodyPr wrap="none" lIns="0" tIns="0" rIns="0" bIns="0" anchor="t" anchorCtr="0">
              <a:spAutoFit/>
            </a:bodyPr>
            <a:lstStyle/>
            <a:p>
              <a:pPr algn="l"/>
              <a:r>
                <a:rPr lang="zh-CN" sz="1580" b="1" dirty="0">
                  <a:solidFill>
                    <a:srgbClr val="29343A"/>
                  </a:solidFill>
                  <a:latin typeface="Microsoft YaHei"/>
                  <a:ea typeface="Microsoft YaHei"/>
                  <a:cs typeface="Microsoft YaHei"/>
                </a:rPr>
                <a:t>控制：总层数、面密度、夹持边界、刺入位置与刀刃朝向。</a:t>
              </a:r>
            </a:p>
          </p:txBody>
        </p:sp>
      </p:grpSp>
      <p:grpSp>
        <p:nvGrpSpPr>
          <p:cNvPr id="65" name="takeaway"/>
          <p:cNvGrpSpPr/>
          <p:nvPr/>
        </p:nvGrpSpPr>
        <p:grpSpPr>
          <a:xfrm>
            <a:off x="361950" y="4419600"/>
            <a:ext cx="8420100" cy="361950"/>
            <a:chOff x="361950" y="4419600"/>
            <a:chExt cx="8420100" cy="361950"/>
          </a:xfrm>
        </p:grpSpPr>
        <p:sp>
          <p:nvSpPr>
            <p:cNvPr id="62" name="Rectangle 62"/>
            <p:cNvSpPr/>
            <p:nvPr/>
          </p:nvSpPr>
          <p:spPr>
            <a:xfrm>
              <a:off x="361950" y="4419600"/>
              <a:ext cx="8420100" cy="361950"/>
            </a:xfrm>
            <a:prstGeom prst="rect">
              <a:avLst/>
            </a:prstGeom>
            <a:solidFill>
              <a:srgbClr val="F6F2EE"/>
            </a:solidFill>
            <a:ln>
              <a:noFill/>
            </a:ln>
          </p:spPr>
        </p:sp>
        <p:sp>
          <p:nvSpPr>
            <p:cNvPr id="63" name="Rectangle 63"/>
            <p:cNvSpPr/>
            <p:nvPr/>
          </p:nvSpPr>
          <p:spPr>
            <a:xfrm>
              <a:off x="361950" y="4419600"/>
              <a:ext cx="38100" cy="361950"/>
            </a:xfrm>
            <a:prstGeom prst="rect">
              <a:avLst/>
            </a:prstGeom>
            <a:solidFill>
              <a:srgbClr val="9E423D"/>
            </a:solidFill>
            <a:ln>
              <a:noFill/>
            </a:ln>
          </p:spPr>
        </p:sp>
        <p:sp>
          <p:nvSpPr>
            <p:cNvPr id="64" name="TextBox 64"/>
            <p:cNvSpPr txBox="1"/>
            <p:nvPr/>
          </p:nvSpPr>
          <p:spPr>
            <a:xfrm>
              <a:off x="497967" y="4492625"/>
              <a:ext cx="5365623" cy="264033"/>
            </a:xfrm>
            <a:prstGeom prst="rect">
              <a:avLst/>
            </a:prstGeom>
            <a:noFill/>
            <a:ln>
              <a:noFill/>
            </a:ln>
          </p:spPr>
          <p:txBody>
            <a:bodyPr wrap="none" lIns="0" tIns="0" rIns="0" bIns="0" anchor="t" anchorCtr="0">
              <a:spAutoFit/>
            </a:bodyPr>
            <a:lstStyle/>
            <a:p>
              <a:pPr algn="l"/>
              <a:r>
                <a:rPr lang="zh-CN" sz="1350" b="1" dirty="0">
                  <a:solidFill>
                    <a:srgbClr val="9E423D"/>
                  </a:solidFill>
                  <a:latin typeface="Microsoft YaHei"/>
                  <a:ea typeface="Microsoft YaHei"/>
                  <a:cs typeface="Microsoft YaHei"/>
                </a:rPr>
                <a:t>角度优化应分别验证锥刺与刀刺，并同时考察方向适应性和柔性。</a:t>
              </a:r>
            </a:p>
          </p:txBody>
        </p:sp>
      </p:grpSp>
    </p:spTree>
  </p:cSld>
  <p:clrMapOvr>
    <a:masterClrMapping/>
  </p:clrMapOvr>
  <p:transition advClick="1"/>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 name="矩形 8"/>
          <p:cNvSpPr/>
          <p:nvPr/>
        </p:nvSpPr>
        <p:spPr>
          <a:xfrm>
            <a:off x="-10066" y="597600"/>
            <a:ext cx="9154065" cy="72000"/>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0" y="-7934"/>
            <a:ext cx="9144000" cy="556614"/>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p:cNvPicPr>
            <a:picLocks noChangeAspect="1"/>
          </p:cNvPicPr>
          <p:nvPr>
            <p:custDataLst>
              <p:tags r:id="rId1"/>
            </p:custDataLst>
          </p:nvPr>
        </p:nvPicPr>
        <p:blipFill>
          <a:blip r:embed="rId4"/>
          <a:srcRect l="1701" t="2985" r="4812" b="1949"/>
          <a:stretch>
            <a:fillRect/>
          </a:stretch>
        </p:blipFill>
        <p:spPr>
          <a:xfrm>
            <a:off x="135376" y="17739"/>
            <a:ext cx="509847" cy="514223"/>
          </a:xfrm>
          <a:prstGeom prst="ellipse">
            <a:avLst/>
          </a:prstGeom>
        </p:spPr>
      </p:pic>
      <p:grpSp>
        <p:nvGrpSpPr>
          <p:cNvPr id="6" name="page-title"/>
          <p:cNvGrpSpPr/>
          <p:nvPr/>
        </p:nvGrpSpPr>
        <p:grpSpPr>
          <a:xfrm>
            <a:off x="789813" y="120650"/>
            <a:ext cx="3555695" cy="396050"/>
            <a:chOff x="789813" y="120650"/>
            <a:chExt cx="3555695" cy="396050"/>
          </a:xfrm>
        </p:grpSpPr>
        <p:sp>
          <p:nvSpPr>
            <p:cNvPr id="5" name="TextBox 5"/>
            <p:cNvSpPr txBox="1"/>
            <p:nvPr/>
          </p:nvSpPr>
          <p:spPr>
            <a:xfrm>
              <a:off x="789813" y="120650"/>
              <a:ext cx="3639122" cy="396050"/>
            </a:xfrm>
            <a:prstGeom prst="rect">
              <a:avLst/>
            </a:prstGeom>
            <a:noFill/>
            <a:ln>
              <a:noFill/>
            </a:ln>
          </p:spPr>
          <p:txBody>
            <a:bodyPr wrap="none" lIns="0" tIns="0" rIns="0" bIns="0" anchor="t" anchorCtr="0">
              <a:spAutoFit/>
            </a:bodyPr>
            <a:lstStyle/>
            <a:p>
              <a:pPr algn="l"/>
              <a:r>
                <a:rPr lang="zh-CN" sz="2020" b="1" dirty="0">
                  <a:solidFill>
                    <a:srgbClr val="FFFFFF"/>
                  </a:solidFill>
                  <a:latin typeface="Microsoft YaHei"/>
                  <a:ea typeface="Microsoft YaHei"/>
                  <a:cs typeface="Microsoft YaHei"/>
                </a:rPr>
                <a:t>纱线约束与穿透损伤演化机制</a:t>
              </a:r>
            </a:p>
          </p:txBody>
        </p:sp>
      </p:grpSp>
      <p:grpSp>
        <p:nvGrpSpPr>
          <p:cNvPr id="12" name="page-footer"/>
          <p:cNvGrpSpPr/>
          <p:nvPr/>
        </p:nvGrpSpPr>
        <p:grpSpPr>
          <a:xfrm>
            <a:off x="366712" y="4905375"/>
            <a:ext cx="8405813" cy="233362"/>
            <a:chOff x="366712" y="4905375"/>
            <a:chExt cx="8405813" cy="233362"/>
          </a:xfrm>
        </p:grpSpPr>
        <p:sp>
          <p:nvSpPr>
            <p:cNvPr id="7" name="Line 7"/>
            <p:cNvSpPr/>
            <p:nvPr/>
          </p:nvSpPr>
          <p:spPr>
            <a:xfrm>
              <a:off x="371475" y="4905375"/>
              <a:ext cx="8401050" cy="9525"/>
            </a:xfrm>
            <a:custGeom>
              <a:avLst/>
              <a:gdLst/>
              <a:ahLst/>
              <a:cxnLst/>
              <a:rect l="l" t="t" r="r" b="b"/>
              <a:pathLst>
                <a:path w="8401050" h="9525">
                  <a:moveTo>
                    <a:pt x="0" y="0"/>
                  </a:moveTo>
                  <a:lnTo>
                    <a:pt x="8401050" y="0"/>
                  </a:lnTo>
                </a:path>
              </a:pathLst>
            </a:custGeom>
            <a:noFill/>
            <a:ln w="9525">
              <a:solidFill>
                <a:srgbClr val="DADDDC"/>
              </a:solidFill>
            </a:ln>
          </p:spPr>
        </p:sp>
        <p:sp>
          <p:nvSpPr>
            <p:cNvPr id="8" name="TextBox 8"/>
            <p:cNvSpPr txBox="1"/>
            <p:nvPr/>
          </p:nvSpPr>
          <p:spPr>
            <a:xfrm>
              <a:off x="366712" y="4962525"/>
              <a:ext cx="1893216"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芳纶柔性复合材料 / 纺织学生论坛</a:t>
              </a:r>
            </a:p>
          </p:txBody>
        </p:sp>
        <p:sp>
          <p:nvSpPr>
            <p:cNvPr id="10" name="TextBox 10"/>
            <p:cNvSpPr txBox="1"/>
            <p:nvPr/>
          </p:nvSpPr>
          <p:spPr>
            <a:xfrm>
              <a:off x="6519862" y="4962525"/>
              <a:ext cx="1065579"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研究二 · 损伤机制</a:t>
              </a:r>
            </a:p>
          </p:txBody>
        </p:sp>
        <p:sp>
          <p:nvSpPr>
            <p:cNvPr id="11" name="TextBox 11"/>
            <p:cNvSpPr txBox="1"/>
            <p:nvPr/>
          </p:nvSpPr>
          <p:spPr>
            <a:xfrm>
              <a:off x="8301781" y="4962525"/>
              <a:ext cx="465981" cy="176212"/>
            </a:xfrm>
            <a:prstGeom prst="rect">
              <a:avLst/>
            </a:prstGeom>
            <a:noFill/>
            <a:ln>
              <a:noFill/>
            </a:ln>
          </p:spPr>
          <p:txBody>
            <a:bodyPr wrap="none" lIns="0" tIns="0" rIns="0" bIns="0" anchor="t" anchorCtr="0">
              <a:spAutoFit/>
            </a:bodyPr>
            <a:lstStyle/>
            <a:p>
              <a:pPr algn="r"/>
              <a:r>
                <a:rPr lang="zh-CN" sz="900" dirty="0">
                  <a:solidFill>
                    <a:srgbClr val="69747A"/>
                  </a:solidFill>
                  <a:latin typeface="Microsoft YaHei"/>
                  <a:ea typeface="Microsoft YaHei"/>
                  <a:cs typeface="Microsoft YaHei"/>
                </a:rPr>
                <a:t>13 / 14</a:t>
              </a:r>
            </a:p>
          </p:txBody>
        </p:sp>
      </p:grpSp>
      <p:grpSp>
        <p:nvGrpSpPr>
          <p:cNvPr id="17" name="context"/>
          <p:cNvGrpSpPr/>
          <p:nvPr/>
        </p:nvGrpSpPr>
        <p:grpSpPr>
          <a:xfrm>
            <a:off x="364998" y="771525"/>
            <a:ext cx="8417052" cy="278892"/>
            <a:chOff x="364998" y="771525"/>
            <a:chExt cx="8417052" cy="278892"/>
          </a:xfrm>
        </p:grpSpPr>
        <p:sp>
          <p:nvSpPr>
            <p:cNvPr id="14" name="TextBox 14"/>
            <p:cNvSpPr txBox="1"/>
            <p:nvPr/>
          </p:nvSpPr>
          <p:spPr>
            <a:xfrm>
              <a:off x="364998" y="800100"/>
              <a:ext cx="4214622" cy="250317"/>
            </a:xfrm>
            <a:prstGeom prst="rect">
              <a:avLst/>
            </a:prstGeom>
            <a:noFill/>
            <a:ln>
              <a:noFill/>
            </a:ln>
          </p:spPr>
          <p:txBody>
            <a:bodyPr wrap="none" lIns="0" tIns="0" rIns="0" bIns="0" anchor="t" anchorCtr="0">
              <a:spAutoFit/>
            </a:bodyPr>
            <a:lstStyle/>
            <a:p>
              <a:pPr algn="l"/>
              <a:r>
                <a:rPr lang="zh-CN" sz="1280" dirty="0">
                  <a:solidFill>
                    <a:srgbClr val="69747A"/>
                  </a:solidFill>
                  <a:latin typeface="Microsoft YaHei"/>
                  <a:ea typeface="Microsoft YaHei"/>
                  <a:cs typeface="Microsoft YaHei"/>
                </a:rPr>
                <a:t>机制假设：把侵入阶段、载荷响应与损伤形貌一一对应</a:t>
              </a:r>
            </a:p>
          </p:txBody>
        </p:sp>
        <p:sp>
          <p:nvSpPr>
            <p:cNvPr id="15" name="Rectangle 15"/>
            <p:cNvSpPr/>
            <p:nvPr/>
          </p:nvSpPr>
          <p:spPr>
            <a:xfrm>
              <a:off x="7715250" y="771525"/>
              <a:ext cx="1066800" cy="247650"/>
            </a:xfrm>
            <a:prstGeom prst="roundRect">
              <a:avLst>
                <a:gd name="adj" fmla="val 15385"/>
              </a:avLst>
            </a:prstGeom>
            <a:solidFill>
              <a:srgbClr val="F6F2EE"/>
            </a:solidFill>
            <a:ln>
              <a:noFill/>
            </a:ln>
          </p:spPr>
        </p:sp>
        <p:sp>
          <p:nvSpPr>
            <p:cNvPr id="16" name="TextBox 16"/>
            <p:cNvSpPr txBox="1"/>
            <p:nvPr/>
          </p:nvSpPr>
          <p:spPr>
            <a:xfrm>
              <a:off x="8061960" y="828675"/>
              <a:ext cx="620268" cy="191643"/>
            </a:xfrm>
            <a:prstGeom prst="rect">
              <a:avLst/>
            </a:prstGeom>
            <a:noFill/>
            <a:ln>
              <a:noFill/>
            </a:ln>
          </p:spPr>
          <p:txBody>
            <a:bodyPr wrap="none" lIns="0" tIns="0" rIns="0" bIns="0" anchor="t" anchorCtr="0">
              <a:spAutoFit/>
            </a:bodyPr>
            <a:lstStyle/>
            <a:p>
              <a:pPr algn="r"/>
              <a:r>
                <a:rPr lang="zh-CN" sz="980" b="1" dirty="0">
                  <a:solidFill>
                    <a:srgbClr val="9E423D"/>
                  </a:solidFill>
                  <a:latin typeface="Microsoft YaHei"/>
                  <a:ea typeface="Microsoft YaHei"/>
                  <a:cs typeface="Microsoft YaHei"/>
                </a:rPr>
                <a:t>机制示意</a:t>
              </a:r>
            </a:p>
          </p:txBody>
        </p:sp>
      </p:grpSp>
      <p:grpSp>
        <p:nvGrpSpPr>
          <p:cNvPr id="29" name="damage-stage-0"/>
          <p:cNvGrpSpPr/>
          <p:nvPr/>
        </p:nvGrpSpPr>
        <p:grpSpPr>
          <a:xfrm>
            <a:off x="436245" y="1158875"/>
            <a:ext cx="2745105" cy="2275777"/>
            <a:chOff x="436245" y="1158875"/>
            <a:chExt cx="2745105" cy="2275777"/>
          </a:xfrm>
        </p:grpSpPr>
        <p:sp>
          <p:nvSpPr>
            <p:cNvPr id="19" name="TextBox 19"/>
            <p:cNvSpPr txBox="1"/>
            <p:nvPr/>
          </p:nvSpPr>
          <p:spPr>
            <a:xfrm>
              <a:off x="436245" y="1158875"/>
              <a:ext cx="452650" cy="440055"/>
            </a:xfrm>
            <a:prstGeom prst="rect">
              <a:avLst/>
            </a:prstGeom>
            <a:noFill/>
            <a:ln>
              <a:noFill/>
            </a:ln>
          </p:spPr>
          <p:txBody>
            <a:bodyPr wrap="none" lIns="0" tIns="0" rIns="0" bIns="0" anchor="t" anchorCtr="0">
              <a:spAutoFit/>
            </a:bodyPr>
            <a:lstStyle/>
            <a:p>
              <a:pPr algn="l"/>
              <a:r>
                <a:rPr lang="zh-CN" sz="2250" b="1" dirty="0">
                  <a:solidFill>
                    <a:srgbClr val="BD9447"/>
                  </a:solidFill>
                  <a:latin typeface="Microsoft YaHei"/>
                  <a:ea typeface="Microsoft YaHei"/>
                  <a:cs typeface="Microsoft YaHei"/>
                </a:rPr>
                <a:t>01</a:t>
              </a:r>
            </a:p>
          </p:txBody>
        </p:sp>
        <p:sp>
          <p:nvSpPr>
            <p:cNvPr id="20" name="TextBox 20"/>
            <p:cNvSpPr txBox="1"/>
            <p:nvPr/>
          </p:nvSpPr>
          <p:spPr>
            <a:xfrm>
              <a:off x="953643" y="1225550"/>
              <a:ext cx="1205865" cy="322707"/>
            </a:xfrm>
            <a:prstGeom prst="rect">
              <a:avLst/>
            </a:prstGeom>
            <a:noFill/>
            <a:ln>
              <a:noFill/>
            </a:ln>
          </p:spPr>
          <p:txBody>
            <a:bodyPr wrap="none" lIns="0" tIns="0" rIns="0" bIns="0" anchor="t" anchorCtr="0">
              <a:spAutoFit/>
            </a:bodyPr>
            <a:lstStyle/>
            <a:p>
              <a:pPr algn="l"/>
              <a:r>
                <a:rPr lang="zh-CN" sz="1650" b="1" dirty="0">
                  <a:solidFill>
                    <a:srgbClr val="9E423D"/>
                  </a:solidFill>
                  <a:latin typeface="Microsoft YaHei"/>
                  <a:ea typeface="Microsoft YaHei"/>
                  <a:cs typeface="Microsoft YaHei"/>
                </a:rPr>
                <a:t>接触与压入</a:t>
              </a:r>
            </a:p>
          </p:txBody>
        </p:sp>
        <p:sp>
          <p:nvSpPr>
            <p:cNvPr id="21" name="Line 21"/>
            <p:cNvSpPr/>
            <p:nvPr/>
          </p:nvSpPr>
          <p:spPr>
            <a:xfrm>
              <a:off x="504825" y="2066925"/>
              <a:ext cx="2409825" cy="9525"/>
            </a:xfrm>
            <a:custGeom>
              <a:avLst/>
              <a:gdLst/>
              <a:ahLst/>
              <a:cxnLst/>
              <a:rect l="l" t="t" r="r" b="b"/>
              <a:pathLst>
                <a:path w="2409825" h="9525">
                  <a:moveTo>
                    <a:pt x="0" y="0"/>
                  </a:moveTo>
                  <a:lnTo>
                    <a:pt x="2409825" y="0"/>
                  </a:lnTo>
                </a:path>
              </a:pathLst>
            </a:custGeom>
            <a:noFill/>
            <a:ln w="47625">
              <a:solidFill>
                <a:srgbClr val="BD9447"/>
              </a:solidFill>
            </a:ln>
          </p:spPr>
        </p:sp>
        <p:sp>
          <p:nvSpPr>
            <p:cNvPr id="22" name="Line 22"/>
            <p:cNvSpPr/>
            <p:nvPr/>
          </p:nvSpPr>
          <p:spPr>
            <a:xfrm>
              <a:off x="504825" y="2219325"/>
              <a:ext cx="2409825" cy="9525"/>
            </a:xfrm>
            <a:custGeom>
              <a:avLst/>
              <a:gdLst/>
              <a:ahLst/>
              <a:cxnLst/>
              <a:rect l="l" t="t" r="r" b="b"/>
              <a:pathLst>
                <a:path w="2409825" h="9525">
                  <a:moveTo>
                    <a:pt x="0" y="0"/>
                  </a:moveTo>
                  <a:lnTo>
                    <a:pt x="2409825" y="0"/>
                  </a:lnTo>
                </a:path>
              </a:pathLst>
            </a:custGeom>
            <a:noFill/>
            <a:ln w="47625">
              <a:solidFill>
                <a:srgbClr val="BD9447"/>
              </a:solidFill>
            </a:ln>
          </p:spPr>
        </p:sp>
        <p:sp>
          <p:nvSpPr>
            <p:cNvPr id="23" name="Line 23"/>
            <p:cNvSpPr/>
            <p:nvPr/>
          </p:nvSpPr>
          <p:spPr>
            <a:xfrm>
              <a:off x="504825" y="2371725"/>
              <a:ext cx="2409825" cy="9525"/>
            </a:xfrm>
            <a:custGeom>
              <a:avLst/>
              <a:gdLst/>
              <a:ahLst/>
              <a:cxnLst/>
              <a:rect l="l" t="t" r="r" b="b"/>
              <a:pathLst>
                <a:path w="2409825" h="9525">
                  <a:moveTo>
                    <a:pt x="0" y="0"/>
                  </a:moveTo>
                  <a:lnTo>
                    <a:pt x="2409825" y="0"/>
                  </a:lnTo>
                </a:path>
              </a:pathLst>
            </a:custGeom>
            <a:noFill/>
            <a:ln w="47625">
              <a:solidFill>
                <a:srgbClr val="BD9447"/>
              </a:solidFill>
            </a:ln>
          </p:spPr>
        </p:sp>
        <p:sp>
          <p:nvSpPr>
            <p:cNvPr id="24" name="Polygon 24"/>
            <p:cNvSpPr/>
            <p:nvPr/>
          </p:nvSpPr>
          <p:spPr>
            <a:xfrm>
              <a:off x="1485900" y="1676400"/>
              <a:ext cx="266700" cy="276225"/>
            </a:xfrm>
            <a:custGeom>
              <a:avLst/>
              <a:gdLst/>
              <a:ahLst/>
              <a:cxnLst/>
              <a:rect l="l" t="t" r="r" b="b"/>
              <a:pathLst>
                <a:path w="266700" h="276225">
                  <a:moveTo>
                    <a:pt x="133350" y="0"/>
                  </a:moveTo>
                  <a:lnTo>
                    <a:pt x="0" y="276225"/>
                  </a:lnTo>
                  <a:lnTo>
                    <a:pt x="266700" y="276225"/>
                  </a:lnTo>
                  <a:close/>
                </a:path>
              </a:pathLst>
            </a:custGeom>
            <a:solidFill>
              <a:srgbClr val="29343A"/>
            </a:solidFill>
            <a:ln>
              <a:noFill/>
            </a:ln>
          </p:spPr>
        </p:sp>
        <p:sp>
          <p:nvSpPr>
            <p:cNvPr id="25" name="Line 25"/>
            <p:cNvSpPr/>
            <p:nvPr/>
          </p:nvSpPr>
          <p:spPr>
            <a:xfrm>
              <a:off x="1619250" y="1495425"/>
              <a:ext cx="1" cy="142875"/>
            </a:xfrm>
            <a:prstGeom prst="line">
              <a:avLst/>
            </a:prstGeom>
            <a:noFill/>
            <a:ln w="14288">
              <a:solidFill>
                <a:srgbClr val="69747A"/>
              </a:solidFill>
              <a:tailEnd type="triangle" w="lg" len="lg"/>
            </a:ln>
          </p:spPr>
        </p:sp>
        <p:sp>
          <p:nvSpPr>
            <p:cNvPr id="26" name="TextBox 26"/>
            <p:cNvSpPr txBox="1"/>
            <p:nvPr/>
          </p:nvSpPr>
          <p:spPr>
            <a:xfrm>
              <a:off x="449961" y="2851150"/>
              <a:ext cx="1821752" cy="278702"/>
            </a:xfrm>
            <a:prstGeom prst="rect">
              <a:avLst/>
            </a:prstGeom>
            <a:noFill/>
            <a:ln>
              <a:noFill/>
            </a:ln>
          </p:spPr>
          <p:txBody>
            <a:bodyPr wrap="none" lIns="0" tIns="0" rIns="0" bIns="0" anchor="t" anchorCtr="0">
              <a:spAutoFit/>
            </a:bodyPr>
            <a:lstStyle/>
            <a:p>
              <a:pPr algn="l"/>
              <a:r>
                <a:rPr lang="zh-CN" sz="1420" dirty="0">
                  <a:solidFill>
                    <a:srgbClr val="29343A"/>
                  </a:solidFill>
                  <a:latin typeface="Microsoft YaHei"/>
                  <a:ea typeface="Microsoft YaHei"/>
                  <a:cs typeface="Microsoft YaHei"/>
                </a:rPr>
                <a:t>局部压缩与纱线弯曲</a:t>
              </a:r>
            </a:p>
          </p:txBody>
        </p:sp>
        <p:sp>
          <p:nvSpPr>
            <p:cNvPr id="27" name="TextBox 27"/>
            <p:cNvSpPr txBox="1"/>
            <p:nvPr/>
          </p:nvSpPr>
          <p:spPr>
            <a:xfrm>
              <a:off x="449961" y="3155950"/>
              <a:ext cx="1438085" cy="278702"/>
            </a:xfrm>
            <a:prstGeom prst="rect">
              <a:avLst/>
            </a:prstGeom>
            <a:noFill/>
            <a:ln>
              <a:noFill/>
            </a:ln>
          </p:spPr>
          <p:txBody>
            <a:bodyPr wrap="none" lIns="0" tIns="0" rIns="0" bIns="0" anchor="t" anchorCtr="0">
              <a:spAutoFit/>
            </a:bodyPr>
            <a:lstStyle/>
            <a:p>
              <a:pPr algn="l"/>
              <a:r>
                <a:rPr lang="zh-CN" sz="1420" dirty="0">
                  <a:solidFill>
                    <a:srgbClr val="29343A"/>
                  </a:solidFill>
                  <a:latin typeface="Microsoft YaHei"/>
                  <a:ea typeface="Microsoft YaHei"/>
                  <a:cs typeface="Microsoft YaHei"/>
                </a:rPr>
                <a:t>观察接触区尺寸</a:t>
              </a:r>
            </a:p>
          </p:txBody>
        </p:sp>
        <p:sp>
          <p:nvSpPr>
            <p:cNvPr id="28" name="Line 28"/>
            <p:cNvSpPr/>
            <p:nvPr/>
          </p:nvSpPr>
          <p:spPr>
            <a:xfrm>
              <a:off x="2962275" y="2238375"/>
              <a:ext cx="219075" cy="1"/>
            </a:xfrm>
            <a:prstGeom prst="line">
              <a:avLst/>
            </a:prstGeom>
            <a:noFill/>
            <a:ln w="19050">
              <a:solidFill>
                <a:srgbClr val="69747A"/>
              </a:solidFill>
              <a:tailEnd type="triangle" w="lg" len="lg"/>
            </a:ln>
          </p:spPr>
        </p:sp>
      </p:grpSp>
      <p:grpSp>
        <p:nvGrpSpPr>
          <p:cNvPr id="42" name="damage-stage-1"/>
          <p:cNvGrpSpPr/>
          <p:nvPr/>
        </p:nvGrpSpPr>
        <p:grpSpPr>
          <a:xfrm>
            <a:off x="3331845" y="1158875"/>
            <a:ext cx="2745105" cy="2275777"/>
            <a:chOff x="3331845" y="1158875"/>
            <a:chExt cx="2745105" cy="2275777"/>
          </a:xfrm>
        </p:grpSpPr>
        <p:sp>
          <p:nvSpPr>
            <p:cNvPr id="30" name="TextBox 30"/>
            <p:cNvSpPr txBox="1"/>
            <p:nvPr/>
          </p:nvSpPr>
          <p:spPr>
            <a:xfrm>
              <a:off x="3331845" y="1158875"/>
              <a:ext cx="452650" cy="440055"/>
            </a:xfrm>
            <a:prstGeom prst="rect">
              <a:avLst/>
            </a:prstGeom>
            <a:noFill/>
            <a:ln>
              <a:noFill/>
            </a:ln>
          </p:spPr>
          <p:txBody>
            <a:bodyPr wrap="none" lIns="0" tIns="0" rIns="0" bIns="0" anchor="t" anchorCtr="0">
              <a:spAutoFit/>
            </a:bodyPr>
            <a:lstStyle/>
            <a:p>
              <a:pPr algn="l"/>
              <a:r>
                <a:rPr lang="zh-CN" sz="2250" b="1" dirty="0">
                  <a:solidFill>
                    <a:srgbClr val="BD9447"/>
                  </a:solidFill>
                  <a:latin typeface="Microsoft YaHei"/>
                  <a:ea typeface="Microsoft YaHei"/>
                  <a:cs typeface="Microsoft YaHei"/>
                </a:rPr>
                <a:t>02</a:t>
              </a:r>
            </a:p>
          </p:txBody>
        </p:sp>
        <p:sp>
          <p:nvSpPr>
            <p:cNvPr id="31" name="TextBox 31"/>
            <p:cNvSpPr txBox="1"/>
            <p:nvPr/>
          </p:nvSpPr>
          <p:spPr>
            <a:xfrm>
              <a:off x="3849243" y="1225550"/>
              <a:ext cx="1205865" cy="322707"/>
            </a:xfrm>
            <a:prstGeom prst="rect">
              <a:avLst/>
            </a:prstGeom>
            <a:noFill/>
            <a:ln>
              <a:noFill/>
            </a:ln>
          </p:spPr>
          <p:txBody>
            <a:bodyPr wrap="none" lIns="0" tIns="0" rIns="0" bIns="0" anchor="t" anchorCtr="0">
              <a:spAutoFit/>
            </a:bodyPr>
            <a:lstStyle/>
            <a:p>
              <a:pPr algn="l"/>
              <a:r>
                <a:rPr lang="zh-CN" sz="1650" b="1" dirty="0">
                  <a:solidFill>
                    <a:srgbClr val="9E423D"/>
                  </a:solidFill>
                  <a:latin typeface="Microsoft YaHei"/>
                  <a:ea typeface="Microsoft YaHei"/>
                  <a:cs typeface="Microsoft YaHei"/>
                </a:rPr>
                <a:t>约束与扩散</a:t>
              </a:r>
            </a:p>
          </p:txBody>
        </p:sp>
        <p:sp>
          <p:nvSpPr>
            <p:cNvPr id="32" name="Line 32"/>
            <p:cNvSpPr/>
            <p:nvPr/>
          </p:nvSpPr>
          <p:spPr>
            <a:xfrm>
              <a:off x="3400425" y="2066925"/>
              <a:ext cx="2409825" cy="9525"/>
            </a:xfrm>
            <a:custGeom>
              <a:avLst/>
              <a:gdLst/>
              <a:ahLst/>
              <a:cxnLst/>
              <a:rect l="l" t="t" r="r" b="b"/>
              <a:pathLst>
                <a:path w="2409825" h="9525">
                  <a:moveTo>
                    <a:pt x="0" y="0"/>
                  </a:moveTo>
                  <a:lnTo>
                    <a:pt x="2409825" y="0"/>
                  </a:lnTo>
                </a:path>
              </a:pathLst>
            </a:custGeom>
            <a:noFill/>
            <a:ln w="47625">
              <a:solidFill>
                <a:srgbClr val="BD9447"/>
              </a:solidFill>
            </a:ln>
          </p:spPr>
        </p:sp>
        <p:sp>
          <p:nvSpPr>
            <p:cNvPr id="33" name="Line 33"/>
            <p:cNvSpPr/>
            <p:nvPr/>
          </p:nvSpPr>
          <p:spPr>
            <a:xfrm>
              <a:off x="3400425" y="2219325"/>
              <a:ext cx="2409825" cy="9525"/>
            </a:xfrm>
            <a:custGeom>
              <a:avLst/>
              <a:gdLst/>
              <a:ahLst/>
              <a:cxnLst/>
              <a:rect l="l" t="t" r="r" b="b"/>
              <a:pathLst>
                <a:path w="2409825" h="9525">
                  <a:moveTo>
                    <a:pt x="0" y="0"/>
                  </a:moveTo>
                  <a:lnTo>
                    <a:pt x="2409825" y="0"/>
                  </a:lnTo>
                </a:path>
              </a:pathLst>
            </a:custGeom>
            <a:noFill/>
            <a:ln w="47625">
              <a:solidFill>
                <a:srgbClr val="BD9447"/>
              </a:solidFill>
            </a:ln>
          </p:spPr>
        </p:sp>
        <p:sp>
          <p:nvSpPr>
            <p:cNvPr id="34" name="Line 34"/>
            <p:cNvSpPr/>
            <p:nvPr/>
          </p:nvSpPr>
          <p:spPr>
            <a:xfrm>
              <a:off x="3400425" y="2371725"/>
              <a:ext cx="2409825" cy="9525"/>
            </a:xfrm>
            <a:custGeom>
              <a:avLst/>
              <a:gdLst/>
              <a:ahLst/>
              <a:cxnLst/>
              <a:rect l="l" t="t" r="r" b="b"/>
              <a:pathLst>
                <a:path w="2409825" h="9525">
                  <a:moveTo>
                    <a:pt x="0" y="0"/>
                  </a:moveTo>
                  <a:lnTo>
                    <a:pt x="2409825" y="0"/>
                  </a:lnTo>
                </a:path>
              </a:pathLst>
            </a:custGeom>
            <a:noFill/>
            <a:ln w="47625">
              <a:solidFill>
                <a:srgbClr val="BD9447"/>
              </a:solidFill>
            </a:ln>
          </p:spPr>
        </p:sp>
        <p:sp>
          <p:nvSpPr>
            <p:cNvPr id="35" name="Polygon 35"/>
            <p:cNvSpPr/>
            <p:nvPr/>
          </p:nvSpPr>
          <p:spPr>
            <a:xfrm>
              <a:off x="4381500" y="1676400"/>
              <a:ext cx="266700" cy="276225"/>
            </a:xfrm>
            <a:custGeom>
              <a:avLst/>
              <a:gdLst/>
              <a:ahLst/>
              <a:cxnLst/>
              <a:rect l="l" t="t" r="r" b="b"/>
              <a:pathLst>
                <a:path w="266700" h="276225">
                  <a:moveTo>
                    <a:pt x="133350" y="0"/>
                  </a:moveTo>
                  <a:lnTo>
                    <a:pt x="0" y="276225"/>
                  </a:lnTo>
                  <a:lnTo>
                    <a:pt x="266700" y="276225"/>
                  </a:lnTo>
                  <a:close/>
                </a:path>
              </a:pathLst>
            </a:custGeom>
            <a:solidFill>
              <a:srgbClr val="29343A"/>
            </a:solidFill>
            <a:ln>
              <a:noFill/>
            </a:ln>
          </p:spPr>
        </p:sp>
        <p:sp>
          <p:nvSpPr>
            <p:cNvPr id="36" name="Line 36"/>
            <p:cNvSpPr/>
            <p:nvPr/>
          </p:nvSpPr>
          <p:spPr>
            <a:xfrm>
              <a:off x="4514850" y="1495425"/>
              <a:ext cx="1" cy="142875"/>
            </a:xfrm>
            <a:prstGeom prst="line">
              <a:avLst/>
            </a:prstGeom>
            <a:noFill/>
            <a:ln w="14288">
              <a:solidFill>
                <a:srgbClr val="69747A"/>
              </a:solidFill>
              <a:tailEnd type="triangle" w="lg" len="lg"/>
            </a:ln>
          </p:spPr>
        </p:sp>
        <p:sp>
          <p:nvSpPr>
            <p:cNvPr id="37" name="Line 37"/>
            <p:cNvSpPr/>
            <p:nvPr/>
          </p:nvSpPr>
          <p:spPr>
            <a:xfrm flipH="1">
              <a:off x="3629025" y="2524125"/>
              <a:ext cx="581025" cy="1"/>
            </a:xfrm>
            <a:prstGeom prst="line">
              <a:avLst/>
            </a:prstGeom>
            <a:noFill/>
            <a:ln w="19050">
              <a:solidFill>
                <a:srgbClr val="246D73"/>
              </a:solidFill>
              <a:tailEnd type="triangle" w="lg" len="lg"/>
            </a:ln>
          </p:spPr>
        </p:sp>
        <p:sp>
          <p:nvSpPr>
            <p:cNvPr id="38" name="Line 38"/>
            <p:cNvSpPr/>
            <p:nvPr/>
          </p:nvSpPr>
          <p:spPr>
            <a:xfrm>
              <a:off x="4810125" y="2524125"/>
              <a:ext cx="695325" cy="1"/>
            </a:xfrm>
            <a:prstGeom prst="line">
              <a:avLst/>
            </a:prstGeom>
            <a:noFill/>
            <a:ln w="19050">
              <a:solidFill>
                <a:srgbClr val="246D73"/>
              </a:solidFill>
              <a:tailEnd type="triangle" w="lg" len="lg"/>
            </a:ln>
          </p:spPr>
        </p:sp>
        <p:sp>
          <p:nvSpPr>
            <p:cNvPr id="39" name="TextBox 39"/>
            <p:cNvSpPr txBox="1"/>
            <p:nvPr/>
          </p:nvSpPr>
          <p:spPr>
            <a:xfrm>
              <a:off x="3345561" y="2851150"/>
              <a:ext cx="1821752" cy="278702"/>
            </a:xfrm>
            <a:prstGeom prst="rect">
              <a:avLst/>
            </a:prstGeom>
            <a:noFill/>
            <a:ln>
              <a:noFill/>
            </a:ln>
          </p:spPr>
          <p:txBody>
            <a:bodyPr wrap="none" lIns="0" tIns="0" rIns="0" bIns="0" anchor="t" anchorCtr="0">
              <a:spAutoFit/>
            </a:bodyPr>
            <a:lstStyle/>
            <a:p>
              <a:pPr algn="l"/>
              <a:r>
                <a:rPr lang="zh-CN" sz="1420" dirty="0">
                  <a:solidFill>
                    <a:srgbClr val="29343A"/>
                  </a:solidFill>
                  <a:latin typeface="Microsoft YaHei"/>
                  <a:ea typeface="Microsoft YaHei"/>
                  <a:cs typeface="Microsoft YaHei"/>
                </a:rPr>
                <a:t>纱线牵引与相对滑移</a:t>
              </a:r>
            </a:p>
          </p:txBody>
        </p:sp>
        <p:sp>
          <p:nvSpPr>
            <p:cNvPr id="40" name="TextBox 40"/>
            <p:cNvSpPr txBox="1"/>
            <p:nvPr/>
          </p:nvSpPr>
          <p:spPr>
            <a:xfrm>
              <a:off x="3345561" y="3155950"/>
              <a:ext cx="1246251" cy="278702"/>
            </a:xfrm>
            <a:prstGeom prst="rect">
              <a:avLst/>
            </a:prstGeom>
            <a:noFill/>
            <a:ln>
              <a:noFill/>
            </a:ln>
          </p:spPr>
          <p:txBody>
            <a:bodyPr wrap="none" lIns="0" tIns="0" rIns="0" bIns="0" anchor="t" anchorCtr="0">
              <a:spAutoFit/>
            </a:bodyPr>
            <a:lstStyle/>
            <a:p>
              <a:pPr algn="l"/>
              <a:r>
                <a:rPr lang="zh-CN" sz="1420" dirty="0">
                  <a:solidFill>
                    <a:srgbClr val="29343A"/>
                  </a:solidFill>
                  <a:latin typeface="Microsoft YaHei"/>
                  <a:ea typeface="Microsoft YaHei"/>
                  <a:cs typeface="Microsoft YaHei"/>
                </a:rPr>
                <a:t>观察受载范围</a:t>
              </a:r>
            </a:p>
          </p:txBody>
        </p:sp>
        <p:sp>
          <p:nvSpPr>
            <p:cNvPr id="41" name="Line 41"/>
            <p:cNvSpPr/>
            <p:nvPr/>
          </p:nvSpPr>
          <p:spPr>
            <a:xfrm>
              <a:off x="5857875" y="2238375"/>
              <a:ext cx="219075" cy="1"/>
            </a:xfrm>
            <a:prstGeom prst="line">
              <a:avLst/>
            </a:prstGeom>
            <a:noFill/>
            <a:ln w="19050">
              <a:solidFill>
                <a:srgbClr val="69747A"/>
              </a:solidFill>
              <a:tailEnd type="triangle" w="lg" len="lg"/>
            </a:ln>
          </p:spPr>
        </p:sp>
      </p:grpSp>
      <p:grpSp>
        <p:nvGrpSpPr>
          <p:cNvPr id="55" name="damage-stage-2"/>
          <p:cNvGrpSpPr/>
          <p:nvPr/>
        </p:nvGrpSpPr>
        <p:grpSpPr>
          <a:xfrm>
            <a:off x="6227445" y="1158875"/>
            <a:ext cx="2478405" cy="2275777"/>
            <a:chOff x="6227445" y="1158875"/>
            <a:chExt cx="2478405" cy="2275777"/>
          </a:xfrm>
        </p:grpSpPr>
        <p:sp>
          <p:nvSpPr>
            <p:cNvPr id="43" name="TextBox 43"/>
            <p:cNvSpPr txBox="1"/>
            <p:nvPr/>
          </p:nvSpPr>
          <p:spPr>
            <a:xfrm>
              <a:off x="6227445" y="1158875"/>
              <a:ext cx="452650" cy="440055"/>
            </a:xfrm>
            <a:prstGeom prst="rect">
              <a:avLst/>
            </a:prstGeom>
            <a:noFill/>
            <a:ln>
              <a:noFill/>
            </a:ln>
          </p:spPr>
          <p:txBody>
            <a:bodyPr wrap="none" lIns="0" tIns="0" rIns="0" bIns="0" anchor="t" anchorCtr="0">
              <a:spAutoFit/>
            </a:bodyPr>
            <a:lstStyle/>
            <a:p>
              <a:pPr algn="l"/>
              <a:r>
                <a:rPr lang="zh-CN" sz="2250" b="1" dirty="0">
                  <a:solidFill>
                    <a:srgbClr val="BD9447"/>
                  </a:solidFill>
                  <a:latin typeface="Microsoft YaHei"/>
                  <a:ea typeface="Microsoft YaHei"/>
                  <a:cs typeface="Microsoft YaHei"/>
                </a:rPr>
                <a:t>03</a:t>
              </a:r>
            </a:p>
          </p:txBody>
        </p:sp>
        <p:sp>
          <p:nvSpPr>
            <p:cNvPr id="44" name="TextBox 44"/>
            <p:cNvSpPr txBox="1"/>
            <p:nvPr/>
          </p:nvSpPr>
          <p:spPr>
            <a:xfrm>
              <a:off x="6744843" y="1225550"/>
              <a:ext cx="1205865" cy="322707"/>
            </a:xfrm>
            <a:prstGeom prst="rect">
              <a:avLst/>
            </a:prstGeom>
            <a:noFill/>
            <a:ln>
              <a:noFill/>
            </a:ln>
          </p:spPr>
          <p:txBody>
            <a:bodyPr wrap="none" lIns="0" tIns="0" rIns="0" bIns="0" anchor="t" anchorCtr="0">
              <a:spAutoFit/>
            </a:bodyPr>
            <a:lstStyle/>
            <a:p>
              <a:pPr algn="l"/>
              <a:r>
                <a:rPr lang="zh-CN" sz="1650" b="1" dirty="0">
                  <a:solidFill>
                    <a:srgbClr val="9E423D"/>
                  </a:solidFill>
                  <a:latin typeface="Microsoft YaHei"/>
                  <a:ea typeface="Microsoft YaHei"/>
                  <a:cs typeface="Microsoft YaHei"/>
                </a:rPr>
                <a:t>穿透与损伤</a:t>
              </a:r>
            </a:p>
          </p:txBody>
        </p:sp>
        <p:sp>
          <p:nvSpPr>
            <p:cNvPr id="45" name="Line 45"/>
            <p:cNvSpPr/>
            <p:nvPr/>
          </p:nvSpPr>
          <p:spPr>
            <a:xfrm>
              <a:off x="6296025" y="2066925"/>
              <a:ext cx="2409825" cy="9525"/>
            </a:xfrm>
            <a:custGeom>
              <a:avLst/>
              <a:gdLst/>
              <a:ahLst/>
              <a:cxnLst/>
              <a:rect l="l" t="t" r="r" b="b"/>
              <a:pathLst>
                <a:path w="2409825" h="9525">
                  <a:moveTo>
                    <a:pt x="0" y="0"/>
                  </a:moveTo>
                  <a:lnTo>
                    <a:pt x="2409825" y="0"/>
                  </a:lnTo>
                </a:path>
              </a:pathLst>
            </a:custGeom>
            <a:noFill/>
            <a:ln w="47625">
              <a:solidFill>
                <a:srgbClr val="BD9447"/>
              </a:solidFill>
            </a:ln>
          </p:spPr>
        </p:sp>
        <p:sp>
          <p:nvSpPr>
            <p:cNvPr id="46" name="Line 46"/>
            <p:cNvSpPr/>
            <p:nvPr/>
          </p:nvSpPr>
          <p:spPr>
            <a:xfrm>
              <a:off x="6296025" y="2219325"/>
              <a:ext cx="2409825" cy="9525"/>
            </a:xfrm>
            <a:custGeom>
              <a:avLst/>
              <a:gdLst/>
              <a:ahLst/>
              <a:cxnLst/>
              <a:rect l="l" t="t" r="r" b="b"/>
              <a:pathLst>
                <a:path w="2409825" h="9525">
                  <a:moveTo>
                    <a:pt x="0" y="0"/>
                  </a:moveTo>
                  <a:lnTo>
                    <a:pt x="2409825" y="0"/>
                  </a:lnTo>
                </a:path>
              </a:pathLst>
            </a:custGeom>
            <a:noFill/>
            <a:ln w="47625">
              <a:solidFill>
                <a:srgbClr val="BD9447"/>
              </a:solidFill>
            </a:ln>
          </p:spPr>
        </p:sp>
        <p:sp>
          <p:nvSpPr>
            <p:cNvPr id="47" name="Line 47"/>
            <p:cNvSpPr/>
            <p:nvPr/>
          </p:nvSpPr>
          <p:spPr>
            <a:xfrm>
              <a:off x="6296025" y="2371725"/>
              <a:ext cx="2409825" cy="9525"/>
            </a:xfrm>
            <a:custGeom>
              <a:avLst/>
              <a:gdLst/>
              <a:ahLst/>
              <a:cxnLst/>
              <a:rect l="l" t="t" r="r" b="b"/>
              <a:pathLst>
                <a:path w="2409825" h="9525">
                  <a:moveTo>
                    <a:pt x="0" y="0"/>
                  </a:moveTo>
                  <a:lnTo>
                    <a:pt x="2409825" y="0"/>
                  </a:lnTo>
                </a:path>
              </a:pathLst>
            </a:custGeom>
            <a:noFill/>
            <a:ln w="47625">
              <a:solidFill>
                <a:srgbClr val="BD9447"/>
              </a:solidFill>
            </a:ln>
          </p:spPr>
        </p:sp>
        <p:sp>
          <p:nvSpPr>
            <p:cNvPr id="48" name="Polygon 48"/>
            <p:cNvSpPr/>
            <p:nvPr/>
          </p:nvSpPr>
          <p:spPr>
            <a:xfrm>
              <a:off x="7277100" y="1676400"/>
              <a:ext cx="266700" cy="276225"/>
            </a:xfrm>
            <a:custGeom>
              <a:avLst/>
              <a:gdLst/>
              <a:ahLst/>
              <a:cxnLst/>
              <a:rect l="l" t="t" r="r" b="b"/>
              <a:pathLst>
                <a:path w="266700" h="276225">
                  <a:moveTo>
                    <a:pt x="133350" y="0"/>
                  </a:moveTo>
                  <a:lnTo>
                    <a:pt x="0" y="276225"/>
                  </a:lnTo>
                  <a:lnTo>
                    <a:pt x="266700" y="276225"/>
                  </a:lnTo>
                  <a:close/>
                </a:path>
              </a:pathLst>
            </a:custGeom>
            <a:solidFill>
              <a:srgbClr val="29343A"/>
            </a:solidFill>
            <a:ln>
              <a:noFill/>
            </a:ln>
          </p:spPr>
        </p:sp>
        <p:sp>
          <p:nvSpPr>
            <p:cNvPr id="49" name="Line 49"/>
            <p:cNvSpPr/>
            <p:nvPr/>
          </p:nvSpPr>
          <p:spPr>
            <a:xfrm>
              <a:off x="7410450" y="1495425"/>
              <a:ext cx="1" cy="142875"/>
            </a:xfrm>
            <a:prstGeom prst="line">
              <a:avLst/>
            </a:prstGeom>
            <a:noFill/>
            <a:ln w="14288">
              <a:solidFill>
                <a:srgbClr val="69747A"/>
              </a:solidFill>
              <a:tailEnd type="triangle" w="lg" len="lg"/>
            </a:ln>
          </p:spPr>
        </p:sp>
        <p:sp>
          <p:nvSpPr>
            <p:cNvPr id="50" name="Rectangle 50"/>
            <p:cNvSpPr/>
            <p:nvPr/>
          </p:nvSpPr>
          <p:spPr>
            <a:xfrm>
              <a:off x="7305675" y="2009775"/>
              <a:ext cx="219075" cy="447675"/>
            </a:xfrm>
            <a:prstGeom prst="rect">
              <a:avLst/>
            </a:prstGeom>
            <a:solidFill>
              <a:srgbClr val="FFFFFF"/>
            </a:solidFill>
            <a:ln>
              <a:noFill/>
            </a:ln>
          </p:spPr>
        </p:sp>
        <p:sp>
          <p:nvSpPr>
            <p:cNvPr id="51" name="Line 51"/>
            <p:cNvSpPr/>
            <p:nvPr/>
          </p:nvSpPr>
          <p:spPr>
            <a:xfrm>
              <a:off x="7172325" y="2057400"/>
              <a:ext cx="133350" cy="85725"/>
            </a:xfrm>
            <a:custGeom>
              <a:avLst/>
              <a:gdLst/>
              <a:ahLst/>
              <a:cxnLst/>
              <a:rect l="l" t="t" r="r" b="b"/>
              <a:pathLst>
                <a:path w="133350" h="85725">
                  <a:moveTo>
                    <a:pt x="0" y="0"/>
                  </a:moveTo>
                  <a:lnTo>
                    <a:pt x="133350" y="85725"/>
                  </a:lnTo>
                </a:path>
              </a:pathLst>
            </a:custGeom>
            <a:noFill/>
            <a:ln w="19050">
              <a:solidFill>
                <a:srgbClr val="9E423D"/>
              </a:solidFill>
            </a:ln>
          </p:spPr>
        </p:sp>
        <p:sp>
          <p:nvSpPr>
            <p:cNvPr id="52" name="Line 52"/>
            <p:cNvSpPr/>
            <p:nvPr/>
          </p:nvSpPr>
          <p:spPr>
            <a:xfrm>
              <a:off x="7515225" y="2047875"/>
              <a:ext cx="133350" cy="104775"/>
            </a:xfrm>
            <a:custGeom>
              <a:avLst/>
              <a:gdLst/>
              <a:ahLst/>
              <a:cxnLst/>
              <a:rect l="l" t="t" r="r" b="b"/>
              <a:pathLst>
                <a:path w="133350" h="104775">
                  <a:moveTo>
                    <a:pt x="0" y="104775"/>
                  </a:moveTo>
                  <a:lnTo>
                    <a:pt x="133350" y="0"/>
                  </a:lnTo>
                </a:path>
              </a:pathLst>
            </a:custGeom>
            <a:noFill/>
            <a:ln w="19050">
              <a:solidFill>
                <a:srgbClr val="9E423D"/>
              </a:solidFill>
            </a:ln>
          </p:spPr>
        </p:sp>
        <p:sp>
          <p:nvSpPr>
            <p:cNvPr id="53" name="TextBox 53"/>
            <p:cNvSpPr txBox="1"/>
            <p:nvPr/>
          </p:nvSpPr>
          <p:spPr>
            <a:xfrm>
              <a:off x="6241161" y="2851150"/>
              <a:ext cx="1791107" cy="278702"/>
            </a:xfrm>
            <a:prstGeom prst="rect">
              <a:avLst/>
            </a:prstGeom>
            <a:noFill/>
            <a:ln>
              <a:noFill/>
            </a:ln>
          </p:spPr>
          <p:txBody>
            <a:bodyPr wrap="none" lIns="0" tIns="0" rIns="0" bIns="0" anchor="t" anchorCtr="0">
              <a:spAutoFit/>
            </a:bodyPr>
            <a:lstStyle/>
            <a:p>
              <a:pPr algn="l"/>
              <a:r>
                <a:rPr lang="zh-CN" sz="1420" dirty="0">
                  <a:solidFill>
                    <a:srgbClr val="29343A"/>
                  </a:solidFill>
                  <a:latin typeface="Microsoft YaHei"/>
                  <a:ea typeface="Microsoft YaHei"/>
                  <a:cs typeface="Microsoft YaHei"/>
                </a:rPr>
                <a:t>滑移扩孔 / 纤维切断</a:t>
              </a:r>
            </a:p>
          </p:txBody>
        </p:sp>
        <p:sp>
          <p:nvSpPr>
            <p:cNvPr id="54" name="TextBox 54"/>
            <p:cNvSpPr txBox="1"/>
            <p:nvPr/>
          </p:nvSpPr>
          <p:spPr>
            <a:xfrm>
              <a:off x="6241161" y="3155950"/>
              <a:ext cx="1821752" cy="278702"/>
            </a:xfrm>
            <a:prstGeom prst="rect">
              <a:avLst/>
            </a:prstGeom>
            <a:noFill/>
            <a:ln>
              <a:noFill/>
            </a:ln>
          </p:spPr>
          <p:txBody>
            <a:bodyPr wrap="none" lIns="0" tIns="0" rIns="0" bIns="0" anchor="t" anchorCtr="0">
              <a:spAutoFit/>
            </a:bodyPr>
            <a:lstStyle/>
            <a:p>
              <a:pPr algn="l"/>
              <a:r>
                <a:rPr lang="zh-CN" sz="1420" dirty="0">
                  <a:solidFill>
                    <a:srgbClr val="29343A"/>
                  </a:solidFill>
                  <a:latin typeface="Microsoft YaHei"/>
                  <a:ea typeface="Microsoft YaHei"/>
                  <a:cs typeface="Microsoft YaHei"/>
                </a:rPr>
                <a:t>观察切口及断裂纱线</a:t>
              </a:r>
            </a:p>
          </p:txBody>
        </p:sp>
      </p:grpSp>
      <p:grpSp>
        <p:nvGrpSpPr>
          <p:cNvPr id="58" name="evidence-chain"/>
          <p:cNvGrpSpPr/>
          <p:nvPr/>
        </p:nvGrpSpPr>
        <p:grpSpPr>
          <a:xfrm>
            <a:off x="381000" y="3686175"/>
            <a:ext cx="8391525" cy="504825"/>
            <a:chOff x="381000" y="3686175"/>
            <a:chExt cx="8391525" cy="504825"/>
          </a:xfrm>
        </p:grpSpPr>
        <p:sp>
          <p:nvSpPr>
            <p:cNvPr id="56" name="Rectangle 56"/>
            <p:cNvSpPr/>
            <p:nvPr/>
          </p:nvSpPr>
          <p:spPr>
            <a:xfrm>
              <a:off x="381000" y="3686175"/>
              <a:ext cx="8391525" cy="504825"/>
            </a:xfrm>
            <a:prstGeom prst="rect">
              <a:avLst/>
            </a:prstGeom>
            <a:solidFill>
              <a:srgbClr val="F6F2EE"/>
            </a:solidFill>
            <a:ln>
              <a:noFill/>
            </a:ln>
          </p:spPr>
        </p:sp>
        <p:sp>
          <p:nvSpPr>
            <p:cNvPr id="57" name="TextBox 57"/>
            <p:cNvSpPr txBox="1"/>
            <p:nvPr/>
          </p:nvSpPr>
          <p:spPr>
            <a:xfrm>
              <a:off x="544449" y="3810000"/>
              <a:ext cx="6171213" cy="308991"/>
            </a:xfrm>
            <a:prstGeom prst="rect">
              <a:avLst/>
            </a:prstGeom>
            <a:noFill/>
            <a:ln>
              <a:noFill/>
            </a:ln>
          </p:spPr>
          <p:txBody>
            <a:bodyPr wrap="none" lIns="0" tIns="0" rIns="0" bIns="0" anchor="t" anchorCtr="0">
              <a:spAutoFit/>
            </a:bodyPr>
            <a:lstStyle/>
            <a:p>
              <a:pPr algn="l"/>
              <a:r>
                <a:rPr lang="zh-CN" sz="1580" b="1" dirty="0">
                  <a:solidFill>
                    <a:srgbClr val="246D73"/>
                  </a:solidFill>
                  <a:latin typeface="Microsoft YaHei"/>
                  <a:ea typeface="Microsoft YaHei"/>
                  <a:cs typeface="Microsoft YaHei"/>
                </a:rPr>
                <a:t>证据链：同步图像 / 中断试验 → 力—位移响应 → 表面与截面形貌</a:t>
              </a:r>
            </a:p>
          </p:txBody>
        </p:sp>
      </p:grpSp>
      <p:grpSp>
        <p:nvGrpSpPr>
          <p:cNvPr id="62" name="takeaway"/>
          <p:cNvGrpSpPr/>
          <p:nvPr/>
        </p:nvGrpSpPr>
        <p:grpSpPr>
          <a:xfrm>
            <a:off x="361950" y="4419600"/>
            <a:ext cx="8420100" cy="361950"/>
            <a:chOff x="361950" y="4419600"/>
            <a:chExt cx="8420100" cy="361950"/>
          </a:xfrm>
        </p:grpSpPr>
        <p:sp>
          <p:nvSpPr>
            <p:cNvPr id="59" name="Rectangle 59"/>
            <p:cNvSpPr/>
            <p:nvPr/>
          </p:nvSpPr>
          <p:spPr>
            <a:xfrm>
              <a:off x="361950" y="4419600"/>
              <a:ext cx="8420100" cy="361950"/>
            </a:xfrm>
            <a:prstGeom prst="rect">
              <a:avLst/>
            </a:prstGeom>
            <a:solidFill>
              <a:srgbClr val="F6F2EE"/>
            </a:solidFill>
            <a:ln>
              <a:noFill/>
            </a:ln>
          </p:spPr>
        </p:sp>
        <p:sp>
          <p:nvSpPr>
            <p:cNvPr id="60" name="Rectangle 60"/>
            <p:cNvSpPr/>
            <p:nvPr/>
          </p:nvSpPr>
          <p:spPr>
            <a:xfrm>
              <a:off x="361950" y="4419600"/>
              <a:ext cx="38100" cy="361950"/>
            </a:xfrm>
            <a:prstGeom prst="rect">
              <a:avLst/>
            </a:prstGeom>
            <a:solidFill>
              <a:srgbClr val="9E423D"/>
            </a:solidFill>
            <a:ln>
              <a:noFill/>
            </a:ln>
          </p:spPr>
        </p:sp>
        <p:sp>
          <p:nvSpPr>
            <p:cNvPr id="61" name="TextBox 61"/>
            <p:cNvSpPr txBox="1"/>
            <p:nvPr/>
          </p:nvSpPr>
          <p:spPr>
            <a:xfrm>
              <a:off x="497967" y="4492625"/>
              <a:ext cx="5365623" cy="264033"/>
            </a:xfrm>
            <a:prstGeom prst="rect">
              <a:avLst/>
            </a:prstGeom>
            <a:noFill/>
            <a:ln>
              <a:noFill/>
            </a:ln>
          </p:spPr>
          <p:txBody>
            <a:bodyPr wrap="none" lIns="0" tIns="0" rIns="0" bIns="0" anchor="t" anchorCtr="0">
              <a:spAutoFit/>
            </a:bodyPr>
            <a:lstStyle/>
            <a:p>
              <a:pPr algn="l"/>
              <a:r>
                <a:rPr lang="zh-CN" sz="1350" b="1" dirty="0">
                  <a:solidFill>
                    <a:srgbClr val="9E423D"/>
                  </a:solidFill>
                  <a:latin typeface="Microsoft YaHei"/>
                  <a:ea typeface="Microsoft YaHei"/>
                  <a:cs typeface="Microsoft YaHei"/>
                </a:rPr>
                <a:t>最终孔洞不能单独证明损伤路径；曲线特征必须与过程观察对应。</a:t>
              </a:r>
            </a:p>
          </p:txBody>
        </p:sp>
      </p:grpSp>
    </p:spTree>
  </p:cSld>
  <p:clrMapOvr>
    <a:masterClrMapping/>
  </p:clrMapOvr>
  <p:transition advClick="1"/>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 name="矩形 8"/>
          <p:cNvSpPr/>
          <p:nvPr/>
        </p:nvSpPr>
        <p:spPr>
          <a:xfrm>
            <a:off x="-10066" y="597600"/>
            <a:ext cx="9154065" cy="72000"/>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0" y="-7934"/>
            <a:ext cx="9144000" cy="556614"/>
          </a:xfrm>
          <a:prstGeom prst="rect">
            <a:avLst/>
          </a:prstGeom>
          <a:solidFill>
            <a:srgbClr val="9E42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p:cNvPicPr>
            <a:picLocks noChangeAspect="1"/>
          </p:cNvPicPr>
          <p:nvPr>
            <p:custDataLst>
              <p:tags r:id="rId1"/>
            </p:custDataLst>
          </p:nvPr>
        </p:nvPicPr>
        <p:blipFill>
          <a:blip r:embed="rId4"/>
          <a:srcRect l="1701" t="2985" r="4812" b="1949"/>
          <a:stretch>
            <a:fillRect/>
          </a:stretch>
        </p:blipFill>
        <p:spPr>
          <a:xfrm>
            <a:off x="135376" y="17739"/>
            <a:ext cx="509847" cy="514223"/>
          </a:xfrm>
          <a:prstGeom prst="ellipse">
            <a:avLst/>
          </a:prstGeom>
        </p:spPr>
      </p:pic>
      <p:grpSp>
        <p:nvGrpSpPr>
          <p:cNvPr id="6" name="page-title"/>
          <p:cNvGrpSpPr/>
          <p:nvPr/>
        </p:nvGrpSpPr>
        <p:grpSpPr>
          <a:xfrm>
            <a:off x="789813" y="120650"/>
            <a:ext cx="1924101" cy="396050"/>
            <a:chOff x="789813" y="120650"/>
            <a:chExt cx="1924101" cy="396050"/>
          </a:xfrm>
        </p:grpSpPr>
        <p:sp>
          <p:nvSpPr>
            <p:cNvPr id="5" name="TextBox 5"/>
            <p:cNvSpPr txBox="1"/>
            <p:nvPr/>
          </p:nvSpPr>
          <p:spPr>
            <a:xfrm>
              <a:off x="789813" y="120650"/>
              <a:ext cx="2003488" cy="396050"/>
            </a:xfrm>
            <a:prstGeom prst="rect">
              <a:avLst/>
            </a:prstGeom>
            <a:noFill/>
            <a:ln>
              <a:noFill/>
            </a:ln>
          </p:spPr>
          <p:txBody>
            <a:bodyPr wrap="none" lIns="0" tIns="0" rIns="0" bIns="0" anchor="t" anchorCtr="0">
              <a:spAutoFit/>
            </a:bodyPr>
            <a:lstStyle/>
            <a:p>
              <a:pPr algn="l"/>
              <a:r>
                <a:rPr lang="zh-CN" sz="2020" b="1" dirty="0">
                  <a:solidFill>
                    <a:srgbClr val="FFFFFF"/>
                  </a:solidFill>
                  <a:latin typeface="Microsoft YaHei"/>
                  <a:ea typeface="Microsoft YaHei"/>
                  <a:cs typeface="Microsoft YaHei"/>
                </a:rPr>
                <a:t>研究结论与展望</a:t>
              </a:r>
            </a:p>
          </p:txBody>
        </p:sp>
      </p:grpSp>
      <p:grpSp>
        <p:nvGrpSpPr>
          <p:cNvPr id="12" name="page-footer"/>
          <p:cNvGrpSpPr/>
          <p:nvPr/>
        </p:nvGrpSpPr>
        <p:grpSpPr>
          <a:xfrm>
            <a:off x="366712" y="4905375"/>
            <a:ext cx="8405813" cy="233362"/>
            <a:chOff x="366712" y="4905375"/>
            <a:chExt cx="8405813" cy="233362"/>
          </a:xfrm>
        </p:grpSpPr>
        <p:sp>
          <p:nvSpPr>
            <p:cNvPr id="7" name="Line 7"/>
            <p:cNvSpPr/>
            <p:nvPr/>
          </p:nvSpPr>
          <p:spPr>
            <a:xfrm>
              <a:off x="371475" y="4905375"/>
              <a:ext cx="8401050" cy="9525"/>
            </a:xfrm>
            <a:custGeom>
              <a:avLst/>
              <a:gdLst/>
              <a:ahLst/>
              <a:cxnLst/>
              <a:rect l="l" t="t" r="r" b="b"/>
              <a:pathLst>
                <a:path w="8401050" h="9525">
                  <a:moveTo>
                    <a:pt x="0" y="0"/>
                  </a:moveTo>
                  <a:lnTo>
                    <a:pt x="8401050" y="0"/>
                  </a:lnTo>
                </a:path>
              </a:pathLst>
            </a:custGeom>
            <a:noFill/>
            <a:ln w="9525">
              <a:solidFill>
                <a:srgbClr val="DADDDC"/>
              </a:solidFill>
            </a:ln>
          </p:spPr>
        </p:sp>
        <p:sp>
          <p:nvSpPr>
            <p:cNvPr id="8" name="TextBox 8"/>
            <p:cNvSpPr txBox="1"/>
            <p:nvPr/>
          </p:nvSpPr>
          <p:spPr>
            <a:xfrm>
              <a:off x="366712" y="4962525"/>
              <a:ext cx="1893216"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芳纶柔性复合材料 / 纺织学生论坛</a:t>
              </a:r>
            </a:p>
          </p:txBody>
        </p:sp>
        <p:sp>
          <p:nvSpPr>
            <p:cNvPr id="10" name="TextBox 10"/>
            <p:cNvSpPr txBox="1"/>
            <p:nvPr/>
          </p:nvSpPr>
          <p:spPr>
            <a:xfrm>
              <a:off x="6519862" y="4962525"/>
              <a:ext cx="701040" cy="176212"/>
            </a:xfrm>
            <a:prstGeom prst="rect">
              <a:avLst/>
            </a:prstGeom>
            <a:noFill/>
            <a:ln>
              <a:noFill/>
            </a:ln>
          </p:spPr>
          <p:txBody>
            <a:bodyPr wrap="none" lIns="0" tIns="0" rIns="0" bIns="0" anchor="t" anchorCtr="0">
              <a:spAutoFit/>
            </a:bodyPr>
            <a:lstStyle/>
            <a:p>
              <a:pPr algn="l"/>
              <a:r>
                <a:rPr lang="zh-CN" sz="900" dirty="0">
                  <a:solidFill>
                    <a:srgbClr val="69747A"/>
                  </a:solidFill>
                  <a:latin typeface="Microsoft YaHei"/>
                  <a:ea typeface="Microsoft YaHei"/>
                  <a:cs typeface="Microsoft YaHei"/>
                </a:rPr>
                <a:t>总结与展望</a:t>
              </a:r>
            </a:p>
          </p:txBody>
        </p:sp>
        <p:sp>
          <p:nvSpPr>
            <p:cNvPr id="11" name="TextBox 11"/>
            <p:cNvSpPr txBox="1"/>
            <p:nvPr/>
          </p:nvSpPr>
          <p:spPr>
            <a:xfrm>
              <a:off x="8301781" y="4962525"/>
              <a:ext cx="465981" cy="176212"/>
            </a:xfrm>
            <a:prstGeom prst="rect">
              <a:avLst/>
            </a:prstGeom>
            <a:noFill/>
            <a:ln>
              <a:noFill/>
            </a:ln>
          </p:spPr>
          <p:txBody>
            <a:bodyPr wrap="none" lIns="0" tIns="0" rIns="0" bIns="0" anchor="t" anchorCtr="0">
              <a:spAutoFit/>
            </a:bodyPr>
            <a:lstStyle/>
            <a:p>
              <a:pPr algn="r"/>
              <a:r>
                <a:rPr lang="zh-CN" sz="900" dirty="0">
                  <a:solidFill>
                    <a:srgbClr val="69747A"/>
                  </a:solidFill>
                  <a:latin typeface="Microsoft YaHei"/>
                  <a:ea typeface="Microsoft YaHei"/>
                  <a:cs typeface="Microsoft YaHei"/>
                </a:rPr>
                <a:t>14 / 14</a:t>
              </a:r>
            </a:p>
          </p:txBody>
        </p:sp>
      </p:grpSp>
      <p:grpSp>
        <p:nvGrpSpPr>
          <p:cNvPr id="15" name="context"/>
          <p:cNvGrpSpPr/>
          <p:nvPr/>
        </p:nvGrpSpPr>
        <p:grpSpPr>
          <a:xfrm>
            <a:off x="364998" y="800100"/>
            <a:ext cx="4320794" cy="250317"/>
            <a:chOff x="364998" y="800100"/>
            <a:chExt cx="4320794" cy="250317"/>
          </a:xfrm>
        </p:grpSpPr>
        <p:sp>
          <p:nvSpPr>
            <p:cNvPr id="14" name="TextBox 14"/>
            <p:cNvSpPr txBox="1"/>
            <p:nvPr/>
          </p:nvSpPr>
          <p:spPr>
            <a:xfrm>
              <a:off x="364998" y="800100"/>
              <a:ext cx="4386262" cy="250317"/>
            </a:xfrm>
            <a:prstGeom prst="rect">
              <a:avLst/>
            </a:prstGeom>
            <a:noFill/>
            <a:ln>
              <a:noFill/>
            </a:ln>
          </p:spPr>
          <p:txBody>
            <a:bodyPr wrap="none" lIns="0" tIns="0" rIns="0" bIns="0" anchor="t" anchorCtr="0">
              <a:spAutoFit/>
            </a:bodyPr>
            <a:lstStyle/>
            <a:p>
              <a:pPr algn="l"/>
              <a:r>
                <a:rPr lang="zh-CN" sz="1280" dirty="0">
                  <a:solidFill>
                    <a:srgbClr val="69747A"/>
                  </a:solidFill>
                  <a:latin typeface="Microsoft YaHei"/>
                  <a:ea typeface="Microsoft YaHei"/>
                  <a:cs typeface="Microsoft YaHei"/>
                </a:rPr>
                <a:t>回到同一主线：动态约束与织物结构共同服务于柔性防护</a:t>
              </a:r>
            </a:p>
          </p:txBody>
        </p:sp>
      </p:grpSp>
      <p:grpSp>
        <p:nvGrpSpPr>
          <p:cNvPr id="27" name="synthesis"/>
          <p:cNvGrpSpPr/>
          <p:nvPr/>
        </p:nvGrpSpPr>
        <p:grpSpPr>
          <a:xfrm>
            <a:off x="390906" y="1222375"/>
            <a:ext cx="5960212" cy="1991741"/>
            <a:chOff x="390906" y="1222375"/>
            <a:chExt cx="5960212" cy="1991741"/>
          </a:xfrm>
        </p:grpSpPr>
        <p:sp>
          <p:nvSpPr>
            <p:cNvPr id="16" name="TextBox 16"/>
            <p:cNvSpPr txBox="1"/>
            <p:nvPr/>
          </p:nvSpPr>
          <p:spPr>
            <a:xfrm>
              <a:off x="390906" y="1222375"/>
              <a:ext cx="1064514" cy="352044"/>
            </a:xfrm>
            <a:prstGeom prst="rect">
              <a:avLst/>
            </a:prstGeom>
            <a:noFill/>
            <a:ln>
              <a:noFill/>
            </a:ln>
          </p:spPr>
          <p:txBody>
            <a:bodyPr wrap="none" lIns="0" tIns="0" rIns="0" bIns="0" anchor="t" anchorCtr="0">
              <a:spAutoFit/>
            </a:bodyPr>
            <a:lstStyle/>
            <a:p>
              <a:pPr algn="l"/>
              <a:r>
                <a:rPr lang="zh-CN" sz="1800" b="1" dirty="0">
                  <a:solidFill>
                    <a:srgbClr val="9E423D"/>
                  </a:solidFill>
                  <a:latin typeface="Microsoft YaHei"/>
                  <a:ea typeface="Microsoft YaHei"/>
                  <a:cs typeface="Microsoft YaHei"/>
                </a:rPr>
                <a:t>研究归纳</a:t>
              </a:r>
            </a:p>
          </p:txBody>
        </p:sp>
        <p:sp>
          <p:nvSpPr>
            <p:cNvPr id="17" name="Ellipse 17"/>
            <p:cNvSpPr/>
            <p:nvPr/>
          </p:nvSpPr>
          <p:spPr>
            <a:xfrm>
              <a:off x="457200" y="1743075"/>
              <a:ext cx="95250" cy="95250"/>
            </a:xfrm>
            <a:prstGeom prst="ellipse">
              <a:avLst/>
            </a:prstGeom>
            <a:solidFill>
              <a:srgbClr val="246D73"/>
            </a:solidFill>
            <a:ln>
              <a:noFill/>
            </a:ln>
          </p:spPr>
        </p:sp>
        <p:sp>
          <p:nvSpPr>
            <p:cNvPr id="19" name="TextBox 19"/>
            <p:cNvSpPr txBox="1"/>
            <p:nvPr/>
          </p:nvSpPr>
          <p:spPr>
            <a:xfrm>
              <a:off x="678180" y="1679575"/>
              <a:ext cx="902970" cy="293370"/>
            </a:xfrm>
            <a:prstGeom prst="rect">
              <a:avLst/>
            </a:prstGeom>
            <a:noFill/>
            <a:ln>
              <a:noFill/>
            </a:ln>
          </p:spPr>
          <p:txBody>
            <a:bodyPr wrap="none" lIns="0" tIns="0" rIns="0" bIns="0" anchor="t" anchorCtr="0">
              <a:spAutoFit/>
            </a:bodyPr>
            <a:lstStyle/>
            <a:p>
              <a:pPr algn="l"/>
              <a:r>
                <a:rPr lang="zh-CN" sz="1500" b="1" dirty="0">
                  <a:solidFill>
                    <a:srgbClr val="246D73"/>
                  </a:solidFill>
                  <a:latin typeface="Microsoft YaHei"/>
                  <a:ea typeface="Microsoft YaHei"/>
                  <a:cs typeface="Microsoft YaHei"/>
                </a:rPr>
                <a:t>分子层面</a:t>
              </a:r>
            </a:p>
          </p:txBody>
        </p:sp>
        <p:sp>
          <p:nvSpPr>
            <p:cNvPr id="20" name="TextBox 20"/>
            <p:cNvSpPr txBox="1"/>
            <p:nvPr/>
          </p:nvSpPr>
          <p:spPr>
            <a:xfrm>
              <a:off x="1868424" y="1666875"/>
              <a:ext cx="4547806" cy="308991"/>
            </a:xfrm>
            <a:prstGeom prst="rect">
              <a:avLst/>
            </a:prstGeom>
            <a:noFill/>
            <a:ln>
              <a:noFill/>
            </a:ln>
          </p:spPr>
          <p:txBody>
            <a:bodyPr wrap="none" lIns="0" tIns="0" rIns="0" bIns="0" anchor="t" anchorCtr="0">
              <a:spAutoFit/>
            </a:bodyPr>
            <a:lstStyle/>
            <a:p>
              <a:pPr algn="l"/>
              <a:r>
                <a:rPr lang="zh-CN" sz="1580" dirty="0">
                  <a:solidFill>
                    <a:srgbClr val="29343A"/>
                  </a:solidFill>
                  <a:latin typeface="Microsoft YaHei"/>
                  <a:ea typeface="Microsoft YaHei"/>
                  <a:cs typeface="Microsoft YaHei"/>
                </a:rPr>
                <a:t>以不同时间尺度的约束，组织耗散与结构保持。</a:t>
              </a:r>
            </a:p>
          </p:txBody>
        </p:sp>
        <p:sp>
          <p:nvSpPr>
            <p:cNvPr id="21" name="Ellipse 21"/>
            <p:cNvSpPr/>
            <p:nvPr/>
          </p:nvSpPr>
          <p:spPr>
            <a:xfrm>
              <a:off x="457200" y="2362200"/>
              <a:ext cx="95250" cy="95250"/>
            </a:xfrm>
            <a:prstGeom prst="ellipse">
              <a:avLst/>
            </a:prstGeom>
            <a:solidFill>
              <a:srgbClr val="246D73"/>
            </a:solidFill>
            <a:ln>
              <a:noFill/>
            </a:ln>
          </p:spPr>
        </p:sp>
        <p:sp>
          <p:nvSpPr>
            <p:cNvPr id="22" name="TextBox 22"/>
            <p:cNvSpPr txBox="1"/>
            <p:nvPr/>
          </p:nvSpPr>
          <p:spPr>
            <a:xfrm>
              <a:off x="678180" y="2298700"/>
              <a:ext cx="902970" cy="293370"/>
            </a:xfrm>
            <a:prstGeom prst="rect">
              <a:avLst/>
            </a:prstGeom>
            <a:noFill/>
            <a:ln>
              <a:noFill/>
            </a:ln>
          </p:spPr>
          <p:txBody>
            <a:bodyPr wrap="none" lIns="0" tIns="0" rIns="0" bIns="0" anchor="t" anchorCtr="0">
              <a:spAutoFit/>
            </a:bodyPr>
            <a:lstStyle/>
            <a:p>
              <a:pPr algn="l"/>
              <a:r>
                <a:rPr lang="zh-CN" sz="1500" b="1" dirty="0">
                  <a:solidFill>
                    <a:srgbClr val="246D73"/>
                  </a:solidFill>
                  <a:latin typeface="Microsoft YaHei"/>
                  <a:ea typeface="Microsoft YaHei"/>
                  <a:cs typeface="Microsoft YaHei"/>
                </a:rPr>
                <a:t>界面层面</a:t>
              </a:r>
            </a:p>
          </p:txBody>
        </p:sp>
        <p:sp>
          <p:nvSpPr>
            <p:cNvPr id="23" name="TextBox 23"/>
            <p:cNvSpPr txBox="1"/>
            <p:nvPr/>
          </p:nvSpPr>
          <p:spPr>
            <a:xfrm>
              <a:off x="1868424" y="2286000"/>
              <a:ext cx="4556720" cy="308991"/>
            </a:xfrm>
            <a:prstGeom prst="rect">
              <a:avLst/>
            </a:prstGeom>
            <a:noFill/>
            <a:ln>
              <a:noFill/>
            </a:ln>
          </p:spPr>
          <p:txBody>
            <a:bodyPr wrap="none" lIns="0" tIns="0" rIns="0" bIns="0" anchor="t" anchorCtr="0">
              <a:spAutoFit/>
            </a:bodyPr>
            <a:lstStyle/>
            <a:p>
              <a:pPr algn="l"/>
              <a:r>
                <a:rPr lang="zh-CN" sz="1580" dirty="0">
                  <a:solidFill>
                    <a:srgbClr val="29343A"/>
                  </a:solidFill>
                  <a:latin typeface="Microsoft YaHei"/>
                  <a:ea typeface="Microsoft YaHei"/>
                  <a:cs typeface="Microsoft YaHei"/>
                </a:rPr>
                <a:t>以颗粒与DPU调控接触、传力和纱线相对运动。</a:t>
              </a:r>
            </a:p>
          </p:txBody>
        </p:sp>
        <p:sp>
          <p:nvSpPr>
            <p:cNvPr id="24" name="Ellipse 24"/>
            <p:cNvSpPr/>
            <p:nvPr/>
          </p:nvSpPr>
          <p:spPr>
            <a:xfrm>
              <a:off x="457200" y="2981325"/>
              <a:ext cx="95250" cy="95250"/>
            </a:xfrm>
            <a:prstGeom prst="ellipse">
              <a:avLst/>
            </a:prstGeom>
            <a:solidFill>
              <a:srgbClr val="246D73"/>
            </a:solidFill>
            <a:ln>
              <a:noFill/>
            </a:ln>
          </p:spPr>
        </p:sp>
        <p:sp>
          <p:nvSpPr>
            <p:cNvPr id="25" name="TextBox 25"/>
            <p:cNvSpPr txBox="1"/>
            <p:nvPr/>
          </p:nvSpPr>
          <p:spPr>
            <a:xfrm>
              <a:off x="678180" y="2917825"/>
              <a:ext cx="902970" cy="293370"/>
            </a:xfrm>
            <a:prstGeom prst="rect">
              <a:avLst/>
            </a:prstGeom>
            <a:noFill/>
            <a:ln>
              <a:noFill/>
            </a:ln>
          </p:spPr>
          <p:txBody>
            <a:bodyPr wrap="none" lIns="0" tIns="0" rIns="0" bIns="0" anchor="t" anchorCtr="0">
              <a:spAutoFit/>
            </a:bodyPr>
            <a:lstStyle/>
            <a:p>
              <a:pPr algn="l"/>
              <a:r>
                <a:rPr lang="zh-CN" sz="1500" b="1" dirty="0">
                  <a:solidFill>
                    <a:srgbClr val="246D73"/>
                  </a:solidFill>
                  <a:latin typeface="Microsoft YaHei"/>
                  <a:ea typeface="Microsoft YaHei"/>
                  <a:cs typeface="Microsoft YaHei"/>
                </a:rPr>
                <a:t>结构层面</a:t>
              </a:r>
            </a:p>
          </p:txBody>
        </p:sp>
        <p:sp>
          <p:nvSpPr>
            <p:cNvPr id="26" name="TextBox 26"/>
            <p:cNvSpPr txBox="1"/>
            <p:nvPr/>
          </p:nvSpPr>
          <p:spPr>
            <a:xfrm>
              <a:off x="1868424" y="2905125"/>
              <a:ext cx="4123754" cy="308991"/>
            </a:xfrm>
            <a:prstGeom prst="rect">
              <a:avLst/>
            </a:prstGeom>
            <a:noFill/>
            <a:ln>
              <a:noFill/>
            </a:ln>
          </p:spPr>
          <p:txBody>
            <a:bodyPr wrap="none" lIns="0" tIns="0" rIns="0" bIns="0" anchor="t" anchorCtr="0">
              <a:spAutoFit/>
            </a:bodyPr>
            <a:lstStyle/>
            <a:p>
              <a:pPr algn="l"/>
              <a:r>
                <a:rPr lang="zh-CN" sz="1580" dirty="0">
                  <a:solidFill>
                    <a:srgbClr val="29343A"/>
                  </a:solidFill>
                  <a:latin typeface="Microsoft YaHei"/>
                  <a:ea typeface="Microsoft YaHei"/>
                  <a:cs typeface="Microsoft YaHei"/>
                </a:rPr>
                <a:t>以铺层角度调节载荷扩散与穿透损伤路径。</a:t>
              </a:r>
            </a:p>
          </p:txBody>
        </p:sp>
      </p:grpSp>
      <p:grpSp>
        <p:nvGrpSpPr>
          <p:cNvPr id="31" name="next-steps"/>
          <p:cNvGrpSpPr/>
          <p:nvPr/>
        </p:nvGrpSpPr>
        <p:grpSpPr>
          <a:xfrm>
            <a:off x="381000" y="3571875"/>
            <a:ext cx="8391525" cy="628650"/>
            <a:chOff x="381000" y="3571875"/>
            <a:chExt cx="8391525" cy="628650"/>
          </a:xfrm>
        </p:grpSpPr>
        <p:sp>
          <p:nvSpPr>
            <p:cNvPr id="28" name="Rectangle 28"/>
            <p:cNvSpPr/>
            <p:nvPr/>
          </p:nvSpPr>
          <p:spPr>
            <a:xfrm>
              <a:off x="381000" y="3571875"/>
              <a:ext cx="8391525" cy="628650"/>
            </a:xfrm>
            <a:prstGeom prst="rect">
              <a:avLst/>
            </a:prstGeom>
            <a:solidFill>
              <a:srgbClr val="F6F2EE"/>
            </a:solidFill>
            <a:ln>
              <a:noFill/>
            </a:ln>
          </p:spPr>
        </p:sp>
        <p:sp>
          <p:nvSpPr>
            <p:cNvPr id="29" name="TextBox 29"/>
            <p:cNvSpPr txBox="1"/>
            <p:nvPr/>
          </p:nvSpPr>
          <p:spPr>
            <a:xfrm>
              <a:off x="544830" y="3641725"/>
              <a:ext cx="5143500" cy="293370"/>
            </a:xfrm>
            <a:prstGeom prst="rect">
              <a:avLst/>
            </a:prstGeom>
            <a:noFill/>
            <a:ln>
              <a:noFill/>
            </a:ln>
          </p:spPr>
          <p:txBody>
            <a:bodyPr wrap="none" lIns="0" tIns="0" rIns="0" bIns="0" anchor="t" anchorCtr="0">
              <a:spAutoFit/>
            </a:bodyPr>
            <a:lstStyle/>
            <a:p>
              <a:pPr algn="l"/>
              <a:r>
                <a:rPr lang="zh-CN" sz="1500" b="1" dirty="0">
                  <a:solidFill>
                    <a:srgbClr val="9E423D"/>
                  </a:solidFill>
                  <a:latin typeface="Microsoft YaHei"/>
                  <a:ea typeface="Microsoft YaHei"/>
                  <a:cs typeface="Microsoft YaHei"/>
                </a:rPr>
                <a:t>下一步：补齐结构表征、受控防护曲线与原位损伤证据。</a:t>
              </a:r>
            </a:p>
          </p:txBody>
        </p:sp>
        <p:sp>
          <p:nvSpPr>
            <p:cNvPr id="30" name="TextBox 30"/>
            <p:cNvSpPr txBox="1"/>
            <p:nvPr/>
          </p:nvSpPr>
          <p:spPr>
            <a:xfrm>
              <a:off x="545973" y="3924300"/>
              <a:ext cx="5416106" cy="250317"/>
            </a:xfrm>
            <a:prstGeom prst="rect">
              <a:avLst/>
            </a:prstGeom>
            <a:noFill/>
            <a:ln>
              <a:noFill/>
            </a:ln>
          </p:spPr>
          <p:txBody>
            <a:bodyPr wrap="none" lIns="0" tIns="0" rIns="0" bIns="0" anchor="t" anchorCtr="0">
              <a:spAutoFit/>
            </a:bodyPr>
            <a:lstStyle/>
            <a:p>
              <a:pPr algn="l"/>
              <a:r>
                <a:rPr lang="zh-CN" sz="1280" dirty="0">
                  <a:solidFill>
                    <a:srgbClr val="69747A"/>
                  </a:solidFill>
                  <a:latin typeface="Microsoft YaHei"/>
                  <a:ea typeface="Microsoft YaHei"/>
                  <a:cs typeface="Microsoft YaHei"/>
                </a:rPr>
                <a:t>当前为研究设计与机制框架；尚不足以形成性能提升或最优参数结论。</a:t>
              </a:r>
            </a:p>
          </p:txBody>
        </p:sp>
      </p:grpSp>
      <p:grpSp>
        <p:nvGrpSpPr>
          <p:cNvPr id="35" name="takeaway"/>
          <p:cNvGrpSpPr/>
          <p:nvPr/>
        </p:nvGrpSpPr>
        <p:grpSpPr>
          <a:xfrm>
            <a:off x="361950" y="4419600"/>
            <a:ext cx="8420100" cy="361950"/>
            <a:chOff x="361950" y="4419600"/>
            <a:chExt cx="8420100" cy="361950"/>
          </a:xfrm>
        </p:grpSpPr>
        <p:sp>
          <p:nvSpPr>
            <p:cNvPr id="32" name="Rectangle 32"/>
            <p:cNvSpPr/>
            <p:nvPr/>
          </p:nvSpPr>
          <p:spPr>
            <a:xfrm>
              <a:off x="361950" y="4419600"/>
              <a:ext cx="8420100" cy="361950"/>
            </a:xfrm>
            <a:prstGeom prst="rect">
              <a:avLst/>
            </a:prstGeom>
            <a:solidFill>
              <a:srgbClr val="F6F2EE"/>
            </a:solidFill>
            <a:ln>
              <a:noFill/>
            </a:ln>
          </p:spPr>
        </p:sp>
        <p:sp>
          <p:nvSpPr>
            <p:cNvPr id="33" name="Rectangle 33"/>
            <p:cNvSpPr/>
            <p:nvPr/>
          </p:nvSpPr>
          <p:spPr>
            <a:xfrm>
              <a:off x="361950" y="4419600"/>
              <a:ext cx="38100" cy="361950"/>
            </a:xfrm>
            <a:prstGeom prst="rect">
              <a:avLst/>
            </a:prstGeom>
            <a:solidFill>
              <a:srgbClr val="9E423D"/>
            </a:solidFill>
            <a:ln>
              <a:noFill/>
            </a:ln>
          </p:spPr>
        </p:sp>
        <p:sp>
          <p:nvSpPr>
            <p:cNvPr id="34" name="TextBox 34"/>
            <p:cNvSpPr txBox="1"/>
            <p:nvPr/>
          </p:nvSpPr>
          <p:spPr>
            <a:xfrm>
              <a:off x="497967" y="4492625"/>
              <a:ext cx="3548253" cy="264033"/>
            </a:xfrm>
            <a:prstGeom prst="rect">
              <a:avLst/>
            </a:prstGeom>
            <a:noFill/>
            <a:ln>
              <a:noFill/>
            </a:ln>
          </p:spPr>
          <p:txBody>
            <a:bodyPr wrap="none" lIns="0" tIns="0" rIns="0" bIns="0" anchor="t" anchorCtr="0">
              <a:spAutoFit/>
            </a:bodyPr>
            <a:lstStyle/>
            <a:p>
              <a:pPr algn="l"/>
              <a:r>
                <a:rPr lang="zh-CN" sz="1350" b="1" dirty="0">
                  <a:solidFill>
                    <a:srgbClr val="9E423D"/>
                  </a:solidFill>
                  <a:latin typeface="Microsoft YaHei"/>
                  <a:ea typeface="Microsoft YaHei"/>
                  <a:cs typeface="Microsoft YaHei"/>
                </a:rPr>
                <a:t>感谢聆听，恳请各位老师、同学批评指正。</a:t>
              </a:r>
            </a:p>
          </p:txBody>
        </p:sp>
      </p:grpSp>
    </p:spTree>
  </p:cSld>
  <p:clrMapOvr>
    <a:masterClrMapping/>
  </p:clrMapOvr>
  <p:transition advClick="1"/>
</p:sld>
</file>

<file path=ppt/tags/tag1.xml><?xml version="1.0" encoding="utf-8"?>
<p:tagLst xmlns:a="http://schemas.openxmlformats.org/drawingml/2006/main" xmlns:r="http://schemas.openxmlformats.org/officeDocument/2006/relationships" xmlns:p="http://schemas.openxmlformats.org/presentationml/2006/main">
  <p:tag name="KSO_WPP_MARK_KEY" val="be8cd34b-3671-4616-af46-e52639080e19"/>
  <p:tag name="COMMONDATA" val="eyJoZGlkIjoiNWMxODA5MWNiN2VmN2E3YTRjYzJjZTk5YzBiNjdiNDQifQ=="/>
</p:tagLst>
</file>

<file path=ppt/tags/tag2_tf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09.8,&quot;width&quot;:802.9086614173228}"/>
</p:tagLst>
</file>

<file path=ppt/tags/tag2_tf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09.8,&quot;width&quot;:802.9086614173228}"/>
</p:tagLst>
</file>

<file path=ppt/tags/tag2_tf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09.8,&quot;width&quot;:802.9086614173228}"/>
</p:tagLst>
</file>

<file path=ppt/tags/tag2_tf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09.8,&quot;width&quot;:802.9086614173228}"/>
</p:tagLst>
</file>

<file path=ppt/tags/tag2_tf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09.8,&quot;width&quot;:802.9086614173228}"/>
</p:tagLst>
</file>

<file path=ppt/tags/tag2_tf6.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09.8,&quot;width&quot;:802.9086614173228}"/>
</p:tagLst>
</file>

<file path=ppt/tags/tag2_tf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09.8,&quot;width&quot;:802.9086614173228}"/>
</p:tagLst>
</file>

<file path=ppt/tags/tag2_tf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09.8,&quot;width&quot;:802.9086614173228}"/>
</p:tagLst>
</file>

<file path=ppt/tags/tag2_tf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09.8,&quot;width&quot;:802.9086614173228}"/>
</p:tagLst>
</file>

<file path=ppt/tags/tag2_tf10.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09.8,&quot;width&quot;:802.9086614173228}"/>
</p:tagLst>
</file>

<file path=ppt/tags/tag2_tf1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09.8,&quot;width&quot;:802.9086614173228}"/>
</p:tagLst>
</file>

<file path=ppt/tags/tag2_tf1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09.8,&quot;width&quot;:802.9086614173228}"/>
</p:tagLst>
</file>

<file path=ppt/tags/tag2_tf1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09.8,&quot;width&quot;:802.908661417322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ns0:Properties xmlns:ns0="http://schemas.openxmlformats.org/officeDocument/2006/extended-properties" xmlns:ns1="http://schemas.openxmlformats.org/officeDocument/2006/docPropsVTypes">
  <ns0:TotalTime>95</ns0:TotalTime>
  <ns0:Words>110</ns0:Words>
  <ns0:Application>Microsoft Office PowerPoint</ns0:Application>
  <ns0:PresentationFormat>全屏显示(16:9)</ns0:PresentationFormat>
  <ns0:Paragraphs>21</ns0:Paragraphs>
  <ns0:Slides>14</ns0:Slides>
  <ns0:Notes>3</ns0:Notes>
  <ns0:HiddenSlides>0</ns0:HiddenSlides>
  <ns0:MMClips>0</ns0:MMClips>
  <ns0:ScaleCrop>false</ns0:ScaleCrop>
  <ns0:HeadingPairs>
    <ns1:vector size="6" baseType="variant">
      <ns1:variant>
        <ns1:lpstr>已用的字体</ns1:lpstr>
      </ns1:variant>
      <ns1:variant>
        <ns1:i4>4</ns1:i4>
      </ns1:variant>
      <ns1:variant>
        <ns1:lpstr>主题</ns1:lpstr>
      </ns1:variant>
      <ns1:variant>
        <ns1:i4>1</ns1:i4>
      </ns1:variant>
      <ns1:variant>
        <ns1:lpstr>幻灯片标题</ns1:lpstr>
      </ns1:variant>
      <ns1:variant>
        <ns1:i4>4</ns1:i4>
      </ns1:variant>
    </ns1:vector>
  </ns0:HeadingPairs>
  <ns0:TitlesOfParts>
    <ns1:vector size="9" baseType="lpstr">
      <ns1:lpstr>思源黑体 CN Heavy</ns1:lpstr>
      <ns1:lpstr>Arial</ns1:lpstr>
      <ns1:lpstr>等线</ns1:lpstr>
      <ns1:lpstr>微软雅黑</ns1:lpstr>
      <ns1:lpstr>Office 主题</ns1:lpstr>
      <ns1:lpstr>PowerPoint 演示文稿</ns1:lpstr>
      <ns1:lpstr>PowerPoint 演示文稿</ns1:lpstr>
      <ns1:lpstr>PowerPoint 演示文稿</ns1:lpstr>
      <ns1:lpstr>PowerPoint 演示文稿</ns1:lpstr>
    </ns1:vector>
  </ns0:TitlesOfParts>
  <ns0:Company>Microsoft</ns0:Company>
  <ns0:LinksUpToDate>false</ns0:LinksUpToDate>
  <ns0:SharedDoc>false</ns0:SharedDoc>
  <ns0:HyperlinksChanged>false</ns0:HyperlinksChanged>
  <ns0:AppVersion>16.0000</ns0:AppVersion>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李佳耀</dc:creator>
  <cp:lastModifiedBy>ch u</cp:lastModifiedBy>
  <cp:revision>371</cp:revision>
  <dcterms:created xsi:type="dcterms:W3CDTF">2018-12-24T01:13:00Z</dcterms:created>
  <dcterms:modified xsi:type="dcterms:W3CDTF">2026-10-23T05:38:14Z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6E90244980AE435294F97C09DD49B63B</vt:lpwstr>
  </property>
  <property fmtid="{D5CDD505-2E9C-101B-9397-08002B2CF9AE}" pid="3" name="KSOProductBuildVer">
    <vt:lpwstr>2052-11.1.0.12763</vt:lpwstr>
  </property>
</Properties>
</file>